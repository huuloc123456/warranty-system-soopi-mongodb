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Giá trị</c:v>
                </c:pt>
              </c:strCache>
            </c:strRef>
          </c:tx>
          <c:spPr>
            <a:solidFill>
              <a:srgbClr val="244C43"/>
            </a:solidFill>
          </c:spPr>
          <c:cat>
            <c:strRef>
              <c:f>Sheet1!$A$2:$A$9</c:f>
              <c:strCache>
                <c:ptCount val="8"/>
                <c:pt idx="0">
                  <c:v>audit_logs</c:v>
                </c:pt>
                <c:pt idx="1">
                  <c:v>notifications</c:v>
                </c:pt>
                <c:pt idx="2">
                  <c:v>counters</c:v>
                </c:pt>
                <c:pt idx="3">
                  <c:v>tickets</c:v>
                </c:pt>
                <c:pt idx="4">
                  <c:v>devices</c:v>
                </c:pt>
                <c:pt idx="5">
                  <c:v>attachments</c:v>
                </c:pt>
                <c:pt idx="6">
                  <c:v>payments</c:v>
                </c:pt>
                <c:pt idx="7">
                  <c:v>stock_issues</c:v>
                </c:pt>
              </c:strCache>
            </c:strRef>
          </c:cat>
          <c:val>
            <c:numRef>
              <c:f>Sheet1!$B$2:$B$9</c:f>
              <c:numCache>
                <c:formatCode>General</c:formatCode>
                <c:ptCount val="8"/>
                <c:pt idx="0">
                  <c:v>2022</c:v>
                </c:pt>
                <c:pt idx="1">
                  <c:v>1202</c:v>
                </c:pt>
                <c:pt idx="2">
                  <c:v>211</c:v>
                </c:pt>
                <c:pt idx="3">
                  <c:v>197</c:v>
                </c:pt>
                <c:pt idx="4">
                  <c:v>183</c:v>
                </c:pt>
                <c:pt idx="5">
                  <c:v>170</c:v>
                </c:pt>
                <c:pt idx="6">
                  <c:v>170</c:v>
                </c:pt>
                <c:pt idx="7">
                  <c:v>91</c:v>
                </c:pt>
              </c:numCache>
            </c:numRef>
          </c:val>
        </c:ser>
        <c:dLbls>
          <c:numFmt formatCode="[&gt;=1000]#&quot;.&quot;000;0" sourceLinked="0"/>
          <c:txPr>
            <a:bodyPr/>
            <a:lstStyle/>
            <a:p>
              <a:pPr>
                <a:defRPr sz="1200">
                  <a:solidFill>
                    <a:srgbClr val="29354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9D5C3"/>
            </a:solidFill>
          </a:ln>
        </c:spPr>
        <c:txPr>
          <a:bodyPr/>
          <a:lstStyle/>
          <a:p>
            <a:pPr>
              <a:defRPr sz="1200">
                <a:solidFill>
                  <a:srgbClr val="29354A"/>
                </a:solidFill>
              </a:defRPr>
            </a:pPr>
          </a:p>
        </c:txPr>
        <c:crossAx val="-2113994440"/>
        <c:crosses val="autoZero"/>
        <c:auto val="1"/>
        <c:lblAlgn val="ctr"/>
        <c:lblOffset val="100"/>
        <c:noMultiLvlLbl val="0"/>
      </c:catAx>
      <c:valAx>
        <c:axId val="-2113994440"/>
        <c:scaling/>
        <c:delete val="0"/>
        <c:axPos val="l"/>
        <c:majorGridlines>
          <c:spPr>
            <a:ln>
              <a:solidFill>
                <a:srgbClr val="E3E9E4"/>
              </a:solidFill>
            </a:ln>
          </c:spPr>
        </c:majorGridlines>
        <c:numFmt formatCode="[&gt;=1000]#&quot;.&quot;000;0" sourceLinked="0"/>
        <c:majorTickMark val="out"/>
        <c:minorTickMark val="none"/>
        <c:tickLblPos val="nextTo"/>
        <c:spPr>
          <a:ln>
            <a:noFill/>
          </a:ln>
        </c:spPr>
        <c:txPr>
          <a:bodyPr/>
          <a:lstStyle/>
          <a:p>
            <a:pPr>
              <a:defRPr sz="1100">
                <a:solidFill>
                  <a:srgbClr val="62716C"/>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9354A"/>
                </a:solidFill>
                <a:latin typeface="Calibri"/>
              </a:rPr>
              <a:t>Số phiếu tiếp nhận theo tháng</a:t>
            </a:r>
          </a:p>
        </c:rich>
      </c:tx>
      <c:layout/>
      <c:overlay val="0"/>
    </c:title>
    <c:autoTitleDeleted val="0"/>
    <c:plotArea>
      <c:barChart>
        <c:barDir val="col"/>
        <c:grouping val="clustered"/>
        <c:ser>
          <c:idx val="0"/>
          <c:order val="0"/>
          <c:tx>
            <c:strRef>
              <c:f>Sheet1!$B$1</c:f>
              <c:strCache>
                <c:ptCount val="1"/>
                <c:pt idx="0">
                  <c:v>Giá trị</c:v>
                </c:pt>
              </c:strCache>
            </c:strRef>
          </c:tx>
          <c:spPr>
            <a:solidFill>
              <a:srgbClr val="244C43"/>
            </a:solidFill>
          </c:spPr>
          <c:cat>
            <c:strRef>
              <c:f>Sheet1!$A$2:$A$7</c:f>
              <c:strCache>
                <c:ptCount val="6"/>
                <c:pt idx="0">
                  <c:v>05/26</c:v>
                </c:pt>
                <c:pt idx="1">
                  <c:v>06/26</c:v>
                </c:pt>
                <c:pt idx="2">
                  <c:v>07/26</c:v>
                </c:pt>
                <c:pt idx="3">
                  <c:v>08/26</c:v>
                </c:pt>
                <c:pt idx="4">
                  <c:v>09/26</c:v>
                </c:pt>
                <c:pt idx="5">
                  <c:v>10/26</c:v>
                </c:pt>
              </c:strCache>
            </c:strRef>
          </c:cat>
          <c:val>
            <c:numRef>
              <c:f>Sheet1!$B$2:$B$7</c:f>
              <c:numCache>
                <c:formatCode>General</c:formatCode>
                <c:ptCount val="6"/>
                <c:pt idx="0">
                  <c:v>32</c:v>
                </c:pt>
                <c:pt idx="1">
                  <c:v>25</c:v>
                </c:pt>
                <c:pt idx="2">
                  <c:v>30</c:v>
                </c:pt>
                <c:pt idx="3">
                  <c:v>25</c:v>
                </c:pt>
                <c:pt idx="4">
                  <c:v>40</c:v>
                </c:pt>
                <c:pt idx="5">
                  <c:v>45</c:v>
                </c:pt>
              </c:numCache>
            </c:numRef>
          </c:val>
        </c:ser>
        <c:dLbls>
          <c:numFmt formatCode="0" sourceLinked="0"/>
          <c:txPr>
            <a:bodyPr/>
            <a:lstStyle/>
            <a:p>
              <a:pPr>
                <a:defRPr sz="1200">
                  <a:solidFill>
                    <a:srgbClr val="29354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9D5C3"/>
            </a:solidFill>
          </a:ln>
        </c:spPr>
        <c:txPr>
          <a:bodyPr/>
          <a:lstStyle/>
          <a:p>
            <a:pPr>
              <a:defRPr sz="1200">
                <a:solidFill>
                  <a:srgbClr val="29354A"/>
                </a:solidFill>
              </a:defRPr>
            </a:pPr>
          </a:p>
        </c:txPr>
        <c:crossAx val="-2113994440"/>
        <c:crosses val="autoZero"/>
        <c:auto val="1"/>
        <c:lblAlgn val="ctr"/>
        <c:lblOffset val="100"/>
        <c:noMultiLvlLbl val="0"/>
      </c:catAx>
      <c:valAx>
        <c:axId val="-2113994440"/>
        <c:scaling/>
        <c:delete val="0"/>
        <c:axPos val="l"/>
        <c:majorGridlines>
          <c:spPr>
            <a:ln>
              <a:solidFill>
                <a:srgbClr val="E3E9E4"/>
              </a:solidFill>
            </a:ln>
          </c:spPr>
        </c:majorGridlines>
        <c:numFmt formatCode="0" sourceLinked="0"/>
        <c:majorTickMark val="out"/>
        <c:minorTickMark val="none"/>
        <c:tickLblPos val="nextTo"/>
        <c:spPr>
          <a:ln>
            <a:noFill/>
          </a:ln>
        </c:spPr>
        <c:txPr>
          <a:bodyPr/>
          <a:lstStyle/>
          <a:p>
            <a:pPr>
              <a:defRPr sz="1100">
                <a:solidFill>
                  <a:srgbClr val="62716C"/>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9354A"/>
                </a:solidFill>
                <a:latin typeface="Calibri"/>
              </a:rPr>
              <a:t>Doanh thu (triệu đồng)</a:t>
            </a:r>
          </a:p>
        </c:rich>
      </c:tx>
      <c:layout/>
      <c:overlay val="0"/>
    </c:title>
    <c:autoTitleDeleted val="0"/>
    <c:plotArea>
      <c:barChart>
        <c:barDir val="col"/>
        <c:grouping val="clustered"/>
        <c:ser>
          <c:idx val="0"/>
          <c:order val="0"/>
          <c:tx>
            <c:strRef>
              <c:f>Sheet1!$B$1</c:f>
              <c:strCache>
                <c:ptCount val="1"/>
                <c:pt idx="0">
                  <c:v>Giá trị</c:v>
                </c:pt>
              </c:strCache>
            </c:strRef>
          </c:tx>
          <c:spPr>
            <a:solidFill>
              <a:srgbClr val="EFB952"/>
            </a:solidFill>
          </c:spPr>
          <c:cat>
            <c:strRef>
              <c:f>Sheet1!$A$2:$A$7</c:f>
              <c:strCache>
                <c:ptCount val="6"/>
                <c:pt idx="0">
                  <c:v>05/26</c:v>
                </c:pt>
                <c:pt idx="1">
                  <c:v>06/26</c:v>
                </c:pt>
                <c:pt idx="2">
                  <c:v>07/26</c:v>
                </c:pt>
                <c:pt idx="3">
                  <c:v>08/26</c:v>
                </c:pt>
                <c:pt idx="4">
                  <c:v>09/26</c:v>
                </c:pt>
                <c:pt idx="5">
                  <c:v>10/26</c:v>
                </c:pt>
              </c:strCache>
            </c:strRef>
          </c:cat>
          <c:val>
            <c:numRef>
              <c:f>Sheet1!$B$2:$B$7</c:f>
              <c:numCache>
                <c:formatCode>General</c:formatCode>
                <c:ptCount val="6"/>
                <c:pt idx="0">
                  <c:v>46</c:v>
                </c:pt>
                <c:pt idx="1">
                  <c:v>48</c:v>
                </c:pt>
                <c:pt idx="2">
                  <c:v>75</c:v>
                </c:pt>
                <c:pt idx="3">
                  <c:v>122</c:v>
                </c:pt>
                <c:pt idx="4">
                  <c:v>169</c:v>
                </c:pt>
                <c:pt idx="5">
                  <c:v>145</c:v>
                </c:pt>
              </c:numCache>
            </c:numRef>
          </c:val>
        </c:ser>
        <c:dLbls>
          <c:numFmt formatCode="0\,0" sourceLinked="0"/>
          <c:txPr>
            <a:bodyPr/>
            <a:lstStyle/>
            <a:p>
              <a:pPr>
                <a:defRPr sz="1200">
                  <a:solidFill>
                    <a:srgbClr val="29354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9D5C3"/>
            </a:solidFill>
          </a:ln>
        </c:spPr>
        <c:txPr>
          <a:bodyPr/>
          <a:lstStyle/>
          <a:p>
            <a:pPr>
              <a:defRPr sz="1200">
                <a:solidFill>
                  <a:srgbClr val="29354A"/>
                </a:solidFill>
              </a:defRPr>
            </a:pPr>
          </a:p>
        </c:txPr>
        <c:crossAx val="-2113994440"/>
        <c:crosses val="autoZero"/>
        <c:auto val="1"/>
        <c:lblAlgn val="ctr"/>
        <c:lblOffset val="100"/>
        <c:noMultiLvlLbl val="0"/>
      </c:catAx>
      <c:valAx>
        <c:axId val="-2113994440"/>
        <c:scaling/>
        <c:delete val="0"/>
        <c:axPos val="l"/>
        <c:majorGridlines>
          <c:spPr>
            <a:ln>
              <a:solidFill>
                <a:srgbClr val="E3E9E4"/>
              </a:solidFill>
            </a:ln>
          </c:spPr>
        </c:majorGridlines>
        <c:numFmt formatCode="0\,0" sourceLinked="0"/>
        <c:majorTickMark val="out"/>
        <c:minorTickMark val="none"/>
        <c:tickLblPos val="nextTo"/>
        <c:spPr>
          <a:ln>
            <a:noFill/>
          </a:ln>
        </c:spPr>
        <c:txPr>
          <a:bodyPr/>
          <a:lstStyle/>
          <a:p>
            <a:pPr>
              <a:defRPr sz="1100">
                <a:solidFill>
                  <a:srgbClr val="62716C"/>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Document phải đọc</c:v>
                </c:pt>
              </c:strCache>
            </c:strRef>
          </c:tx>
          <c:spPr>
            <a:solidFill>
              <a:srgbClr val="8B4248"/>
            </a:solidFill>
          </c:spPr>
          <c:cat>
            <c:strRef>
              <c:f>Sheet1!$A$2:$A$5</c:f>
              <c:strCache>
                <c:ptCount val="4"/>
                <c:pt idx="0">
                  <c:v>Phiếu của một khách</c:v>
                </c:pt>
                <c:pt idx="1">
                  <c:v>Hàng đợi KTV</c:v>
                </c:pt>
                <c:pt idx="2">
                  <c:v>Tìm “nguồn”</c:v>
                </c:pt>
                <c:pt idx="3">
                  <c:v>Theo tên sản phẩm</c:v>
                </c:pt>
              </c:strCache>
            </c:strRef>
          </c:cat>
          <c:val>
            <c:numRef>
              <c:f>Sheet1!$B$2:$B$5</c:f>
              <c:numCache>
                <c:formatCode>General</c:formatCode>
                <c:ptCount val="4"/>
                <c:pt idx="0">
                  <c:v>1</c:v>
                </c:pt>
                <c:pt idx="1">
                  <c:v>3</c:v>
                </c:pt>
                <c:pt idx="2">
                  <c:v>45</c:v>
                </c:pt>
                <c:pt idx="3">
                  <c:v>197</c:v>
                </c:pt>
              </c:numCache>
            </c:numRef>
          </c:val>
        </c:ser>
        <c:ser>
          <c:idx val="1"/>
          <c:order val="1"/>
          <c:tx>
            <c:strRef>
              <c:f>Sheet1!$C$1</c:f>
              <c:strCache>
                <c:ptCount val="1"/>
                <c:pt idx="0">
                  <c:v>Kết quả trả về</c:v>
                </c:pt>
              </c:strCache>
            </c:strRef>
          </c:tx>
          <c:spPr>
            <a:solidFill>
              <a:srgbClr val="244C43"/>
            </a:solidFill>
          </c:spPr>
          <c:cat>
            <c:strRef>
              <c:f>Sheet1!$A$2:$A$5</c:f>
              <c:strCache>
                <c:ptCount val="4"/>
                <c:pt idx="0">
                  <c:v>Phiếu của một khách</c:v>
                </c:pt>
                <c:pt idx="1">
                  <c:v>Hàng đợi KTV</c:v>
                </c:pt>
                <c:pt idx="2">
                  <c:v>Tìm “nguồn”</c:v>
                </c:pt>
                <c:pt idx="3">
                  <c:v>Theo tên sản phẩm</c:v>
                </c:pt>
              </c:strCache>
            </c:strRef>
          </c:cat>
          <c:val>
            <c:numRef>
              <c:f>Sheet1!$C$2:$C$5</c:f>
              <c:numCache>
                <c:formatCode>General</c:formatCode>
                <c:ptCount val="4"/>
                <c:pt idx="0">
                  <c:v>1</c:v>
                </c:pt>
                <c:pt idx="1">
                  <c:v>3</c:v>
                </c:pt>
                <c:pt idx="2">
                  <c:v>45</c:v>
                </c:pt>
                <c:pt idx="3">
                  <c:v>11</c:v>
                </c:pt>
              </c:numCache>
            </c:numRef>
          </c:val>
        </c:ser>
        <c:dLbls>
          <c:txPr>
            <a:bodyPr/>
            <a:lstStyle/>
            <a:p>
              <a:pPr>
                <a:defRPr sz="1200">
                  <a:solidFill>
                    <a:srgbClr val="29354A"/>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txPr>
          <a:bodyPr/>
          <a:lstStyle/>
          <a:p>
            <a:pPr>
              <a:defRPr sz="1200">
                <a:solidFill>
                  <a:srgbClr val="29354A"/>
                </a:solidFill>
              </a:defRPr>
            </a:pPr>
          </a:p>
        </c:txPr>
        <c:crossAx val="-2113994440"/>
        <c:crosses val="autoZero"/>
        <c:auto val="1"/>
        <c:lblAlgn val="ctr"/>
        <c:lblOffset val="100"/>
        <c:noMultiLvlLbl val="0"/>
      </c:catAx>
      <c:valAx>
        <c:axId val="-2113994440"/>
        <c:scaling/>
        <c:delete val="0"/>
        <c:axPos val="b"/>
        <c:majorGridlines>
          <c:spPr>
            <a:ln>
              <a:solidFill>
                <a:srgbClr val="E3E9E4"/>
              </a:solidFill>
            </a:ln>
          </c:spPr>
        </c:majorGridlines>
        <c:majorTickMark val="out"/>
        <c:minorTickMark val="none"/>
        <c:tickLblPos val="nextTo"/>
        <c:txPr>
          <a:bodyPr/>
          <a:lstStyle/>
          <a:p>
            <a:pPr>
              <a:defRPr sz="1100">
                <a:solidFill>
                  <a:srgbClr val="62716C"/>
                </a:solidFill>
              </a:defRPr>
            </a:pPr>
          </a:p>
        </c:txPr>
        <c:crossAx val="-2068027336"/>
        <c:crosses val="autoZero"/>
      </c:valAx>
    </c:plotArea>
    <c:legend>
      <c:legendPos val="b"/>
      <c:overlay val="0"/>
      <c:txPr>
        <a:bodyPr/>
        <a:lstStyle/>
        <a:p>
          <a:pPr>
            <a:defRPr sz="1200">
              <a:solidFill>
                <a:srgbClr val="29354A"/>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và các bạn. Nhóm 2 trình bày đồ án hệ thống quản lý trung tâm bảo hành điện tử Soopi, xây dựng trên MongoDB. Trọng tâm là thiết kế dữ liệu NoSQL, truy vấn, sao lưu và kết nối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gồm sáu phần, đi theo đúng các hạng mục của barem: công cụ, thiết kế, truy vấn, sao lưu, kết nối và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có 11 trạng thái và 7 vai trò. Điểm quan trọng: dữ liệu của một phiếu tăng dần theo từng bước nhưng luôn được đọc cùng nhau — đây là lý do mô hình document phù hợp.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lý do chính. Đồng thời nhóm vẫn giữ được tính nhất quán nhờ giao dịch đa document trên replica 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Studio 3T hay NoSQLBooster, Compass là công cụ chính thức và miễn phí, có trình dựng aggregation hiển thị kết quả từng stage — rất hợp để giải thích pipeline khi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tắc: dữ liệu con luôn đọc cùng cha, số lượng có giới hạn và không dùng chung thì nhúng. Khách hàng và thiết bị dùng chung nhiều phiếu nên tham chiếu, kèm snapshot để giữ đúng thông tin lịch sử.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document thật trong dữ liệu demo. Phiếu này QC lần đầu không đạt, kỹ thuật viên sửa lại và lần hai mới đạt — cả hai kết quả nằm trong mảng results nhúng.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demo do kịch bản gọi API thật sinh ra: 197 phiếu, 84 khách hàng, 170 phiếu thu. Mọi document đều đi qua máy trạng thái, validator và giao dịch như người dùng thật.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partial là điểm nhấn: điều kiện một thiết bị chỉ có một phiếu đang mở do chính MongoDB chặn, kể cả khi hai lễ tân cùng lập phiếu một lúc. TTL thay cho tác vụ dọn dẹp định kỳ.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Validator là lớp bảo vệ cuối khi sửa dữ liệu bằng Compass hay script. Còn trong ứng dụng, mọi nghiệp vụ nhiều document chạy trong giao dịch snapshot + majority; kho dùng updateOne có điều kiện nên không bao giờ âm.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generate.mjs đăng nhập từng vai trò và gọi API, thời gian quay về quá khứ bằng header X-Demo-Now chỉ bật khi phát triển. Kết quả xuất ra soopi_mongodb_demo.full.js để nạp lại ngay bằng run.bat demo-restore.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Lưu ý timezone: MongoDB lưu Date theo UTC, nên phải gom theo +07:00 thì phiếu thu lúc 23 giờ ngày cuối tháng mới vào đúng tháng.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Tệp database/queries/02-truy-van-nang-cao.js. Mỗi pipeline dán được vào tab Aggregations của Compass để xem dữ liệu qua từng stage. Số liệu trên slide là kết quả thật trên database demo.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Truy vấn theo tên sản phẩm không có index nên COLLSCAN. Nhóm không thêm index cho trường này vì ứng dụng không tra cứu theo nó — mỗi index đều làm chậm thao tác ghi.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ba mục đích: mongodump cho quản trị hệ thống, mongoexport để trao đổi dữ liệu, và nút sao lưu cho quản trị viên trên web. Mọi con số đều đã kiểm tra khôi phục thật.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Controller mỏng, Service chứa nghiệp vụ, Store viết truy vấn Mongo theo từng aggregate. Đổi database bằng biến môi trường Mongo__Database — run.bat demo dùng cách này để chạy trên database demo.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demo khoảng 8 phút: quản trị và sao lưu, luồng một phiếu từ đầu đến cuối, rồi quay lại Compass để thấy dữ liệu vừa ghi và chạy các truy vấn.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thử tích hợp tạo database tạm riêng mỗi lần chạy và xóa đúng database đó. Bảng phân công khớp với báo cáo Word.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kết quả, hạn chế và hướng phát triển. Mời thầy và các bạn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C35"/>
        </a:solidFill>
        <a:effectLst/>
      </p:bgPr>
    </p:bg>
    <p:spTree>
      <p:nvGrpSpPr>
        <p:cNvPr id="1" name=""/>
        <p:cNvGrpSpPr/>
        <p:nvPr/>
      </p:nvGrpSpPr>
      <p:grpSpPr/>
      <p:sp>
        <p:nvSpPr>
          <p:cNvPr id="2" name="TextBox 1"/>
          <p:cNvSpPr txBox="1"/>
          <p:nvPr/>
        </p:nvSpPr>
        <p:spPr>
          <a:xfrm>
            <a:off x="731520" y="640080"/>
            <a:ext cx="10058400" cy="365760"/>
          </a:xfrm>
          <a:prstGeom prst="rect">
            <a:avLst/>
          </a:prstGeom>
          <a:noFill/>
        </p:spPr>
        <p:txBody>
          <a:bodyPr wrap="square" lIns="0" rIns="0" tIns="0" bIns="0" anchor="t">
            <a:spAutoFit/>
          </a:bodyPr>
          <a:lstStyle/>
          <a:p>
            <a:pPr algn="l"/>
            <a:r>
              <a:rPr sz="1400" b="1" i="0">
                <a:solidFill>
                  <a:srgbClr val="EFB952"/>
                </a:solidFill>
                <a:latin typeface="Calibri"/>
              </a:rPr>
              <a:t>ĐỒ ÁN MÔN HỌC · CƠ SỞ DỮ LIỆU NoSQL</a:t>
            </a:r>
          </a:p>
        </p:txBody>
      </p:sp>
      <p:sp>
        <p:nvSpPr>
          <p:cNvPr id="3" name="TextBox 2"/>
          <p:cNvSpPr txBox="1"/>
          <p:nvPr/>
        </p:nvSpPr>
        <p:spPr>
          <a:xfrm>
            <a:off x="731520" y="1371600"/>
            <a:ext cx="10515600" cy="2011680"/>
          </a:xfrm>
          <a:prstGeom prst="rect">
            <a:avLst/>
          </a:prstGeom>
          <a:noFill/>
        </p:spPr>
        <p:txBody>
          <a:bodyPr wrap="square" lIns="0" rIns="0" tIns="0" bIns="0" anchor="t">
            <a:spAutoFit/>
          </a:bodyPr>
          <a:lstStyle/>
          <a:p>
            <a:pPr algn="l"/>
            <a:r>
              <a:rPr sz="4800" b="1" i="0">
                <a:solidFill>
                  <a:srgbClr val="FFFFFF"/>
                </a:solidFill>
                <a:latin typeface="Cambria"/>
              </a:rPr>
              <a:t>Hệ thống quản lý</a:t>
            </a:r>
          </a:p>
          <a:p>
            <a:pPr algn="l"/>
            <a:r>
              <a:rPr sz="4800" b="1" i="0">
                <a:solidFill>
                  <a:srgbClr val="FFFFFF"/>
                </a:solidFill>
                <a:latin typeface="Cambria"/>
              </a:rPr>
              <a:t>trung tâm bảo hành điện tử Soopi</a:t>
            </a:r>
          </a:p>
        </p:txBody>
      </p:sp>
      <p:sp>
        <p:nvSpPr>
          <p:cNvPr id="4" name="TextBox 3"/>
          <p:cNvSpPr txBox="1"/>
          <p:nvPr/>
        </p:nvSpPr>
        <p:spPr>
          <a:xfrm>
            <a:off x="731520" y="3429000"/>
            <a:ext cx="10058400" cy="457200"/>
          </a:xfrm>
          <a:prstGeom prst="rect">
            <a:avLst/>
          </a:prstGeom>
          <a:noFill/>
        </p:spPr>
        <p:txBody>
          <a:bodyPr wrap="square" lIns="0" rIns="0" tIns="0" bIns="0" anchor="t">
            <a:spAutoFit/>
          </a:bodyPr>
          <a:lstStyle/>
          <a:p>
            <a:pPr algn="l"/>
            <a:r>
              <a:rPr sz="2200" b="0" i="0">
                <a:solidFill>
                  <a:srgbClr val="DDEFE4"/>
                </a:solidFill>
                <a:latin typeface="Calibri"/>
              </a:rPr>
              <a:t>Thiết kế và vận hành trên MongoDB 8 · replica set rs0</a:t>
            </a:r>
          </a:p>
        </p:txBody>
      </p:sp>
      <p:sp>
        <p:nvSpPr>
          <p:cNvPr id="5" name="Rounded Rectangle 4"/>
          <p:cNvSpPr/>
          <p:nvPr/>
        </p:nvSpPr>
        <p:spPr>
          <a:xfrm>
            <a:off x="731520" y="4343400"/>
            <a:ext cx="5120640" cy="1554480"/>
          </a:xfrm>
          <a:prstGeom prst="roundRect">
            <a:avLst>
              <a:gd name="adj" fmla="val 6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4526280"/>
            <a:ext cx="4754880" cy="1280160"/>
          </a:xfrm>
          <a:prstGeom prst="rect">
            <a:avLst/>
          </a:prstGeom>
          <a:noFill/>
        </p:spPr>
        <p:txBody>
          <a:bodyPr wrap="square" lIns="0" rIns="0" tIns="0" bIns="0" anchor="t">
            <a:spAutoFit/>
          </a:bodyPr>
          <a:lstStyle/>
          <a:p>
            <a:pPr algn="l">
              <a:spcAft>
                <a:spcPts val="600"/>
              </a:spcAft>
            </a:pPr>
            <a:r>
              <a:rPr sz="1300" b="1" i="0">
                <a:solidFill>
                  <a:srgbClr val="EFB952"/>
                </a:solidFill>
                <a:latin typeface="Calibri"/>
              </a:rPr>
              <a:t>Giảng viên hướng dẫn</a:t>
            </a:r>
          </a:p>
          <a:p>
            <a:pPr algn="l">
              <a:spcAft>
                <a:spcPts val="600"/>
              </a:spcAft>
            </a:pPr>
            <a:r>
              <a:rPr sz="1800" b="0" i="0">
                <a:solidFill>
                  <a:srgbClr val="FFFFFF"/>
                </a:solidFill>
                <a:latin typeface="Calibri"/>
              </a:rPr>
              <a:t>Hồ Trung Đoàn</a:t>
            </a:r>
          </a:p>
        </p:txBody>
      </p:sp>
      <p:sp>
        <p:nvSpPr>
          <p:cNvPr id="7" name="Rounded Rectangle 6"/>
          <p:cNvSpPr/>
          <p:nvPr/>
        </p:nvSpPr>
        <p:spPr>
          <a:xfrm>
            <a:off x="6126480" y="4343400"/>
            <a:ext cx="5303520" cy="1554480"/>
          </a:xfrm>
          <a:prstGeom prst="roundRect">
            <a:avLst>
              <a:gd name="adj" fmla="val 6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0" y="4526280"/>
            <a:ext cx="4937760" cy="1371600"/>
          </a:xfrm>
          <a:prstGeom prst="rect">
            <a:avLst/>
          </a:prstGeom>
          <a:noFill/>
        </p:spPr>
        <p:txBody>
          <a:bodyPr wrap="square" lIns="0" rIns="0" tIns="0" bIns="0" anchor="t">
            <a:spAutoFit/>
          </a:bodyPr>
          <a:lstStyle/>
          <a:p>
            <a:pPr algn="l">
              <a:spcAft>
                <a:spcPts val="200"/>
              </a:spcAft>
            </a:pPr>
            <a:r>
              <a:rPr sz="1300" b="1" i="0">
                <a:solidFill>
                  <a:srgbClr val="EFB952"/>
                </a:solidFill>
                <a:latin typeface="Calibri"/>
              </a:rPr>
              <a:t>Nhóm 2</a:t>
            </a:r>
          </a:p>
          <a:p>
            <a:pPr algn="l">
              <a:spcAft>
                <a:spcPts val="200"/>
              </a:spcAft>
            </a:pPr>
            <a:r>
              <a:rPr sz="1500" b="0" i="0">
                <a:solidFill>
                  <a:srgbClr val="FFFFFF"/>
                </a:solidFill>
                <a:latin typeface="Calibri"/>
              </a:rPr>
              <a:t>2001230510 – Đỗ Lê Thanh Mẫn</a:t>
            </a:r>
          </a:p>
          <a:p>
            <a:pPr algn="l">
              <a:spcAft>
                <a:spcPts val="200"/>
              </a:spcAft>
            </a:pPr>
            <a:r>
              <a:rPr sz="1500" b="0" i="0">
                <a:solidFill>
                  <a:srgbClr val="FFFFFF"/>
                </a:solidFill>
                <a:latin typeface="Calibri"/>
              </a:rPr>
              <a:t>2001230467 – Bùi Hữu Lộc</a:t>
            </a:r>
          </a:p>
          <a:p>
            <a:pPr algn="l">
              <a:spcAft>
                <a:spcPts val="200"/>
              </a:spcAft>
            </a:pPr>
            <a:r>
              <a:rPr sz="1500" b="0" i="0">
                <a:solidFill>
                  <a:srgbClr val="FFFFFF"/>
                </a:solidFill>
                <a:latin typeface="Calibri"/>
              </a:rPr>
              <a:t>2001230923 – Phan Minh Thiện</a:t>
            </a:r>
          </a:p>
        </p:txBody>
      </p:sp>
      <p:sp>
        <p:nvSpPr>
          <p:cNvPr id="9" name="TextBox 8"/>
          <p:cNvSpPr txBox="1"/>
          <p:nvPr/>
        </p:nvSpPr>
        <p:spPr>
          <a:xfrm>
            <a:off x="731520" y="6263640"/>
            <a:ext cx="10058400" cy="274320"/>
          </a:xfrm>
          <a:prstGeom prst="rect">
            <a:avLst/>
          </a:prstGeom>
          <a:noFill/>
        </p:spPr>
        <p:txBody>
          <a:bodyPr wrap="square" lIns="0" rIns="0" tIns="0" bIns="0" anchor="t">
            <a:spAutoFit/>
          </a:bodyPr>
          <a:lstStyle/>
          <a:p>
            <a:pPr algn="l"/>
            <a:r>
              <a:rPr sz="1200" b="0" i="0">
                <a:solidFill>
                  <a:srgbClr val="DDEFE4"/>
                </a:solidFill>
                <a:latin typeface="Calibri"/>
              </a:rPr>
              <a:t>Trường Đại học Công Thương TP. HCM · Khoa Công nghệ Thông tin ·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2</a:t>
            </a:r>
          </a:p>
        </p:txBody>
      </p:sp>
      <p:sp>
        <p:nvSpPr>
          <p:cNvPr id="4"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Nội dung trình bày</a:t>
            </a:r>
          </a:p>
        </p:txBody>
      </p:sp>
      <p:sp>
        <p:nvSpPr>
          <p:cNvPr id="5" name="Rounded Rectangle 4"/>
          <p:cNvSpPr/>
          <p:nvPr/>
        </p:nvSpPr>
        <p:spPr>
          <a:xfrm>
            <a:off x="548640" y="169164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920240"/>
            <a:ext cx="1097280" cy="731520"/>
          </a:xfrm>
          <a:prstGeom prst="rect">
            <a:avLst/>
          </a:prstGeom>
          <a:noFill/>
        </p:spPr>
        <p:txBody>
          <a:bodyPr wrap="square" lIns="0" rIns="0" tIns="0" bIns="0" anchor="t">
            <a:spAutoFit/>
          </a:bodyPr>
          <a:lstStyle/>
          <a:p>
            <a:pPr algn="l"/>
            <a:r>
              <a:rPr sz="3600" b="1" i="0">
                <a:solidFill>
                  <a:srgbClr val="EFB952"/>
                </a:solidFill>
                <a:latin typeface="Cambria"/>
              </a:rPr>
              <a:t>01</a:t>
            </a:r>
          </a:p>
        </p:txBody>
      </p:sp>
      <p:sp>
        <p:nvSpPr>
          <p:cNvPr id="7" name="TextBox 6"/>
          <p:cNvSpPr txBox="1"/>
          <p:nvPr/>
        </p:nvSpPr>
        <p:spPr>
          <a:xfrm>
            <a:off x="822959" y="2606040"/>
            <a:ext cx="3017520" cy="411480"/>
          </a:xfrm>
          <a:prstGeom prst="rect">
            <a:avLst/>
          </a:prstGeom>
          <a:noFill/>
        </p:spPr>
        <p:txBody>
          <a:bodyPr wrap="square" lIns="0" rIns="0" tIns="0" bIns="0" anchor="t">
            <a:spAutoFit/>
          </a:bodyPr>
          <a:lstStyle/>
          <a:p>
            <a:pPr algn="l"/>
            <a:r>
              <a:rPr sz="2000" b="1" i="0">
                <a:solidFill>
                  <a:srgbClr val="1B3C35"/>
                </a:solidFill>
                <a:latin typeface="Cambria"/>
              </a:rPr>
              <a:t>Bài toán</a:t>
            </a:r>
          </a:p>
        </p:txBody>
      </p:sp>
      <p:sp>
        <p:nvSpPr>
          <p:cNvPr id="8" name="TextBox 7"/>
          <p:cNvSpPr txBox="1"/>
          <p:nvPr/>
        </p:nvSpPr>
        <p:spPr>
          <a:xfrm>
            <a:off x="822959" y="3017520"/>
            <a:ext cx="3017520" cy="548640"/>
          </a:xfrm>
          <a:prstGeom prst="rect">
            <a:avLst/>
          </a:prstGeom>
          <a:noFill/>
        </p:spPr>
        <p:txBody>
          <a:bodyPr wrap="square" lIns="0" rIns="0" tIns="0" bIns="0" anchor="t">
            <a:spAutoFit/>
          </a:bodyPr>
          <a:lstStyle/>
          <a:p>
            <a:pPr algn="l"/>
            <a:r>
              <a:rPr sz="1400" b="0" i="0">
                <a:solidFill>
                  <a:srgbClr val="29354A"/>
                </a:solidFill>
                <a:latin typeface="Calibri"/>
              </a:rPr>
              <a:t>Quy trình bảo hành và lý do chọn MongoDB</a:t>
            </a:r>
          </a:p>
        </p:txBody>
      </p:sp>
      <p:sp>
        <p:nvSpPr>
          <p:cNvPr id="9" name="Rounded Rectangle 8"/>
          <p:cNvSpPr/>
          <p:nvPr/>
        </p:nvSpPr>
        <p:spPr>
          <a:xfrm>
            <a:off x="4297679" y="169164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1999" y="1920240"/>
            <a:ext cx="1097280" cy="731520"/>
          </a:xfrm>
          <a:prstGeom prst="rect">
            <a:avLst/>
          </a:prstGeom>
          <a:noFill/>
        </p:spPr>
        <p:txBody>
          <a:bodyPr wrap="square" lIns="0" rIns="0" tIns="0" bIns="0" anchor="t">
            <a:spAutoFit/>
          </a:bodyPr>
          <a:lstStyle/>
          <a:p>
            <a:pPr algn="l"/>
            <a:r>
              <a:rPr sz="3600" b="1" i="0">
                <a:solidFill>
                  <a:srgbClr val="EFB952"/>
                </a:solidFill>
                <a:latin typeface="Cambria"/>
              </a:rPr>
              <a:t>02</a:t>
            </a:r>
          </a:p>
        </p:txBody>
      </p:sp>
      <p:sp>
        <p:nvSpPr>
          <p:cNvPr id="11" name="TextBox 10"/>
          <p:cNvSpPr txBox="1"/>
          <p:nvPr/>
        </p:nvSpPr>
        <p:spPr>
          <a:xfrm>
            <a:off x="4571999" y="2606040"/>
            <a:ext cx="3017520" cy="411480"/>
          </a:xfrm>
          <a:prstGeom prst="rect">
            <a:avLst/>
          </a:prstGeom>
          <a:noFill/>
        </p:spPr>
        <p:txBody>
          <a:bodyPr wrap="square" lIns="0" rIns="0" tIns="0" bIns="0" anchor="t">
            <a:spAutoFit/>
          </a:bodyPr>
          <a:lstStyle/>
          <a:p>
            <a:pPr algn="l"/>
            <a:r>
              <a:rPr sz="2000" b="1" i="0">
                <a:solidFill>
                  <a:srgbClr val="1B3C35"/>
                </a:solidFill>
                <a:latin typeface="Cambria"/>
              </a:rPr>
              <a:t>Công cụ</a:t>
            </a:r>
          </a:p>
        </p:txBody>
      </p:sp>
      <p:sp>
        <p:nvSpPr>
          <p:cNvPr id="12" name="TextBox 11"/>
          <p:cNvSpPr txBox="1"/>
          <p:nvPr/>
        </p:nvSpPr>
        <p:spPr>
          <a:xfrm>
            <a:off x="4571999" y="3017520"/>
            <a:ext cx="3017520" cy="548640"/>
          </a:xfrm>
          <a:prstGeom prst="rect">
            <a:avLst/>
          </a:prstGeom>
          <a:noFill/>
        </p:spPr>
        <p:txBody>
          <a:bodyPr wrap="square" lIns="0" rIns="0" tIns="0" bIns="0" anchor="t">
            <a:spAutoFit/>
          </a:bodyPr>
          <a:lstStyle/>
          <a:p>
            <a:pPr algn="l"/>
            <a:r>
              <a:rPr sz="1400" b="0" i="0">
                <a:solidFill>
                  <a:srgbClr val="29354A"/>
                </a:solidFill>
                <a:latin typeface="Calibri"/>
              </a:rPr>
              <a:t>Compass, mongosh, Database Tools</a:t>
            </a:r>
          </a:p>
        </p:txBody>
      </p:sp>
      <p:sp>
        <p:nvSpPr>
          <p:cNvPr id="13" name="Rounded Rectangle 12"/>
          <p:cNvSpPr/>
          <p:nvPr/>
        </p:nvSpPr>
        <p:spPr>
          <a:xfrm>
            <a:off x="8046719" y="169164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0" y="1920240"/>
            <a:ext cx="1097280" cy="731520"/>
          </a:xfrm>
          <a:prstGeom prst="rect">
            <a:avLst/>
          </a:prstGeom>
          <a:noFill/>
        </p:spPr>
        <p:txBody>
          <a:bodyPr wrap="square" lIns="0" rIns="0" tIns="0" bIns="0" anchor="t">
            <a:spAutoFit/>
          </a:bodyPr>
          <a:lstStyle/>
          <a:p>
            <a:pPr algn="l"/>
            <a:r>
              <a:rPr sz="3600" b="1" i="0">
                <a:solidFill>
                  <a:srgbClr val="EFB952"/>
                </a:solidFill>
                <a:latin typeface="Cambria"/>
              </a:rPr>
              <a:t>03</a:t>
            </a:r>
          </a:p>
        </p:txBody>
      </p:sp>
      <p:sp>
        <p:nvSpPr>
          <p:cNvPr id="15" name="TextBox 14"/>
          <p:cNvSpPr txBox="1"/>
          <p:nvPr/>
        </p:nvSpPr>
        <p:spPr>
          <a:xfrm>
            <a:off x="8321040" y="2606040"/>
            <a:ext cx="3017520" cy="411480"/>
          </a:xfrm>
          <a:prstGeom prst="rect">
            <a:avLst/>
          </a:prstGeom>
          <a:noFill/>
        </p:spPr>
        <p:txBody>
          <a:bodyPr wrap="square" lIns="0" rIns="0" tIns="0" bIns="0" anchor="t">
            <a:spAutoFit/>
          </a:bodyPr>
          <a:lstStyle/>
          <a:p>
            <a:pPr algn="l"/>
            <a:r>
              <a:rPr sz="2000" b="1" i="0">
                <a:solidFill>
                  <a:srgbClr val="1B3C35"/>
                </a:solidFill>
                <a:latin typeface="Cambria"/>
              </a:rPr>
              <a:t>Thiết kế</a:t>
            </a:r>
          </a:p>
        </p:txBody>
      </p:sp>
      <p:sp>
        <p:nvSpPr>
          <p:cNvPr id="16" name="TextBox 15"/>
          <p:cNvSpPr txBox="1"/>
          <p:nvPr/>
        </p:nvSpPr>
        <p:spPr>
          <a:xfrm>
            <a:off x="8321040" y="3017520"/>
            <a:ext cx="3017520" cy="548640"/>
          </a:xfrm>
          <a:prstGeom prst="rect">
            <a:avLst/>
          </a:prstGeom>
          <a:noFill/>
        </p:spPr>
        <p:txBody>
          <a:bodyPr wrap="square" lIns="0" rIns="0" tIns="0" bIns="0" anchor="t">
            <a:spAutoFit/>
          </a:bodyPr>
          <a:lstStyle/>
          <a:p>
            <a:pPr algn="l"/>
            <a:r>
              <a:rPr sz="1400" b="0" i="0">
                <a:solidFill>
                  <a:srgbClr val="29354A"/>
                </a:solidFill>
                <a:latin typeface="Calibri"/>
              </a:rPr>
              <a:t>Mô hình document, chỉ mục, $jsonSchema</a:t>
            </a:r>
          </a:p>
        </p:txBody>
      </p:sp>
      <p:sp>
        <p:nvSpPr>
          <p:cNvPr id="17" name="Rounded Rectangle 16"/>
          <p:cNvSpPr/>
          <p:nvPr/>
        </p:nvSpPr>
        <p:spPr>
          <a:xfrm>
            <a:off x="548640" y="393192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160520"/>
            <a:ext cx="1097280" cy="731520"/>
          </a:xfrm>
          <a:prstGeom prst="rect">
            <a:avLst/>
          </a:prstGeom>
          <a:noFill/>
        </p:spPr>
        <p:txBody>
          <a:bodyPr wrap="square" lIns="0" rIns="0" tIns="0" bIns="0" anchor="t">
            <a:spAutoFit/>
          </a:bodyPr>
          <a:lstStyle/>
          <a:p>
            <a:pPr algn="l"/>
            <a:r>
              <a:rPr sz="3600" b="1" i="0">
                <a:solidFill>
                  <a:srgbClr val="EFB952"/>
                </a:solidFill>
                <a:latin typeface="Cambria"/>
              </a:rPr>
              <a:t>04</a:t>
            </a:r>
          </a:p>
        </p:txBody>
      </p:sp>
      <p:sp>
        <p:nvSpPr>
          <p:cNvPr id="19" name="TextBox 18"/>
          <p:cNvSpPr txBox="1"/>
          <p:nvPr/>
        </p:nvSpPr>
        <p:spPr>
          <a:xfrm>
            <a:off x="822959" y="4846320"/>
            <a:ext cx="3017520" cy="411480"/>
          </a:xfrm>
          <a:prstGeom prst="rect">
            <a:avLst/>
          </a:prstGeom>
          <a:noFill/>
        </p:spPr>
        <p:txBody>
          <a:bodyPr wrap="square" lIns="0" rIns="0" tIns="0" bIns="0" anchor="t">
            <a:spAutoFit/>
          </a:bodyPr>
          <a:lstStyle/>
          <a:p>
            <a:pPr algn="l"/>
            <a:r>
              <a:rPr sz="2000" b="1" i="0">
                <a:solidFill>
                  <a:srgbClr val="1B3C35"/>
                </a:solidFill>
                <a:latin typeface="Cambria"/>
              </a:rPr>
              <a:t>Truy vấn</a:t>
            </a:r>
          </a:p>
        </p:txBody>
      </p:sp>
      <p:sp>
        <p:nvSpPr>
          <p:cNvPr id="20" name="TextBox 19"/>
          <p:cNvSpPr txBox="1"/>
          <p:nvPr/>
        </p:nvSpPr>
        <p:spPr>
          <a:xfrm>
            <a:off x="822959" y="5257800"/>
            <a:ext cx="3017520" cy="548640"/>
          </a:xfrm>
          <a:prstGeom prst="rect">
            <a:avLst/>
          </a:prstGeom>
          <a:noFill/>
        </p:spPr>
        <p:txBody>
          <a:bodyPr wrap="square" lIns="0" rIns="0" tIns="0" bIns="0" anchor="t">
            <a:spAutoFit/>
          </a:bodyPr>
          <a:lstStyle/>
          <a:p>
            <a:pPr algn="l"/>
            <a:r>
              <a:rPr sz="1400" b="0" i="0">
                <a:solidFill>
                  <a:srgbClr val="29354A"/>
                </a:solidFill>
                <a:latin typeface="Calibri"/>
              </a:rPr>
              <a:t>Từ find đến aggregation pipeline</a:t>
            </a:r>
          </a:p>
        </p:txBody>
      </p:sp>
      <p:sp>
        <p:nvSpPr>
          <p:cNvPr id="21" name="Rounded Rectangle 20"/>
          <p:cNvSpPr/>
          <p:nvPr/>
        </p:nvSpPr>
        <p:spPr>
          <a:xfrm>
            <a:off x="4297679" y="393192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1999" y="4160520"/>
            <a:ext cx="1097280" cy="731520"/>
          </a:xfrm>
          <a:prstGeom prst="rect">
            <a:avLst/>
          </a:prstGeom>
          <a:noFill/>
        </p:spPr>
        <p:txBody>
          <a:bodyPr wrap="square" lIns="0" rIns="0" tIns="0" bIns="0" anchor="t">
            <a:spAutoFit/>
          </a:bodyPr>
          <a:lstStyle/>
          <a:p>
            <a:pPr algn="l"/>
            <a:r>
              <a:rPr sz="3600" b="1" i="0">
                <a:solidFill>
                  <a:srgbClr val="EFB952"/>
                </a:solidFill>
                <a:latin typeface="Cambria"/>
              </a:rPr>
              <a:t>05</a:t>
            </a:r>
          </a:p>
        </p:txBody>
      </p:sp>
      <p:sp>
        <p:nvSpPr>
          <p:cNvPr id="23" name="TextBox 22"/>
          <p:cNvSpPr txBox="1"/>
          <p:nvPr/>
        </p:nvSpPr>
        <p:spPr>
          <a:xfrm>
            <a:off x="4571999" y="4846320"/>
            <a:ext cx="3017520" cy="411480"/>
          </a:xfrm>
          <a:prstGeom prst="rect">
            <a:avLst/>
          </a:prstGeom>
          <a:noFill/>
        </p:spPr>
        <p:txBody>
          <a:bodyPr wrap="square" lIns="0" rIns="0" tIns="0" bIns="0" anchor="t">
            <a:spAutoFit/>
          </a:bodyPr>
          <a:lstStyle/>
          <a:p>
            <a:pPr algn="l"/>
            <a:r>
              <a:rPr sz="2000" b="1" i="0">
                <a:solidFill>
                  <a:srgbClr val="1B3C35"/>
                </a:solidFill>
                <a:latin typeface="Cambria"/>
              </a:rPr>
              <a:t>Vận hành</a:t>
            </a:r>
          </a:p>
        </p:txBody>
      </p:sp>
      <p:sp>
        <p:nvSpPr>
          <p:cNvPr id="24" name="TextBox 23"/>
          <p:cNvSpPr txBox="1"/>
          <p:nvPr/>
        </p:nvSpPr>
        <p:spPr>
          <a:xfrm>
            <a:off x="4571999" y="5257800"/>
            <a:ext cx="3017520" cy="548640"/>
          </a:xfrm>
          <a:prstGeom prst="rect">
            <a:avLst/>
          </a:prstGeom>
          <a:noFill/>
        </p:spPr>
        <p:txBody>
          <a:bodyPr wrap="square" lIns="0" rIns="0" tIns="0" bIns="0" anchor="t">
            <a:spAutoFit/>
          </a:bodyPr>
          <a:lstStyle/>
          <a:p>
            <a:pPr algn="l"/>
            <a:r>
              <a:rPr sz="1400" b="0" i="0">
                <a:solidFill>
                  <a:srgbClr val="29354A"/>
                </a:solidFill>
                <a:latin typeface="Calibri"/>
              </a:rPr>
              <a:t>Import/Export, sao lưu, khôi phục</a:t>
            </a:r>
          </a:p>
        </p:txBody>
      </p:sp>
      <p:sp>
        <p:nvSpPr>
          <p:cNvPr id="25" name="Rounded Rectangle 24"/>
          <p:cNvSpPr/>
          <p:nvPr/>
        </p:nvSpPr>
        <p:spPr>
          <a:xfrm>
            <a:off x="8046719" y="3931920"/>
            <a:ext cx="347472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321040" y="4160520"/>
            <a:ext cx="1097280" cy="731520"/>
          </a:xfrm>
          <a:prstGeom prst="rect">
            <a:avLst/>
          </a:prstGeom>
          <a:noFill/>
        </p:spPr>
        <p:txBody>
          <a:bodyPr wrap="square" lIns="0" rIns="0" tIns="0" bIns="0" anchor="t">
            <a:spAutoFit/>
          </a:bodyPr>
          <a:lstStyle/>
          <a:p>
            <a:pPr algn="l"/>
            <a:r>
              <a:rPr sz="3600" b="1" i="0">
                <a:solidFill>
                  <a:srgbClr val="EFB952"/>
                </a:solidFill>
                <a:latin typeface="Cambria"/>
              </a:rPr>
              <a:t>06</a:t>
            </a:r>
          </a:p>
        </p:txBody>
      </p:sp>
      <p:sp>
        <p:nvSpPr>
          <p:cNvPr id="27" name="TextBox 26"/>
          <p:cNvSpPr txBox="1"/>
          <p:nvPr/>
        </p:nvSpPr>
        <p:spPr>
          <a:xfrm>
            <a:off x="8321040" y="4846320"/>
            <a:ext cx="3017520" cy="411480"/>
          </a:xfrm>
          <a:prstGeom prst="rect">
            <a:avLst/>
          </a:prstGeom>
          <a:noFill/>
        </p:spPr>
        <p:txBody>
          <a:bodyPr wrap="square" lIns="0" rIns="0" tIns="0" bIns="0" anchor="t">
            <a:spAutoFit/>
          </a:bodyPr>
          <a:lstStyle/>
          <a:p>
            <a:pPr algn="l"/>
            <a:r>
              <a:rPr sz="2000" b="1" i="0">
                <a:solidFill>
                  <a:srgbClr val="1B3C35"/>
                </a:solidFill>
                <a:latin typeface="Cambria"/>
              </a:rPr>
              <a:t>Ứng dụng</a:t>
            </a:r>
          </a:p>
        </p:txBody>
      </p:sp>
      <p:sp>
        <p:nvSpPr>
          <p:cNvPr id="28" name="TextBox 27"/>
          <p:cNvSpPr txBox="1"/>
          <p:nvPr/>
        </p:nvSpPr>
        <p:spPr>
          <a:xfrm>
            <a:off x="8321040" y="5257800"/>
            <a:ext cx="3017520" cy="548640"/>
          </a:xfrm>
          <a:prstGeom prst="rect">
            <a:avLst/>
          </a:prstGeom>
          <a:noFill/>
        </p:spPr>
        <p:txBody>
          <a:bodyPr wrap="square" lIns="0" rIns="0" tIns="0" bIns="0" anchor="t">
            <a:spAutoFit/>
          </a:bodyPr>
          <a:lstStyle/>
          <a:p>
            <a:pPr algn="l"/>
            <a:r>
              <a:rPr sz="1400" b="0" i="0">
                <a:solidFill>
                  <a:srgbClr val="29354A"/>
                </a:solidFill>
                <a:latin typeface="Calibri"/>
              </a:rPr>
              <a:t>Kết nối, giao dịch,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3</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BÀI TOÁN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Một phiếu tiếp nhận đi qua bảy vai trò</a:t>
            </a:r>
          </a:p>
        </p:txBody>
      </p:sp>
      <p:sp>
        <p:nvSpPr>
          <p:cNvPr id="6" name="Oval 5"/>
          <p:cNvSpPr/>
          <p:nvPr/>
        </p:nvSpPr>
        <p:spPr>
          <a:xfrm>
            <a:off x="548640" y="1920240"/>
            <a:ext cx="1261872" cy="1261872"/>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2286000"/>
            <a:ext cx="1261872" cy="548640"/>
          </a:xfrm>
          <a:prstGeom prst="rect">
            <a:avLst/>
          </a:prstGeom>
          <a:noFill/>
        </p:spPr>
        <p:txBody>
          <a:bodyPr wrap="square" lIns="0" rIns="0" tIns="0" bIns="0" anchor="t">
            <a:spAutoFit/>
          </a:bodyPr>
          <a:lstStyle/>
          <a:p>
            <a:pPr algn="ctr"/>
            <a:r>
              <a:rPr sz="2800" b="1" i="0">
                <a:solidFill>
                  <a:srgbClr val="FFFFFF"/>
                </a:solidFill>
                <a:latin typeface="Cambria"/>
              </a:rPr>
              <a:t>1</a:t>
            </a:r>
          </a:p>
        </p:txBody>
      </p:sp>
      <p:sp>
        <p:nvSpPr>
          <p:cNvPr id="8" name="TextBox 7"/>
          <p:cNvSpPr txBox="1"/>
          <p:nvPr/>
        </p:nvSpPr>
        <p:spPr>
          <a:xfrm>
            <a:off x="502919"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Lễ tân</a:t>
            </a:r>
          </a:p>
        </p:txBody>
      </p:sp>
      <p:sp>
        <p:nvSpPr>
          <p:cNvPr id="9" name="TextBox 8"/>
          <p:cNvSpPr txBox="1"/>
          <p:nvPr/>
        </p:nvSpPr>
        <p:spPr>
          <a:xfrm>
            <a:off x="502919"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Tiếp nhận, kiểm tra bảo hành</a:t>
            </a:r>
          </a:p>
        </p:txBody>
      </p:sp>
      <p:sp>
        <p:nvSpPr>
          <p:cNvPr id="10" name="Oval 9"/>
          <p:cNvSpPr/>
          <p:nvPr/>
        </p:nvSpPr>
        <p:spPr>
          <a:xfrm>
            <a:off x="1947672" y="1920240"/>
            <a:ext cx="1261872" cy="1261872"/>
          </a:xfrm>
          <a:prstGeom prst="ellipse">
            <a:avLst/>
          </a:prstGeom>
          <a:solidFill>
            <a:srgbClr val="DD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7672" y="2286000"/>
            <a:ext cx="1261872" cy="548640"/>
          </a:xfrm>
          <a:prstGeom prst="rect">
            <a:avLst/>
          </a:prstGeom>
          <a:noFill/>
        </p:spPr>
        <p:txBody>
          <a:bodyPr wrap="square" lIns="0" rIns="0" tIns="0" bIns="0" anchor="t">
            <a:spAutoFit/>
          </a:bodyPr>
          <a:lstStyle/>
          <a:p>
            <a:pPr algn="ctr"/>
            <a:r>
              <a:rPr sz="2800" b="1" i="0">
                <a:solidFill>
                  <a:srgbClr val="1B3C35"/>
                </a:solidFill>
                <a:latin typeface="Cambria"/>
              </a:rPr>
              <a:t>2</a:t>
            </a:r>
          </a:p>
        </p:txBody>
      </p:sp>
      <p:sp>
        <p:nvSpPr>
          <p:cNvPr id="12" name="TextBox 11"/>
          <p:cNvSpPr txBox="1"/>
          <p:nvPr/>
        </p:nvSpPr>
        <p:spPr>
          <a:xfrm>
            <a:off x="1901952"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Điều phối</a:t>
            </a:r>
          </a:p>
        </p:txBody>
      </p:sp>
      <p:sp>
        <p:nvSpPr>
          <p:cNvPr id="13" name="TextBox 12"/>
          <p:cNvSpPr txBox="1"/>
          <p:nvPr/>
        </p:nvSpPr>
        <p:spPr>
          <a:xfrm>
            <a:off x="1901952"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Phân công kỹ thuật viên</a:t>
            </a:r>
          </a:p>
        </p:txBody>
      </p:sp>
      <p:sp>
        <p:nvSpPr>
          <p:cNvPr id="14" name="Oval 13"/>
          <p:cNvSpPr/>
          <p:nvPr/>
        </p:nvSpPr>
        <p:spPr>
          <a:xfrm>
            <a:off x="3346704" y="1920240"/>
            <a:ext cx="1261872" cy="1261872"/>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46704" y="2286000"/>
            <a:ext cx="1261872" cy="548640"/>
          </a:xfrm>
          <a:prstGeom prst="rect">
            <a:avLst/>
          </a:prstGeom>
          <a:noFill/>
        </p:spPr>
        <p:txBody>
          <a:bodyPr wrap="square" lIns="0" rIns="0" tIns="0" bIns="0" anchor="t">
            <a:spAutoFit/>
          </a:bodyPr>
          <a:lstStyle/>
          <a:p>
            <a:pPr algn="ctr"/>
            <a:r>
              <a:rPr sz="2800" b="1" i="0">
                <a:solidFill>
                  <a:srgbClr val="FFFFFF"/>
                </a:solidFill>
                <a:latin typeface="Cambria"/>
              </a:rPr>
              <a:t>3</a:t>
            </a:r>
          </a:p>
        </p:txBody>
      </p:sp>
      <p:sp>
        <p:nvSpPr>
          <p:cNvPr id="16" name="TextBox 15"/>
          <p:cNvSpPr txBox="1"/>
          <p:nvPr/>
        </p:nvSpPr>
        <p:spPr>
          <a:xfrm>
            <a:off x="3300984"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Kỹ thuật viên</a:t>
            </a:r>
          </a:p>
        </p:txBody>
      </p:sp>
      <p:sp>
        <p:nvSpPr>
          <p:cNvPr id="17" name="TextBox 16"/>
          <p:cNvSpPr txBox="1"/>
          <p:nvPr/>
        </p:nvSpPr>
        <p:spPr>
          <a:xfrm>
            <a:off x="3300984"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Kiểm tra, báo giá</a:t>
            </a:r>
          </a:p>
        </p:txBody>
      </p:sp>
      <p:sp>
        <p:nvSpPr>
          <p:cNvPr id="18" name="Oval 17"/>
          <p:cNvSpPr/>
          <p:nvPr/>
        </p:nvSpPr>
        <p:spPr>
          <a:xfrm>
            <a:off x="4745736" y="1920240"/>
            <a:ext cx="1261872" cy="1261872"/>
          </a:xfrm>
          <a:prstGeom prst="ellipse">
            <a:avLst/>
          </a:prstGeom>
          <a:solidFill>
            <a:srgbClr val="DD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45736" y="2286000"/>
            <a:ext cx="1261872" cy="548640"/>
          </a:xfrm>
          <a:prstGeom prst="rect">
            <a:avLst/>
          </a:prstGeom>
          <a:noFill/>
        </p:spPr>
        <p:txBody>
          <a:bodyPr wrap="square" lIns="0" rIns="0" tIns="0" bIns="0" anchor="t">
            <a:spAutoFit/>
          </a:bodyPr>
          <a:lstStyle/>
          <a:p>
            <a:pPr algn="ctr"/>
            <a:r>
              <a:rPr sz="2800" b="1" i="0">
                <a:solidFill>
                  <a:srgbClr val="1B3C35"/>
                </a:solidFill>
                <a:latin typeface="Cambria"/>
              </a:rPr>
              <a:t>4</a:t>
            </a:r>
          </a:p>
        </p:txBody>
      </p:sp>
      <p:sp>
        <p:nvSpPr>
          <p:cNvPr id="20" name="TextBox 19"/>
          <p:cNvSpPr txBox="1"/>
          <p:nvPr/>
        </p:nvSpPr>
        <p:spPr>
          <a:xfrm>
            <a:off x="4700016"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Khách hàng</a:t>
            </a:r>
          </a:p>
        </p:txBody>
      </p:sp>
      <p:sp>
        <p:nvSpPr>
          <p:cNvPr id="21" name="TextBox 20"/>
          <p:cNvSpPr txBox="1"/>
          <p:nvPr/>
        </p:nvSpPr>
        <p:spPr>
          <a:xfrm>
            <a:off x="4700016"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Xác nhận báo giá</a:t>
            </a:r>
          </a:p>
        </p:txBody>
      </p:sp>
      <p:sp>
        <p:nvSpPr>
          <p:cNvPr id="22" name="Oval 21"/>
          <p:cNvSpPr/>
          <p:nvPr/>
        </p:nvSpPr>
        <p:spPr>
          <a:xfrm>
            <a:off x="6144768" y="1920240"/>
            <a:ext cx="1261872" cy="1261872"/>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44768" y="2286000"/>
            <a:ext cx="1261872" cy="548640"/>
          </a:xfrm>
          <a:prstGeom prst="rect">
            <a:avLst/>
          </a:prstGeom>
          <a:noFill/>
        </p:spPr>
        <p:txBody>
          <a:bodyPr wrap="square" lIns="0" rIns="0" tIns="0" bIns="0" anchor="t">
            <a:spAutoFit/>
          </a:bodyPr>
          <a:lstStyle/>
          <a:p>
            <a:pPr algn="ctr"/>
            <a:r>
              <a:rPr sz="2800" b="1" i="0">
                <a:solidFill>
                  <a:srgbClr val="FFFFFF"/>
                </a:solidFill>
                <a:latin typeface="Cambria"/>
              </a:rPr>
              <a:t>5</a:t>
            </a:r>
          </a:p>
        </p:txBody>
      </p:sp>
      <p:sp>
        <p:nvSpPr>
          <p:cNvPr id="24" name="TextBox 23"/>
          <p:cNvSpPr txBox="1"/>
          <p:nvPr/>
        </p:nvSpPr>
        <p:spPr>
          <a:xfrm>
            <a:off x="6099048"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Thủ kho</a:t>
            </a:r>
          </a:p>
        </p:txBody>
      </p:sp>
      <p:sp>
        <p:nvSpPr>
          <p:cNvPr id="25" name="TextBox 24"/>
          <p:cNvSpPr txBox="1"/>
          <p:nvPr/>
        </p:nvSpPr>
        <p:spPr>
          <a:xfrm>
            <a:off x="6099048"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Xuất linh kiện</a:t>
            </a:r>
          </a:p>
        </p:txBody>
      </p:sp>
      <p:sp>
        <p:nvSpPr>
          <p:cNvPr id="26" name="Oval 25"/>
          <p:cNvSpPr/>
          <p:nvPr/>
        </p:nvSpPr>
        <p:spPr>
          <a:xfrm>
            <a:off x="7543800" y="1920240"/>
            <a:ext cx="1261872" cy="1261872"/>
          </a:xfrm>
          <a:prstGeom prst="ellipse">
            <a:avLst/>
          </a:prstGeom>
          <a:solidFill>
            <a:srgbClr val="DD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43800" y="2286000"/>
            <a:ext cx="1261872" cy="548640"/>
          </a:xfrm>
          <a:prstGeom prst="rect">
            <a:avLst/>
          </a:prstGeom>
          <a:noFill/>
        </p:spPr>
        <p:txBody>
          <a:bodyPr wrap="square" lIns="0" rIns="0" tIns="0" bIns="0" anchor="t">
            <a:spAutoFit/>
          </a:bodyPr>
          <a:lstStyle/>
          <a:p>
            <a:pPr algn="ctr"/>
            <a:r>
              <a:rPr sz="2800" b="1" i="0">
                <a:solidFill>
                  <a:srgbClr val="1B3C35"/>
                </a:solidFill>
                <a:latin typeface="Cambria"/>
              </a:rPr>
              <a:t>6</a:t>
            </a:r>
          </a:p>
        </p:txBody>
      </p:sp>
      <p:sp>
        <p:nvSpPr>
          <p:cNvPr id="28" name="TextBox 27"/>
          <p:cNvSpPr txBox="1"/>
          <p:nvPr/>
        </p:nvSpPr>
        <p:spPr>
          <a:xfrm>
            <a:off x="7498079"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Kỹ thuật viên</a:t>
            </a:r>
          </a:p>
        </p:txBody>
      </p:sp>
      <p:sp>
        <p:nvSpPr>
          <p:cNvPr id="29" name="TextBox 28"/>
          <p:cNvSpPr txBox="1"/>
          <p:nvPr/>
        </p:nvSpPr>
        <p:spPr>
          <a:xfrm>
            <a:off x="7498079"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Sửa, QC 6 bước</a:t>
            </a:r>
          </a:p>
        </p:txBody>
      </p:sp>
      <p:sp>
        <p:nvSpPr>
          <p:cNvPr id="30" name="Oval 29"/>
          <p:cNvSpPr/>
          <p:nvPr/>
        </p:nvSpPr>
        <p:spPr>
          <a:xfrm>
            <a:off x="8942832" y="1920240"/>
            <a:ext cx="1261872" cy="1261872"/>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42832" y="2286000"/>
            <a:ext cx="1261872" cy="548640"/>
          </a:xfrm>
          <a:prstGeom prst="rect">
            <a:avLst/>
          </a:prstGeom>
          <a:noFill/>
        </p:spPr>
        <p:txBody>
          <a:bodyPr wrap="square" lIns="0" rIns="0" tIns="0" bIns="0" anchor="t">
            <a:spAutoFit/>
          </a:bodyPr>
          <a:lstStyle/>
          <a:p>
            <a:pPr algn="ctr"/>
            <a:r>
              <a:rPr sz="2800" b="1" i="0">
                <a:solidFill>
                  <a:srgbClr val="FFFFFF"/>
                </a:solidFill>
                <a:latin typeface="Cambria"/>
              </a:rPr>
              <a:t>7</a:t>
            </a:r>
          </a:p>
        </p:txBody>
      </p:sp>
      <p:sp>
        <p:nvSpPr>
          <p:cNvPr id="32" name="TextBox 31"/>
          <p:cNvSpPr txBox="1"/>
          <p:nvPr/>
        </p:nvSpPr>
        <p:spPr>
          <a:xfrm>
            <a:off x="8897111"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Thu ngân</a:t>
            </a:r>
          </a:p>
        </p:txBody>
      </p:sp>
      <p:sp>
        <p:nvSpPr>
          <p:cNvPr id="33" name="TextBox 32"/>
          <p:cNvSpPr txBox="1"/>
          <p:nvPr/>
        </p:nvSpPr>
        <p:spPr>
          <a:xfrm>
            <a:off x="8897111"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Thu tiền</a:t>
            </a:r>
          </a:p>
        </p:txBody>
      </p:sp>
      <p:sp>
        <p:nvSpPr>
          <p:cNvPr id="34" name="Oval 33"/>
          <p:cNvSpPr/>
          <p:nvPr/>
        </p:nvSpPr>
        <p:spPr>
          <a:xfrm>
            <a:off x="10341864" y="1920240"/>
            <a:ext cx="1261872" cy="1261872"/>
          </a:xfrm>
          <a:prstGeom prst="ellipse">
            <a:avLst/>
          </a:prstGeom>
          <a:solidFill>
            <a:srgbClr val="DD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341864" y="2286000"/>
            <a:ext cx="1261872" cy="548640"/>
          </a:xfrm>
          <a:prstGeom prst="rect">
            <a:avLst/>
          </a:prstGeom>
          <a:noFill/>
        </p:spPr>
        <p:txBody>
          <a:bodyPr wrap="square" lIns="0" rIns="0" tIns="0" bIns="0" anchor="t">
            <a:spAutoFit/>
          </a:bodyPr>
          <a:lstStyle/>
          <a:p>
            <a:pPr algn="ctr"/>
            <a:r>
              <a:rPr sz="2800" b="1" i="0">
                <a:solidFill>
                  <a:srgbClr val="1B3C35"/>
                </a:solidFill>
                <a:latin typeface="Cambria"/>
              </a:rPr>
              <a:t>8</a:t>
            </a:r>
          </a:p>
        </p:txBody>
      </p:sp>
      <p:sp>
        <p:nvSpPr>
          <p:cNvPr id="36" name="TextBox 35"/>
          <p:cNvSpPr txBox="1"/>
          <p:nvPr/>
        </p:nvSpPr>
        <p:spPr>
          <a:xfrm>
            <a:off x="10296144" y="3383280"/>
            <a:ext cx="1353312" cy="365760"/>
          </a:xfrm>
          <a:prstGeom prst="rect">
            <a:avLst/>
          </a:prstGeom>
          <a:noFill/>
        </p:spPr>
        <p:txBody>
          <a:bodyPr wrap="square" lIns="0" rIns="0" tIns="0" bIns="0" anchor="t">
            <a:spAutoFit/>
          </a:bodyPr>
          <a:lstStyle/>
          <a:p>
            <a:pPr algn="ctr"/>
            <a:r>
              <a:rPr sz="1400" b="1" i="0">
                <a:solidFill>
                  <a:srgbClr val="1B3C35"/>
                </a:solidFill>
                <a:latin typeface="Calibri"/>
              </a:rPr>
              <a:t>Lễ tân</a:t>
            </a:r>
          </a:p>
        </p:txBody>
      </p:sp>
      <p:sp>
        <p:nvSpPr>
          <p:cNvPr id="37" name="TextBox 36"/>
          <p:cNvSpPr txBox="1"/>
          <p:nvPr/>
        </p:nvSpPr>
        <p:spPr>
          <a:xfrm>
            <a:off x="10296144" y="3749039"/>
            <a:ext cx="1353312" cy="731520"/>
          </a:xfrm>
          <a:prstGeom prst="rect">
            <a:avLst/>
          </a:prstGeom>
          <a:noFill/>
        </p:spPr>
        <p:txBody>
          <a:bodyPr wrap="square" lIns="0" rIns="0" tIns="0" bIns="0" anchor="t">
            <a:spAutoFit/>
          </a:bodyPr>
          <a:lstStyle/>
          <a:p>
            <a:pPr algn="ctr"/>
            <a:r>
              <a:rPr sz="1200" b="0" i="0">
                <a:solidFill>
                  <a:srgbClr val="62716C"/>
                </a:solidFill>
                <a:latin typeface="Calibri"/>
              </a:rPr>
              <a:t>Bàn giao, đánh giá</a:t>
            </a:r>
          </a:p>
        </p:txBody>
      </p:sp>
      <p:sp>
        <p:nvSpPr>
          <p:cNvPr id="38" name="Rounded Rectangle 37"/>
          <p:cNvSpPr/>
          <p:nvPr/>
        </p:nvSpPr>
        <p:spPr>
          <a:xfrm>
            <a:off x="548640" y="4800600"/>
            <a:ext cx="11064240" cy="13258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68680" y="4983480"/>
            <a:ext cx="10424160" cy="1005840"/>
          </a:xfrm>
          <a:prstGeom prst="rect">
            <a:avLst/>
          </a:prstGeom>
          <a:noFill/>
        </p:spPr>
        <p:txBody>
          <a:bodyPr wrap="square" lIns="0" rIns="0" tIns="0" bIns="0" anchor="t">
            <a:spAutoFit/>
          </a:bodyPr>
          <a:lstStyle/>
          <a:p>
            <a:pPr algn="l">
              <a:spcAft>
                <a:spcPts val="400"/>
              </a:spcAft>
            </a:pPr>
            <a:r>
              <a:rPr sz="1600" b="1" i="0">
                <a:solidFill>
                  <a:srgbClr val="1B3C35"/>
                </a:solidFill>
                <a:latin typeface="Calibri"/>
              </a:rPr>
              <a:t>Mỗi bước ghi thêm dữ liệu vào chính hồ sơ phiếu</a:t>
            </a:r>
          </a:p>
          <a:p>
            <a:pPr algn="l">
              <a:spcAft>
                <a:spcPts val="400"/>
              </a:spcAft>
            </a:pPr>
            <a:r>
              <a:rPr sz="1600" b="0" i="0">
                <a:solidFill>
                  <a:srgbClr val="29354A"/>
                </a:solidFill>
                <a:latin typeface="Calibri"/>
              </a:rPr>
              <a:t>Phân công, kết quả kiểm tra, lệnh sửa, các lần QC, bàn giao, lịch sử trạng thái — luôn được đọc cùng nhau. Thiết bị khác loại cần thông tin khác nhau (IMEI, serial, tem niêm phong).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4</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BÀI TOÁN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Vì sao chọn MongoDB cho bài toán này</a:t>
            </a:r>
          </a:p>
        </p:txBody>
      </p:sp>
      <p:sp>
        <p:nvSpPr>
          <p:cNvPr id="6" name="Rounded Rectangle 5"/>
          <p:cNvSpPr/>
          <p:nvPr/>
        </p:nvSpPr>
        <p:spPr>
          <a:xfrm>
            <a:off x="548640" y="1645920"/>
            <a:ext cx="3474720" cy="30175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920240"/>
            <a:ext cx="566928" cy="566928"/>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1</a:t>
            </a:r>
          </a:p>
        </p:txBody>
      </p:sp>
      <p:sp>
        <p:nvSpPr>
          <p:cNvPr id="8" name="TextBox 7"/>
          <p:cNvSpPr txBox="1"/>
          <p:nvPr/>
        </p:nvSpPr>
        <p:spPr>
          <a:xfrm>
            <a:off x="822959" y="2651760"/>
            <a:ext cx="2926079" cy="457200"/>
          </a:xfrm>
          <a:prstGeom prst="rect">
            <a:avLst/>
          </a:prstGeom>
          <a:noFill/>
        </p:spPr>
        <p:txBody>
          <a:bodyPr wrap="square" lIns="0" rIns="0" tIns="0" bIns="0" anchor="t">
            <a:spAutoFit/>
          </a:bodyPr>
          <a:lstStyle/>
          <a:p>
            <a:pPr algn="l"/>
            <a:r>
              <a:rPr sz="1800" b="1" i="0">
                <a:solidFill>
                  <a:srgbClr val="1B3C35"/>
                </a:solidFill>
                <a:latin typeface="Cambria"/>
              </a:rPr>
              <a:t>Một hồ sơ, một lần đọc</a:t>
            </a:r>
          </a:p>
        </p:txBody>
      </p:sp>
      <p:sp>
        <p:nvSpPr>
          <p:cNvPr id="9" name="TextBox 8"/>
          <p:cNvSpPr txBox="1"/>
          <p:nvPr/>
        </p:nvSpPr>
        <p:spPr>
          <a:xfrm>
            <a:off x="822959" y="3154680"/>
            <a:ext cx="2926079" cy="1371599"/>
          </a:xfrm>
          <a:prstGeom prst="rect">
            <a:avLst/>
          </a:prstGeom>
          <a:noFill/>
        </p:spPr>
        <p:txBody>
          <a:bodyPr wrap="square" lIns="0" rIns="0" tIns="0" bIns="0" anchor="t">
            <a:spAutoFit/>
          </a:bodyPr>
          <a:lstStyle/>
          <a:p>
            <a:pPr algn="l">
              <a:spcAft>
                <a:spcPts val="400"/>
              </a:spcAft>
            </a:pPr>
            <a:r>
              <a:rPr sz="1400" b="0" i="0">
                <a:solidFill>
                  <a:srgbClr val="29354A"/>
                </a:solidFill>
                <a:latin typeface="Calibri"/>
              </a:rPr>
              <a:t>Phiếu nhúng phân công, kiểm tra, sửa chữa, QC, bàn giao. Màn hình chi tiết chỉ cần findOne({_id}).</a:t>
            </a:r>
          </a:p>
        </p:txBody>
      </p:sp>
      <p:sp>
        <p:nvSpPr>
          <p:cNvPr id="10" name="Rounded Rectangle 9"/>
          <p:cNvSpPr/>
          <p:nvPr/>
        </p:nvSpPr>
        <p:spPr>
          <a:xfrm>
            <a:off x="4297679" y="1645920"/>
            <a:ext cx="3474720" cy="30175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71999" y="1920240"/>
            <a:ext cx="566928" cy="566928"/>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2</a:t>
            </a:r>
          </a:p>
        </p:txBody>
      </p:sp>
      <p:sp>
        <p:nvSpPr>
          <p:cNvPr id="12" name="TextBox 11"/>
          <p:cNvSpPr txBox="1"/>
          <p:nvPr/>
        </p:nvSpPr>
        <p:spPr>
          <a:xfrm>
            <a:off x="4571999" y="2651760"/>
            <a:ext cx="2926079" cy="457200"/>
          </a:xfrm>
          <a:prstGeom prst="rect">
            <a:avLst/>
          </a:prstGeom>
          <a:noFill/>
        </p:spPr>
        <p:txBody>
          <a:bodyPr wrap="square" lIns="0" rIns="0" tIns="0" bIns="0" anchor="t">
            <a:spAutoFit/>
          </a:bodyPr>
          <a:lstStyle/>
          <a:p>
            <a:pPr algn="l"/>
            <a:r>
              <a:rPr sz="1800" b="1" i="0">
                <a:solidFill>
                  <a:srgbClr val="1B3C35"/>
                </a:solidFill>
                <a:latin typeface="Cambria"/>
              </a:rPr>
              <a:t>Lược đồ linh hoạt</a:t>
            </a:r>
          </a:p>
        </p:txBody>
      </p:sp>
      <p:sp>
        <p:nvSpPr>
          <p:cNvPr id="13" name="TextBox 12"/>
          <p:cNvSpPr txBox="1"/>
          <p:nvPr/>
        </p:nvSpPr>
        <p:spPr>
          <a:xfrm>
            <a:off x="4571999" y="3154680"/>
            <a:ext cx="2926079" cy="1371599"/>
          </a:xfrm>
          <a:prstGeom prst="rect">
            <a:avLst/>
          </a:prstGeom>
          <a:noFill/>
        </p:spPr>
        <p:txBody>
          <a:bodyPr wrap="square" lIns="0" rIns="0" tIns="0" bIns="0" anchor="t">
            <a:spAutoFit/>
          </a:bodyPr>
          <a:lstStyle/>
          <a:p>
            <a:pPr algn="l">
              <a:spcAft>
                <a:spcPts val="400"/>
              </a:spcAft>
            </a:pPr>
            <a:r>
              <a:rPr sz="1400" b="0" i="0">
                <a:solidFill>
                  <a:srgbClr val="29354A"/>
                </a:solidFill>
                <a:latin typeface="Calibri"/>
              </a:rPr>
              <a:t>Trường riêng cho từng loại thiết bị, nhưng $jsonSchema chặn dữ liệu sai kiểu.</a:t>
            </a:r>
          </a:p>
        </p:txBody>
      </p:sp>
      <p:sp>
        <p:nvSpPr>
          <p:cNvPr id="14" name="Rounded Rectangle 13"/>
          <p:cNvSpPr/>
          <p:nvPr/>
        </p:nvSpPr>
        <p:spPr>
          <a:xfrm>
            <a:off x="8046719" y="1645920"/>
            <a:ext cx="3474720" cy="30175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21040" y="1920240"/>
            <a:ext cx="566928" cy="566928"/>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3</a:t>
            </a:r>
          </a:p>
        </p:txBody>
      </p:sp>
      <p:sp>
        <p:nvSpPr>
          <p:cNvPr id="16" name="TextBox 15"/>
          <p:cNvSpPr txBox="1"/>
          <p:nvPr/>
        </p:nvSpPr>
        <p:spPr>
          <a:xfrm>
            <a:off x="8321040" y="2651760"/>
            <a:ext cx="2926079" cy="457200"/>
          </a:xfrm>
          <a:prstGeom prst="rect">
            <a:avLst/>
          </a:prstGeom>
          <a:noFill/>
        </p:spPr>
        <p:txBody>
          <a:bodyPr wrap="square" lIns="0" rIns="0" tIns="0" bIns="0" anchor="t">
            <a:spAutoFit/>
          </a:bodyPr>
          <a:lstStyle/>
          <a:p>
            <a:pPr algn="l"/>
            <a:r>
              <a:rPr sz="1800" b="1" i="0">
                <a:solidFill>
                  <a:srgbClr val="1B3C35"/>
                </a:solidFill>
                <a:latin typeface="Cambria"/>
              </a:rPr>
              <a:t>Báo cáo tại cơ sở dữ liệu</a:t>
            </a:r>
          </a:p>
        </p:txBody>
      </p:sp>
      <p:sp>
        <p:nvSpPr>
          <p:cNvPr id="17" name="TextBox 16"/>
          <p:cNvSpPr txBox="1"/>
          <p:nvPr/>
        </p:nvSpPr>
        <p:spPr>
          <a:xfrm>
            <a:off x="8321040" y="3154680"/>
            <a:ext cx="2926079" cy="1371599"/>
          </a:xfrm>
          <a:prstGeom prst="rect">
            <a:avLst/>
          </a:prstGeom>
          <a:noFill/>
        </p:spPr>
        <p:txBody>
          <a:bodyPr wrap="square" lIns="0" rIns="0" tIns="0" bIns="0" anchor="t">
            <a:spAutoFit/>
          </a:bodyPr>
          <a:lstStyle/>
          <a:p>
            <a:pPr algn="l">
              <a:spcAft>
                <a:spcPts val="400"/>
              </a:spcAft>
            </a:pPr>
            <a:r>
              <a:rPr sz="1400" b="0" i="0">
                <a:solidFill>
                  <a:srgbClr val="29354A"/>
                </a:solidFill>
                <a:latin typeface="Calibri"/>
              </a:rPr>
              <a:t>Aggregation pipeline tính doanh thu, SLA, hiệu suất kỹ thuật viên ngay trên MongoDB.</a:t>
            </a:r>
          </a:p>
        </p:txBody>
      </p:sp>
      <p:sp>
        <p:nvSpPr>
          <p:cNvPr id="18" name="Rounded Rectangle 17"/>
          <p:cNvSpPr/>
          <p:nvPr/>
        </p:nvSpPr>
        <p:spPr>
          <a:xfrm>
            <a:off x="548640" y="4983480"/>
            <a:ext cx="11064240" cy="1143000"/>
          </a:xfrm>
          <a:prstGeom prst="roundRect">
            <a:avLst>
              <a:gd name="adj" fmla="val 8000"/>
            </a:avLst>
          </a:prstGeom>
          <a:solidFill>
            <a:srgbClr val="DD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5138928"/>
            <a:ext cx="10424160" cy="868680"/>
          </a:xfrm>
          <a:prstGeom prst="rect">
            <a:avLst/>
          </a:prstGeom>
          <a:noFill/>
        </p:spPr>
        <p:txBody>
          <a:bodyPr wrap="square" lIns="0" rIns="0" tIns="0" bIns="0" anchor="t">
            <a:spAutoFit/>
          </a:bodyPr>
          <a:lstStyle/>
          <a:p>
            <a:pPr algn="l"/>
            <a:r>
              <a:rPr sz="1700" b="1" i="0">
                <a:solidFill>
                  <a:srgbClr val="1B3C35"/>
                </a:solidFill>
                <a:latin typeface="Calibri"/>
              </a:rPr>
              <a:t>Không hy sinh tính đúng: </a:t>
            </a:r>
            <a:r>
              <a:rPr sz="1700" b="0" i="0">
                <a:solidFill>
                  <a:srgbClr val="29354A"/>
                </a:solidFill>
                <a:latin typeface="Calibri"/>
              </a:rPr>
              <a:t>giao dịch đa document (snapshot + majority) cho tiền và kho, chỉ mục unique/partial cho luật nghiệp vụ.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5</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CÔNG CỤ</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Bộ công cụ: Compass làm trung tâm</a:t>
            </a:r>
          </a:p>
        </p:txBody>
      </p:sp>
      <p:sp>
        <p:nvSpPr>
          <p:cNvPr id="6" name="Rounded Rectangle 5"/>
          <p:cNvSpPr/>
          <p:nvPr/>
        </p:nvSpPr>
        <p:spPr>
          <a:xfrm>
            <a:off x="548640" y="1645920"/>
            <a:ext cx="544068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965960"/>
            <a:ext cx="566928" cy="566928"/>
          </a:xfrm>
          <a:prstGeom prst="ellipse">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C</a:t>
            </a:r>
          </a:p>
        </p:txBody>
      </p:sp>
      <p:sp>
        <p:nvSpPr>
          <p:cNvPr id="8" name="TextBox 7"/>
          <p:cNvSpPr txBox="1"/>
          <p:nvPr/>
        </p:nvSpPr>
        <p:spPr>
          <a:xfrm>
            <a:off x="1600200" y="1965960"/>
            <a:ext cx="4114800" cy="457200"/>
          </a:xfrm>
          <a:prstGeom prst="rect">
            <a:avLst/>
          </a:prstGeom>
          <a:noFill/>
        </p:spPr>
        <p:txBody>
          <a:bodyPr wrap="square" lIns="0" rIns="0" tIns="0" bIns="0" anchor="t">
            <a:spAutoFit/>
          </a:bodyPr>
          <a:lstStyle/>
          <a:p>
            <a:pPr algn="l"/>
            <a:r>
              <a:rPr sz="2000" b="1" i="0">
                <a:solidFill>
                  <a:srgbClr val="1B3C35"/>
                </a:solidFill>
                <a:latin typeface="Cambria"/>
              </a:rPr>
              <a:t>MongoDB Compass</a:t>
            </a:r>
          </a:p>
        </p:txBody>
      </p:sp>
      <p:sp>
        <p:nvSpPr>
          <p:cNvPr id="9" name="TextBox 8"/>
          <p:cNvSpPr txBox="1"/>
          <p:nvPr/>
        </p:nvSpPr>
        <p:spPr>
          <a:xfrm>
            <a:off x="1600200" y="2468880"/>
            <a:ext cx="4114800" cy="1097280"/>
          </a:xfrm>
          <a:prstGeom prst="rect">
            <a:avLst/>
          </a:prstGeom>
          <a:noFill/>
        </p:spPr>
        <p:txBody>
          <a:bodyPr wrap="square" lIns="0" rIns="0" tIns="0" bIns="0" anchor="t">
            <a:spAutoFit/>
          </a:bodyPr>
          <a:lstStyle/>
          <a:p>
            <a:pPr algn="l"/>
            <a:r>
              <a:rPr sz="1500" b="0" i="0">
                <a:solidFill>
                  <a:srgbClr val="29354A"/>
                </a:solidFill>
                <a:latin typeface="Calibri"/>
              </a:rPr>
              <a:t>Duyệt document, dựng aggregation theo stage, Explain Plan, Indexes, Validation, Import/Export</a:t>
            </a:r>
          </a:p>
        </p:txBody>
      </p:sp>
      <p:sp>
        <p:nvSpPr>
          <p:cNvPr id="10" name="Rounded Rectangle 9"/>
          <p:cNvSpPr/>
          <p:nvPr/>
        </p:nvSpPr>
        <p:spPr>
          <a:xfrm>
            <a:off x="6172200" y="1645920"/>
            <a:ext cx="544068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46520" y="1965960"/>
            <a:ext cx="566928" cy="566928"/>
          </a:xfrm>
          <a:prstGeom prst="ellipse">
            <a:avLst/>
          </a:prstGeom>
          <a:solidFill>
            <a:srgbClr val="2935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&gt;</a:t>
            </a:r>
          </a:p>
        </p:txBody>
      </p:sp>
      <p:sp>
        <p:nvSpPr>
          <p:cNvPr id="12" name="TextBox 11"/>
          <p:cNvSpPr txBox="1"/>
          <p:nvPr/>
        </p:nvSpPr>
        <p:spPr>
          <a:xfrm>
            <a:off x="7223760" y="1965960"/>
            <a:ext cx="4114800" cy="457200"/>
          </a:xfrm>
          <a:prstGeom prst="rect">
            <a:avLst/>
          </a:prstGeom>
          <a:noFill/>
        </p:spPr>
        <p:txBody>
          <a:bodyPr wrap="square" lIns="0" rIns="0" tIns="0" bIns="0" anchor="t">
            <a:spAutoFit/>
          </a:bodyPr>
          <a:lstStyle/>
          <a:p>
            <a:pPr algn="l"/>
            <a:r>
              <a:rPr sz="2000" b="1" i="0">
                <a:solidFill>
                  <a:srgbClr val="1B3C35"/>
                </a:solidFill>
                <a:latin typeface="Cambria"/>
              </a:rPr>
              <a:t>mongosh</a:t>
            </a:r>
          </a:p>
        </p:txBody>
      </p:sp>
      <p:sp>
        <p:nvSpPr>
          <p:cNvPr id="13" name="TextBox 12"/>
          <p:cNvSpPr txBox="1"/>
          <p:nvPr/>
        </p:nvSpPr>
        <p:spPr>
          <a:xfrm>
            <a:off x="7223760" y="2468880"/>
            <a:ext cx="4114800" cy="1097280"/>
          </a:xfrm>
          <a:prstGeom prst="rect">
            <a:avLst/>
          </a:prstGeom>
          <a:noFill/>
        </p:spPr>
        <p:txBody>
          <a:bodyPr wrap="square" lIns="0" rIns="0" tIns="0" bIns="0" anchor="t">
            <a:spAutoFit/>
          </a:bodyPr>
          <a:lstStyle/>
          <a:p>
            <a:pPr algn="l"/>
            <a:r>
              <a:rPr sz="1500" b="0" i="0">
                <a:solidFill>
                  <a:srgbClr val="29354A"/>
                </a:solidFill>
                <a:latin typeface="Calibri"/>
              </a:rPr>
              <a:t>Chạy các tệp truy vấn 01–03, khởi tạo replica set rs0, kịch bản nạp dữ liệu</a:t>
            </a:r>
          </a:p>
        </p:txBody>
      </p:sp>
      <p:sp>
        <p:nvSpPr>
          <p:cNvPr id="14" name="Rounded Rectangle 13"/>
          <p:cNvSpPr/>
          <p:nvPr/>
        </p:nvSpPr>
        <p:spPr>
          <a:xfrm>
            <a:off x="548640" y="3931920"/>
            <a:ext cx="544068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59" y="4251959"/>
            <a:ext cx="566928" cy="566928"/>
          </a:xfrm>
          <a:prstGeom prst="ellipse">
            <a:avLst/>
          </a:prstGeom>
          <a:solidFill>
            <a:srgbClr val="2935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T</a:t>
            </a:r>
          </a:p>
        </p:txBody>
      </p:sp>
      <p:sp>
        <p:nvSpPr>
          <p:cNvPr id="16" name="TextBox 15"/>
          <p:cNvSpPr txBox="1"/>
          <p:nvPr/>
        </p:nvSpPr>
        <p:spPr>
          <a:xfrm>
            <a:off x="1600200" y="4251959"/>
            <a:ext cx="4114800" cy="457200"/>
          </a:xfrm>
          <a:prstGeom prst="rect">
            <a:avLst/>
          </a:prstGeom>
          <a:noFill/>
        </p:spPr>
        <p:txBody>
          <a:bodyPr wrap="square" lIns="0" rIns="0" tIns="0" bIns="0" anchor="t">
            <a:spAutoFit/>
          </a:bodyPr>
          <a:lstStyle/>
          <a:p>
            <a:pPr algn="l"/>
            <a:r>
              <a:rPr sz="2000" b="1" i="0">
                <a:solidFill>
                  <a:srgbClr val="1B3C35"/>
                </a:solidFill>
                <a:latin typeface="Cambria"/>
              </a:rPr>
              <a:t>Database Tools 100.19</a:t>
            </a:r>
          </a:p>
        </p:txBody>
      </p:sp>
      <p:sp>
        <p:nvSpPr>
          <p:cNvPr id="17" name="TextBox 16"/>
          <p:cNvSpPr txBox="1"/>
          <p:nvPr/>
        </p:nvSpPr>
        <p:spPr>
          <a:xfrm>
            <a:off x="1600200" y="4754880"/>
            <a:ext cx="4114800" cy="1097280"/>
          </a:xfrm>
          <a:prstGeom prst="rect">
            <a:avLst/>
          </a:prstGeom>
          <a:noFill/>
        </p:spPr>
        <p:txBody>
          <a:bodyPr wrap="square" lIns="0" rIns="0" tIns="0" bIns="0" anchor="t">
            <a:spAutoFit/>
          </a:bodyPr>
          <a:lstStyle/>
          <a:p>
            <a:pPr algn="l"/>
            <a:r>
              <a:rPr sz="1500" b="0" i="0">
                <a:solidFill>
                  <a:srgbClr val="29354A"/>
                </a:solidFill>
                <a:latin typeface="Calibri"/>
              </a:rPr>
              <a:t>mongodump / mongorestore, mongoexport / mongoimport — đặt trong tools/ của dự án</a:t>
            </a:r>
          </a:p>
        </p:txBody>
      </p:sp>
      <p:sp>
        <p:nvSpPr>
          <p:cNvPr id="18" name="Rounded Rectangle 17"/>
          <p:cNvSpPr/>
          <p:nvPr/>
        </p:nvSpPr>
        <p:spPr>
          <a:xfrm>
            <a:off x="6172200" y="3931920"/>
            <a:ext cx="544068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46520" y="4251959"/>
            <a:ext cx="566928" cy="566928"/>
          </a:xfrm>
          <a:prstGeom prst="ellipse">
            <a:avLst/>
          </a:prstGeom>
          <a:solidFill>
            <a:srgbClr val="2935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mbria"/>
              </a:rPr>
              <a:t>D</a:t>
            </a:r>
          </a:p>
        </p:txBody>
      </p:sp>
      <p:sp>
        <p:nvSpPr>
          <p:cNvPr id="20" name="TextBox 19"/>
          <p:cNvSpPr txBox="1"/>
          <p:nvPr/>
        </p:nvSpPr>
        <p:spPr>
          <a:xfrm>
            <a:off x="7223760" y="4251959"/>
            <a:ext cx="4114800" cy="457200"/>
          </a:xfrm>
          <a:prstGeom prst="rect">
            <a:avLst/>
          </a:prstGeom>
          <a:noFill/>
        </p:spPr>
        <p:txBody>
          <a:bodyPr wrap="square" lIns="0" rIns="0" tIns="0" bIns="0" anchor="t">
            <a:spAutoFit/>
          </a:bodyPr>
          <a:lstStyle/>
          <a:p>
            <a:pPr algn="l"/>
            <a:r>
              <a:rPr sz="2000" b="1" i="0">
                <a:solidFill>
                  <a:srgbClr val="1B3C35"/>
                </a:solidFill>
                <a:latin typeface="Cambria"/>
              </a:rPr>
              <a:t>MongoDB.Driver 3.12</a:t>
            </a:r>
          </a:p>
        </p:txBody>
      </p:sp>
      <p:sp>
        <p:nvSpPr>
          <p:cNvPr id="21" name="TextBox 20"/>
          <p:cNvSpPr txBox="1"/>
          <p:nvPr/>
        </p:nvSpPr>
        <p:spPr>
          <a:xfrm>
            <a:off x="7223760" y="4754880"/>
            <a:ext cx="4114800" cy="1097280"/>
          </a:xfrm>
          <a:prstGeom prst="rect">
            <a:avLst/>
          </a:prstGeom>
          <a:noFill/>
        </p:spPr>
        <p:txBody>
          <a:bodyPr wrap="square" lIns="0" rIns="0" tIns="0" bIns="0" anchor="t">
            <a:spAutoFit/>
          </a:bodyPr>
          <a:lstStyle/>
          <a:p>
            <a:pPr algn="l"/>
            <a:r>
              <a:rPr sz="1500" b="0" i="0">
                <a:solidFill>
                  <a:srgbClr val="29354A"/>
                </a:solidFill>
                <a:latin typeface="Calibri"/>
              </a:rPr>
              <a:t>Kết nối ASP.NET Core (.NET 10) với MongoDB, session và transaction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6</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THIẾT KẾ</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Nhúng khi đọc cùng nhau, tham chiếu khi dùng chung</a:t>
            </a:r>
          </a:p>
        </p:txBody>
      </p:sp>
      <p:pic>
        <p:nvPicPr>
          <p:cNvPr id="6" name="Picture 5" descr="fig-document-model.png"/>
          <p:cNvPicPr>
            <a:picLocks noChangeAspect="1"/>
          </p:cNvPicPr>
          <p:nvPr/>
        </p:nvPicPr>
        <p:blipFill>
          <a:blip r:embed="rId2"/>
          <a:stretch>
            <a:fillRect/>
          </a:stretch>
        </p:blipFill>
        <p:spPr>
          <a:xfrm>
            <a:off x="548640" y="1554480"/>
            <a:ext cx="7215188" cy="4617720"/>
          </a:xfrm>
          <a:prstGeom prst="rect">
            <a:avLst/>
          </a:prstGeom>
        </p:spPr>
      </p:pic>
      <p:sp>
        <p:nvSpPr>
          <p:cNvPr id="7" name="Rounded Rectangle 6"/>
          <p:cNvSpPr/>
          <p:nvPr/>
        </p:nvSpPr>
        <p:spPr>
          <a:xfrm>
            <a:off x="7818120" y="1600200"/>
            <a:ext cx="3840480" cy="137160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46720" y="1764792"/>
            <a:ext cx="3474720" cy="365760"/>
          </a:xfrm>
          <a:prstGeom prst="rect">
            <a:avLst/>
          </a:prstGeom>
          <a:noFill/>
        </p:spPr>
        <p:txBody>
          <a:bodyPr wrap="square" lIns="0" rIns="0" tIns="0" bIns="0" anchor="t">
            <a:spAutoFit/>
          </a:bodyPr>
          <a:lstStyle/>
          <a:p>
            <a:pPr algn="l"/>
            <a:r>
              <a:rPr sz="1700" b="1" i="0">
                <a:solidFill>
                  <a:srgbClr val="1B3C35"/>
                </a:solidFill>
                <a:latin typeface="Cambria"/>
              </a:rPr>
              <a:t>Nhúng</a:t>
            </a:r>
          </a:p>
        </p:txBody>
      </p:sp>
      <p:sp>
        <p:nvSpPr>
          <p:cNvPr id="9" name="TextBox 8"/>
          <p:cNvSpPr txBox="1"/>
          <p:nvPr/>
        </p:nvSpPr>
        <p:spPr>
          <a:xfrm>
            <a:off x="8046720" y="2148840"/>
            <a:ext cx="3474720" cy="777240"/>
          </a:xfrm>
          <a:prstGeom prst="rect">
            <a:avLst/>
          </a:prstGeom>
          <a:noFill/>
        </p:spPr>
        <p:txBody>
          <a:bodyPr wrap="square" lIns="0" rIns="0" tIns="0" bIns="0" anchor="t">
            <a:spAutoFit/>
          </a:bodyPr>
          <a:lstStyle/>
          <a:p>
            <a:pPr algn="l"/>
            <a:r>
              <a:rPr sz="1300" b="0" i="0">
                <a:solidFill>
                  <a:srgbClr val="29354A"/>
                </a:solidFill>
                <a:latin typeface="Calibri"/>
              </a:rPr>
              <a:t>Phân công, kiểm tra, lệnh sửa, QC, bàn giao, lịch sử trạng thái; dòng báo giá; tồn theo kệ.</a:t>
            </a:r>
          </a:p>
        </p:txBody>
      </p:sp>
      <p:sp>
        <p:nvSpPr>
          <p:cNvPr id="10" name="Rounded Rectangle 9"/>
          <p:cNvSpPr/>
          <p:nvPr/>
        </p:nvSpPr>
        <p:spPr>
          <a:xfrm>
            <a:off x="7818120" y="3154680"/>
            <a:ext cx="3840480" cy="137160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20" y="3319272"/>
            <a:ext cx="3474720" cy="365760"/>
          </a:xfrm>
          <a:prstGeom prst="rect">
            <a:avLst/>
          </a:prstGeom>
          <a:noFill/>
        </p:spPr>
        <p:txBody>
          <a:bodyPr wrap="square" lIns="0" rIns="0" tIns="0" bIns="0" anchor="t">
            <a:spAutoFit/>
          </a:bodyPr>
          <a:lstStyle/>
          <a:p>
            <a:pPr algn="l"/>
            <a:r>
              <a:rPr sz="1700" b="1" i="0">
                <a:solidFill>
                  <a:srgbClr val="1B3C35"/>
                </a:solidFill>
                <a:latin typeface="Cambria"/>
              </a:rPr>
              <a:t>Tham chiếu + snapshot</a:t>
            </a:r>
          </a:p>
        </p:txBody>
      </p:sp>
      <p:sp>
        <p:nvSpPr>
          <p:cNvPr id="12" name="TextBox 11"/>
          <p:cNvSpPr txBox="1"/>
          <p:nvPr/>
        </p:nvSpPr>
        <p:spPr>
          <a:xfrm>
            <a:off x="8046720" y="3703320"/>
            <a:ext cx="3474720" cy="777240"/>
          </a:xfrm>
          <a:prstGeom prst="rect">
            <a:avLst/>
          </a:prstGeom>
          <a:noFill/>
        </p:spPr>
        <p:txBody>
          <a:bodyPr wrap="square" lIns="0" rIns="0" tIns="0" bIns="0" anchor="t">
            <a:spAutoFit/>
          </a:bodyPr>
          <a:lstStyle/>
          <a:p>
            <a:pPr algn="l"/>
            <a:r>
              <a:rPr sz="1300" b="0" i="0">
                <a:solidFill>
                  <a:srgbClr val="29354A"/>
                </a:solidFill>
                <a:latin typeface="Calibri"/>
              </a:rPr>
              <a:t>Khách hàng, thiết bị: mã + bản chụp họ tên, sản phẩm lúc lập phiếu.</a:t>
            </a:r>
          </a:p>
        </p:txBody>
      </p:sp>
      <p:sp>
        <p:nvSpPr>
          <p:cNvPr id="13" name="Rounded Rectangle 12"/>
          <p:cNvSpPr/>
          <p:nvPr/>
        </p:nvSpPr>
        <p:spPr>
          <a:xfrm>
            <a:off x="7818120" y="4709160"/>
            <a:ext cx="3840480" cy="137160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4873752"/>
            <a:ext cx="3474720" cy="365760"/>
          </a:xfrm>
          <a:prstGeom prst="rect">
            <a:avLst/>
          </a:prstGeom>
          <a:noFill/>
        </p:spPr>
        <p:txBody>
          <a:bodyPr wrap="square" lIns="0" rIns="0" tIns="0" bIns="0" anchor="t">
            <a:spAutoFit/>
          </a:bodyPr>
          <a:lstStyle/>
          <a:p>
            <a:pPr algn="l"/>
            <a:r>
              <a:rPr sz="1700" b="1" i="0">
                <a:solidFill>
                  <a:srgbClr val="1B3C35"/>
                </a:solidFill>
                <a:latin typeface="Cambria"/>
              </a:rPr>
              <a:t>Collection riêng</a:t>
            </a:r>
          </a:p>
        </p:txBody>
      </p:sp>
      <p:sp>
        <p:nvSpPr>
          <p:cNvPr id="15" name="TextBox 14"/>
          <p:cNvSpPr txBox="1"/>
          <p:nvPr/>
        </p:nvSpPr>
        <p:spPr>
          <a:xfrm>
            <a:off x="8046720" y="5257800"/>
            <a:ext cx="3474720" cy="777240"/>
          </a:xfrm>
          <a:prstGeom prst="rect">
            <a:avLst/>
          </a:prstGeom>
          <a:noFill/>
        </p:spPr>
        <p:txBody>
          <a:bodyPr wrap="square" lIns="0" rIns="0" tIns="0" bIns="0" anchor="t">
            <a:spAutoFit/>
          </a:bodyPr>
          <a:lstStyle/>
          <a:p>
            <a:pPr algn="l"/>
            <a:r>
              <a:rPr sz="1300" b="0" i="0">
                <a:solidFill>
                  <a:srgbClr val="29354A"/>
                </a:solidFill>
                <a:latin typeface="Calibri"/>
              </a:rPr>
              <a:t>Báo giá, phiếu thu, nhật ký, thông báo — vòng đời riêng hoặc tăng không giới hạn.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7</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THIẾT KẾ</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Document thật: phiếu TN-2026-1010-00003</a:t>
            </a:r>
          </a:p>
        </p:txBody>
      </p:sp>
      <p:sp>
        <p:nvSpPr>
          <p:cNvPr id="6" name="Rounded Rectangle 5"/>
          <p:cNvSpPr/>
          <p:nvPr/>
        </p:nvSpPr>
        <p:spPr>
          <a:xfrm>
            <a:off x="548640" y="1554480"/>
            <a:ext cx="6766560" cy="4617720"/>
          </a:xfrm>
          <a:prstGeom prst="roundRect">
            <a:avLst>
              <a:gd name="adj" fmla="val 4000"/>
            </a:avLst>
          </a:prstGeom>
          <a:solidFill>
            <a:srgbClr val="1B3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6309360" cy="4251959"/>
          </a:xfrm>
          <a:prstGeom prst="rect">
            <a:avLst/>
          </a:prstGeom>
          <a:noFill/>
        </p:spPr>
        <p:txBody>
          <a:bodyPr wrap="square" lIns="0" rIns="0" tIns="0" bIns="0" anchor="t">
            <a:spAutoFit/>
          </a:bodyPr>
          <a:lstStyle/>
          <a:p>
            <a:pPr algn="l"/>
            <a:r>
              <a:rPr sz="1400" b="0" i="0">
                <a:solidFill>
                  <a:srgbClr val="E8F2EC"/>
                </a:solidFill>
                <a:latin typeface="Consolas"/>
              </a:rPr>
              <a:t>{ _id: "TN-2026-1010-00003", status: "DELIVERED", open: false,</a:t>
            </a:r>
          </a:p>
          <a:p>
            <a:pPr algn="l"/>
            <a:r>
              <a:rPr sz="1400" b="0" i="0">
                <a:solidFill>
                  <a:srgbClr val="E8F2EC"/>
                </a:solidFill>
                <a:latin typeface="Consolas"/>
              </a:rPr>
              <a:t>  customerId: "KH-000044",</a:t>
            </a:r>
          </a:p>
          <a:p>
            <a:pPr algn="l"/>
            <a:r>
              <a:rPr sz="1400" b="0" i="0">
                <a:solidFill>
                  <a:srgbClr val="E8F2EC"/>
                </a:solidFill>
                <a:latin typeface="Consolas"/>
              </a:rPr>
              <a:t>  customerSnapshot: { fullName: "Hồ Đức Dũng" },</a:t>
            </a:r>
          </a:p>
          <a:p>
            <a:pPr algn="l"/>
            <a:r>
              <a:rPr sz="1400" b="0" i="0">
                <a:solidFill>
                  <a:srgbClr val="E8F2EC"/>
                </a:solidFill>
                <a:latin typeface="Consolas"/>
              </a:rPr>
              <a:t>  deviceSnapshot: { productName: "Galaxy Tab S9 FE" },</a:t>
            </a:r>
          </a:p>
          <a:p>
            <a:pPr algn="l"/>
            <a:r>
              <a:rPr sz="1400" b="0" i="0">
                <a:solidFill>
                  <a:srgbClr val="E8F2EC"/>
                </a:solidFill>
                <a:latin typeface="Consolas"/>
              </a:rPr>
              <a:t>  sla: { level: "STANDARD_48H", dueAt: ISODate(…) },</a:t>
            </a:r>
          </a:p>
          <a:p>
            <a:pPr algn="l"/>
            <a:r>
              <a:rPr sz="1400" b="0" i="0">
                <a:solidFill>
                  <a:srgbClr val="E8F2EC"/>
                </a:solidFill>
                <a:latin typeface="Consolas"/>
              </a:rPr>
              <a:t>  assignment: { technicianId: "NV-009" },</a:t>
            </a:r>
          </a:p>
          <a:p>
            <a:pPr algn="l"/>
            <a:r>
              <a:rPr sz="1400" b="0" i="0">
                <a:solidFill>
                  <a:srgbClr val="E8F2EC"/>
                </a:solidFill>
                <a:latin typeface="Consolas"/>
              </a:rPr>
              <a:t>  inspection: { classification: "OUT_OF_WARRANTY",</a:t>
            </a:r>
          </a:p>
          <a:p>
            <a:pPr algn="l"/>
            <a:r>
              <a:rPr sz="1400" b="0" i="0">
                <a:solidFill>
                  <a:srgbClr val="E8F2EC"/>
                </a:solidFill>
                <a:latin typeface="Consolas"/>
              </a:rPr>
              <a:t>                checklist: [ … ] },</a:t>
            </a:r>
          </a:p>
          <a:p>
            <a:pPr algn="l"/>
            <a:r>
              <a:rPr sz="1400" b="0" i="0">
                <a:solidFill>
                  <a:srgbClr val="E8F2EC"/>
                </a:solidFill>
                <a:latin typeface="Consolas"/>
              </a:rPr>
              <a:t>  activeQuotationId: "BG-2026-1012-00002",</a:t>
            </a:r>
          </a:p>
          <a:p>
            <a:pPr algn="l"/>
            <a:r>
              <a:rPr sz="1400" b="0" i="0">
                <a:solidFill>
                  <a:srgbClr val="E8F2EC"/>
                </a:solidFill>
                <a:latin typeface="Consolas"/>
              </a:rPr>
              <a:t>  repairOrder: { results: [</a:t>
            </a:r>
          </a:p>
          <a:p>
            <a:pPr algn="l"/>
            <a:r>
              <a:rPr sz="1400" b="0" i="0">
                <a:solidFill>
                  <a:srgbClr val="E8F2EC"/>
                </a:solidFill>
                <a:latin typeface="Consolas"/>
              </a:rPr>
              <a:t>      { code: "KQ-2026-00175", qcResult: "FAIL" },</a:t>
            </a:r>
          </a:p>
          <a:p>
            <a:pPr algn="l"/>
            <a:r>
              <a:rPr sz="1400" b="0" i="0">
                <a:solidFill>
                  <a:srgbClr val="E8F2EC"/>
                </a:solidFill>
                <a:latin typeface="Consolas"/>
              </a:rPr>
              <a:t>      { code: "KQ-2026-00176", qcResult: "PASS" } ] },</a:t>
            </a:r>
          </a:p>
          <a:p>
            <a:pPr algn="l"/>
            <a:r>
              <a:rPr sz="1400" b="0" i="0">
                <a:solidFill>
                  <a:srgbClr val="E8F2EC"/>
                </a:solidFill>
                <a:latin typeface="Consolas"/>
              </a:rPr>
              <a:t>  handover: { rating: …, handedOverAt: ISODate(…) },</a:t>
            </a:r>
          </a:p>
          <a:p>
            <a:pPr algn="l"/>
            <a:r>
              <a:rPr sz="1400" b="0" i="0">
                <a:solidFill>
                  <a:srgbClr val="E8F2EC"/>
                </a:solidFill>
                <a:latin typeface="Consolas"/>
              </a:rPr>
              <a:t>  statusHistory: [ … ], version: … }</a:t>
            </a:r>
          </a:p>
        </p:txBody>
      </p:sp>
      <p:sp>
        <p:nvSpPr>
          <p:cNvPr id="8" name="Oval 7"/>
          <p:cNvSpPr/>
          <p:nvPr/>
        </p:nvSpPr>
        <p:spPr>
          <a:xfrm>
            <a:off x="7635240" y="1600200"/>
            <a:ext cx="457200" cy="457200"/>
          </a:xfrm>
          <a:prstGeom prst="ellipse">
            <a:avLst/>
          </a:prstGeom>
          <a:solidFill>
            <a:srgbClr val="EFB9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1B3C35"/>
                </a:solidFill>
                <a:latin typeface="Cambria"/>
              </a:rPr>
              <a:t>1</a:t>
            </a:r>
          </a:p>
        </p:txBody>
      </p:sp>
      <p:sp>
        <p:nvSpPr>
          <p:cNvPr id="9" name="TextBox 8"/>
          <p:cNvSpPr txBox="1"/>
          <p:nvPr/>
        </p:nvSpPr>
        <p:spPr>
          <a:xfrm>
            <a:off x="8275320" y="1581912"/>
            <a:ext cx="3383280" cy="365760"/>
          </a:xfrm>
          <a:prstGeom prst="rect">
            <a:avLst/>
          </a:prstGeom>
          <a:noFill/>
        </p:spPr>
        <p:txBody>
          <a:bodyPr wrap="square" lIns="0" rIns="0" tIns="0" bIns="0" anchor="t">
            <a:spAutoFit/>
          </a:bodyPr>
          <a:lstStyle/>
          <a:p>
            <a:pPr algn="l"/>
            <a:r>
              <a:rPr sz="1600" b="1" i="0">
                <a:solidFill>
                  <a:srgbClr val="1B3C35"/>
                </a:solidFill>
                <a:latin typeface="Calibri"/>
              </a:rPr>
              <a:t>Mã nghiệp vụ làm _id</a:t>
            </a:r>
          </a:p>
        </p:txBody>
      </p:sp>
      <p:sp>
        <p:nvSpPr>
          <p:cNvPr id="10" name="TextBox 9"/>
          <p:cNvSpPr txBox="1"/>
          <p:nvPr/>
        </p:nvSpPr>
        <p:spPr>
          <a:xfrm>
            <a:off x="8275320" y="1965960"/>
            <a:ext cx="3383280" cy="640080"/>
          </a:xfrm>
          <a:prstGeom prst="rect">
            <a:avLst/>
          </a:prstGeom>
          <a:noFill/>
        </p:spPr>
        <p:txBody>
          <a:bodyPr wrap="square" lIns="0" rIns="0" tIns="0" bIns="0" anchor="t">
            <a:spAutoFit/>
          </a:bodyPr>
          <a:lstStyle/>
          <a:p>
            <a:pPr algn="l"/>
            <a:r>
              <a:rPr sz="1300" b="0" i="0">
                <a:solidFill>
                  <a:srgbClr val="29354A"/>
                </a:solidFill>
                <a:latin typeface="Calibri"/>
              </a:rPr>
              <a:t>TN-, KH-, BG-, PT-… sinh bằng $inc trên counters</a:t>
            </a:r>
          </a:p>
        </p:txBody>
      </p:sp>
      <p:sp>
        <p:nvSpPr>
          <p:cNvPr id="11" name="Oval 10"/>
          <p:cNvSpPr/>
          <p:nvPr/>
        </p:nvSpPr>
        <p:spPr>
          <a:xfrm>
            <a:off x="7635240" y="2761488"/>
            <a:ext cx="457200" cy="457200"/>
          </a:xfrm>
          <a:prstGeom prst="ellipse">
            <a:avLst/>
          </a:prstGeom>
          <a:solidFill>
            <a:srgbClr val="EFB9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1B3C35"/>
                </a:solidFill>
                <a:latin typeface="Cambria"/>
              </a:rPr>
              <a:t>2</a:t>
            </a:r>
          </a:p>
        </p:txBody>
      </p:sp>
      <p:sp>
        <p:nvSpPr>
          <p:cNvPr id="12" name="TextBox 11"/>
          <p:cNvSpPr txBox="1"/>
          <p:nvPr/>
        </p:nvSpPr>
        <p:spPr>
          <a:xfrm>
            <a:off x="8275320" y="2743200"/>
            <a:ext cx="3383280" cy="365760"/>
          </a:xfrm>
          <a:prstGeom prst="rect">
            <a:avLst/>
          </a:prstGeom>
          <a:noFill/>
        </p:spPr>
        <p:txBody>
          <a:bodyPr wrap="square" lIns="0" rIns="0" tIns="0" bIns="0" anchor="t">
            <a:spAutoFit/>
          </a:bodyPr>
          <a:lstStyle/>
          <a:p>
            <a:pPr algn="l"/>
            <a:r>
              <a:rPr sz="1600" b="1" i="0">
                <a:solidFill>
                  <a:srgbClr val="1B3C35"/>
                </a:solidFill>
                <a:latin typeface="Calibri"/>
              </a:rPr>
              <a:t>Snapshot</a:t>
            </a:r>
          </a:p>
        </p:txBody>
      </p:sp>
      <p:sp>
        <p:nvSpPr>
          <p:cNvPr id="13" name="TextBox 12"/>
          <p:cNvSpPr txBox="1"/>
          <p:nvPr/>
        </p:nvSpPr>
        <p:spPr>
          <a:xfrm>
            <a:off x="8275320" y="3127248"/>
            <a:ext cx="3383280" cy="640080"/>
          </a:xfrm>
          <a:prstGeom prst="rect">
            <a:avLst/>
          </a:prstGeom>
          <a:noFill/>
        </p:spPr>
        <p:txBody>
          <a:bodyPr wrap="square" lIns="0" rIns="0" tIns="0" bIns="0" anchor="t">
            <a:spAutoFit/>
          </a:bodyPr>
          <a:lstStyle/>
          <a:p>
            <a:pPr algn="l"/>
            <a:r>
              <a:rPr sz="1300" b="0" i="0">
                <a:solidFill>
                  <a:srgbClr val="29354A"/>
                </a:solidFill>
                <a:latin typeface="Calibri"/>
              </a:rPr>
              <a:t>Khách đổi SĐT sau này, phiếu cũ vẫn đúng</a:t>
            </a:r>
          </a:p>
        </p:txBody>
      </p:sp>
      <p:sp>
        <p:nvSpPr>
          <p:cNvPr id="14" name="Oval 13"/>
          <p:cNvSpPr/>
          <p:nvPr/>
        </p:nvSpPr>
        <p:spPr>
          <a:xfrm>
            <a:off x="7635240" y="3922776"/>
            <a:ext cx="457200" cy="457200"/>
          </a:xfrm>
          <a:prstGeom prst="ellipse">
            <a:avLst/>
          </a:prstGeom>
          <a:solidFill>
            <a:srgbClr val="EFB9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1B3C35"/>
                </a:solidFill>
                <a:latin typeface="Cambria"/>
              </a:rPr>
              <a:t>3</a:t>
            </a:r>
          </a:p>
        </p:txBody>
      </p:sp>
      <p:sp>
        <p:nvSpPr>
          <p:cNvPr id="15" name="TextBox 14"/>
          <p:cNvSpPr txBox="1"/>
          <p:nvPr/>
        </p:nvSpPr>
        <p:spPr>
          <a:xfrm>
            <a:off x="8275320" y="3904488"/>
            <a:ext cx="3383280" cy="365760"/>
          </a:xfrm>
          <a:prstGeom prst="rect">
            <a:avLst/>
          </a:prstGeom>
          <a:noFill/>
        </p:spPr>
        <p:txBody>
          <a:bodyPr wrap="square" lIns="0" rIns="0" tIns="0" bIns="0" anchor="t">
            <a:spAutoFit/>
          </a:bodyPr>
          <a:lstStyle/>
          <a:p>
            <a:pPr algn="l"/>
            <a:r>
              <a:rPr sz="1600" b="1" i="0">
                <a:solidFill>
                  <a:srgbClr val="1B3C35"/>
                </a:solidFill>
                <a:latin typeface="Calibri"/>
              </a:rPr>
              <a:t>QC lần 1 không đạt</a:t>
            </a:r>
          </a:p>
        </p:txBody>
      </p:sp>
      <p:sp>
        <p:nvSpPr>
          <p:cNvPr id="16" name="TextBox 15"/>
          <p:cNvSpPr txBox="1"/>
          <p:nvPr/>
        </p:nvSpPr>
        <p:spPr>
          <a:xfrm>
            <a:off x="8275320" y="4288536"/>
            <a:ext cx="3383280" cy="640080"/>
          </a:xfrm>
          <a:prstGeom prst="rect">
            <a:avLst/>
          </a:prstGeom>
          <a:noFill/>
        </p:spPr>
        <p:txBody>
          <a:bodyPr wrap="square" lIns="0" rIns="0" tIns="0" bIns="0" anchor="t">
            <a:spAutoFit/>
          </a:bodyPr>
          <a:lstStyle/>
          <a:p>
            <a:pPr algn="l"/>
            <a:r>
              <a:rPr sz="1300" b="0" i="0">
                <a:solidFill>
                  <a:srgbClr val="29354A"/>
                </a:solidFill>
                <a:latin typeface="Calibri"/>
              </a:rPr>
              <a:t>Mảng kết quả giữ đủ lịch sử sửa lại</a:t>
            </a:r>
          </a:p>
        </p:txBody>
      </p:sp>
      <p:sp>
        <p:nvSpPr>
          <p:cNvPr id="17" name="Oval 16"/>
          <p:cNvSpPr/>
          <p:nvPr/>
        </p:nvSpPr>
        <p:spPr>
          <a:xfrm>
            <a:off x="7635240" y="5084064"/>
            <a:ext cx="457200" cy="457200"/>
          </a:xfrm>
          <a:prstGeom prst="ellipse">
            <a:avLst/>
          </a:prstGeom>
          <a:solidFill>
            <a:srgbClr val="EFB9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1B3C35"/>
                </a:solidFill>
                <a:latin typeface="Cambria"/>
              </a:rPr>
              <a:t>4</a:t>
            </a:r>
          </a:p>
        </p:txBody>
      </p:sp>
      <p:sp>
        <p:nvSpPr>
          <p:cNvPr id="18" name="TextBox 17"/>
          <p:cNvSpPr txBox="1"/>
          <p:nvPr/>
        </p:nvSpPr>
        <p:spPr>
          <a:xfrm>
            <a:off x="8275320" y="5065776"/>
            <a:ext cx="3383280" cy="365760"/>
          </a:xfrm>
          <a:prstGeom prst="rect">
            <a:avLst/>
          </a:prstGeom>
          <a:noFill/>
        </p:spPr>
        <p:txBody>
          <a:bodyPr wrap="square" lIns="0" rIns="0" tIns="0" bIns="0" anchor="t">
            <a:spAutoFit/>
          </a:bodyPr>
          <a:lstStyle/>
          <a:p>
            <a:pPr algn="l"/>
            <a:r>
              <a:rPr sz="1600" b="1" i="0">
                <a:solidFill>
                  <a:srgbClr val="1B3C35"/>
                </a:solidFill>
                <a:latin typeface="Calibri"/>
              </a:rPr>
              <a:t>version</a:t>
            </a:r>
          </a:p>
        </p:txBody>
      </p:sp>
      <p:sp>
        <p:nvSpPr>
          <p:cNvPr id="19" name="TextBox 18"/>
          <p:cNvSpPr txBox="1"/>
          <p:nvPr/>
        </p:nvSpPr>
        <p:spPr>
          <a:xfrm>
            <a:off x="8275320" y="5449824"/>
            <a:ext cx="3383280" cy="640080"/>
          </a:xfrm>
          <a:prstGeom prst="rect">
            <a:avLst/>
          </a:prstGeom>
          <a:noFill/>
        </p:spPr>
        <p:txBody>
          <a:bodyPr wrap="square" lIns="0" rIns="0" tIns="0" bIns="0" anchor="t">
            <a:spAutoFit/>
          </a:bodyPr>
          <a:lstStyle/>
          <a:p>
            <a:pPr algn="l"/>
            <a:r>
              <a:rPr sz="1300" b="0" i="0">
                <a:solidFill>
                  <a:srgbClr val="29354A"/>
                </a:solidFill>
                <a:latin typeface="Calibri"/>
              </a:rPr>
              <a:t>Phát hiện hai người cùng sửa một phiếu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8</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THIẾT KẾ</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Cơ sở dữ liệu sau 6 tháng vận hành demo</a:t>
            </a:r>
          </a:p>
        </p:txBody>
      </p:sp>
      <p:sp>
        <p:nvSpPr>
          <p:cNvPr id="6" name="Rounded Rectangle 5"/>
          <p:cNvSpPr/>
          <p:nvPr/>
        </p:nvSpPr>
        <p:spPr>
          <a:xfrm>
            <a:off x="548640" y="1691640"/>
            <a:ext cx="2606040" cy="1920240"/>
          </a:xfrm>
          <a:prstGeom prst="roundRect">
            <a:avLst>
              <a:gd name="adj" fmla="val 8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74519"/>
            <a:ext cx="2606040" cy="1005840"/>
          </a:xfrm>
          <a:prstGeom prst="rect">
            <a:avLst/>
          </a:prstGeom>
          <a:noFill/>
        </p:spPr>
        <p:txBody>
          <a:bodyPr wrap="square" lIns="0" rIns="0" tIns="0" bIns="0" anchor="t">
            <a:spAutoFit/>
          </a:bodyPr>
          <a:lstStyle/>
          <a:p>
            <a:pPr algn="ctr"/>
            <a:r>
              <a:rPr sz="5400" b="1" i="0">
                <a:solidFill>
                  <a:srgbClr val="FFFFFF"/>
                </a:solidFill>
                <a:latin typeface="Cambria"/>
              </a:rPr>
              <a:t>4.538</a:t>
            </a:r>
          </a:p>
        </p:txBody>
      </p:sp>
      <p:sp>
        <p:nvSpPr>
          <p:cNvPr id="8" name="TextBox 7"/>
          <p:cNvSpPr txBox="1"/>
          <p:nvPr/>
        </p:nvSpPr>
        <p:spPr>
          <a:xfrm>
            <a:off x="548640" y="2926080"/>
            <a:ext cx="2606040" cy="457200"/>
          </a:xfrm>
          <a:prstGeom prst="rect">
            <a:avLst/>
          </a:prstGeom>
          <a:noFill/>
        </p:spPr>
        <p:txBody>
          <a:bodyPr wrap="square" lIns="0" rIns="0" tIns="0" bIns="0" anchor="t">
            <a:spAutoFit/>
          </a:bodyPr>
          <a:lstStyle/>
          <a:p>
            <a:pPr algn="ctr"/>
            <a:r>
              <a:rPr sz="1600" b="0" i="0">
                <a:solidFill>
                  <a:srgbClr val="DDEFE4"/>
                </a:solidFill>
                <a:latin typeface="Calibri"/>
              </a:rPr>
              <a:t>document</a:t>
            </a:r>
          </a:p>
        </p:txBody>
      </p:sp>
      <p:sp>
        <p:nvSpPr>
          <p:cNvPr id="9" name="Rounded Rectangle 8"/>
          <p:cNvSpPr/>
          <p:nvPr/>
        </p:nvSpPr>
        <p:spPr>
          <a:xfrm>
            <a:off x="3364992" y="1691640"/>
            <a:ext cx="260604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64992" y="1874519"/>
            <a:ext cx="2606040" cy="1005840"/>
          </a:xfrm>
          <a:prstGeom prst="rect">
            <a:avLst/>
          </a:prstGeom>
          <a:noFill/>
        </p:spPr>
        <p:txBody>
          <a:bodyPr wrap="square" lIns="0" rIns="0" tIns="0" bIns="0" anchor="t">
            <a:spAutoFit/>
          </a:bodyPr>
          <a:lstStyle/>
          <a:p>
            <a:pPr algn="ctr"/>
            <a:r>
              <a:rPr sz="5400" b="1" i="0">
                <a:solidFill>
                  <a:srgbClr val="1B3C35"/>
                </a:solidFill>
                <a:latin typeface="Cambria"/>
              </a:rPr>
              <a:t>26</a:t>
            </a:r>
          </a:p>
        </p:txBody>
      </p:sp>
      <p:sp>
        <p:nvSpPr>
          <p:cNvPr id="11" name="TextBox 10"/>
          <p:cNvSpPr txBox="1"/>
          <p:nvPr/>
        </p:nvSpPr>
        <p:spPr>
          <a:xfrm>
            <a:off x="3364992" y="2926080"/>
            <a:ext cx="2606040" cy="457200"/>
          </a:xfrm>
          <a:prstGeom prst="rect">
            <a:avLst/>
          </a:prstGeom>
          <a:noFill/>
        </p:spPr>
        <p:txBody>
          <a:bodyPr wrap="square" lIns="0" rIns="0" tIns="0" bIns="0" anchor="t">
            <a:spAutoFit/>
          </a:bodyPr>
          <a:lstStyle/>
          <a:p>
            <a:pPr algn="ctr"/>
            <a:r>
              <a:rPr sz="1600" b="0" i="0">
                <a:solidFill>
                  <a:srgbClr val="62716C"/>
                </a:solidFill>
                <a:latin typeface="Calibri"/>
              </a:rPr>
              <a:t>collection</a:t>
            </a:r>
          </a:p>
        </p:txBody>
      </p:sp>
      <p:sp>
        <p:nvSpPr>
          <p:cNvPr id="12" name="Rounded Rectangle 11"/>
          <p:cNvSpPr/>
          <p:nvPr/>
        </p:nvSpPr>
        <p:spPr>
          <a:xfrm>
            <a:off x="6181344" y="1691640"/>
            <a:ext cx="260604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81344" y="1874519"/>
            <a:ext cx="2606040" cy="1005840"/>
          </a:xfrm>
          <a:prstGeom prst="rect">
            <a:avLst/>
          </a:prstGeom>
          <a:noFill/>
        </p:spPr>
        <p:txBody>
          <a:bodyPr wrap="square" lIns="0" rIns="0" tIns="0" bIns="0" anchor="t">
            <a:spAutoFit/>
          </a:bodyPr>
          <a:lstStyle/>
          <a:p>
            <a:pPr algn="ctr"/>
            <a:r>
              <a:rPr sz="5400" b="1" i="0">
                <a:solidFill>
                  <a:srgbClr val="1B3C35"/>
                </a:solidFill>
                <a:latin typeface="Cambria"/>
              </a:rPr>
              <a:t>28</a:t>
            </a:r>
          </a:p>
        </p:txBody>
      </p:sp>
      <p:sp>
        <p:nvSpPr>
          <p:cNvPr id="14" name="TextBox 13"/>
          <p:cNvSpPr txBox="1"/>
          <p:nvPr/>
        </p:nvSpPr>
        <p:spPr>
          <a:xfrm>
            <a:off x="6181344" y="2926080"/>
            <a:ext cx="2606040" cy="457200"/>
          </a:xfrm>
          <a:prstGeom prst="rect">
            <a:avLst/>
          </a:prstGeom>
          <a:noFill/>
        </p:spPr>
        <p:txBody>
          <a:bodyPr wrap="square" lIns="0" rIns="0" tIns="0" bIns="0" anchor="t">
            <a:spAutoFit/>
          </a:bodyPr>
          <a:lstStyle/>
          <a:p>
            <a:pPr algn="ctr"/>
            <a:r>
              <a:rPr sz="1600" b="0" i="0">
                <a:solidFill>
                  <a:srgbClr val="62716C"/>
                </a:solidFill>
                <a:latin typeface="Calibri"/>
              </a:rPr>
              <a:t>chỉ mục phụ</a:t>
            </a:r>
          </a:p>
        </p:txBody>
      </p:sp>
      <p:sp>
        <p:nvSpPr>
          <p:cNvPr id="15" name="Rounded Rectangle 14"/>
          <p:cNvSpPr/>
          <p:nvPr/>
        </p:nvSpPr>
        <p:spPr>
          <a:xfrm>
            <a:off x="8997696" y="1691640"/>
            <a:ext cx="2606040" cy="1920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97696" y="1874519"/>
            <a:ext cx="2606040" cy="1005840"/>
          </a:xfrm>
          <a:prstGeom prst="rect">
            <a:avLst/>
          </a:prstGeom>
          <a:noFill/>
        </p:spPr>
        <p:txBody>
          <a:bodyPr wrap="square" lIns="0" rIns="0" tIns="0" bIns="0" anchor="t">
            <a:spAutoFit/>
          </a:bodyPr>
          <a:lstStyle/>
          <a:p>
            <a:pPr algn="ctr"/>
            <a:r>
              <a:rPr sz="5400" b="1" i="0">
                <a:solidFill>
                  <a:srgbClr val="1B3C35"/>
                </a:solidFill>
                <a:latin typeface="Cambria"/>
              </a:rPr>
              <a:t>7</a:t>
            </a:r>
          </a:p>
        </p:txBody>
      </p:sp>
      <p:sp>
        <p:nvSpPr>
          <p:cNvPr id="17" name="TextBox 16"/>
          <p:cNvSpPr txBox="1"/>
          <p:nvPr/>
        </p:nvSpPr>
        <p:spPr>
          <a:xfrm>
            <a:off x="8997696" y="2926080"/>
            <a:ext cx="2606040" cy="457200"/>
          </a:xfrm>
          <a:prstGeom prst="rect">
            <a:avLst/>
          </a:prstGeom>
          <a:noFill/>
        </p:spPr>
        <p:txBody>
          <a:bodyPr wrap="square" lIns="0" rIns="0" tIns="0" bIns="0" anchor="t">
            <a:spAutoFit/>
          </a:bodyPr>
          <a:lstStyle/>
          <a:p>
            <a:pPr algn="ctr"/>
            <a:r>
              <a:rPr sz="1600" b="0" i="0">
                <a:solidFill>
                  <a:srgbClr val="62716C"/>
                </a:solidFill>
                <a:latin typeface="Calibri"/>
              </a:rPr>
              <a:t>validator $jsonSchema</a:t>
            </a:r>
          </a:p>
        </p:txBody>
      </p:sp>
      <p:graphicFrame>
        <p:nvGraphicFramePr>
          <p:cNvPr id="18" name="Chart 17"/>
          <p:cNvGraphicFramePr>
            <a:graphicFrameLocks noGrp="1"/>
          </p:cNvGraphicFramePr>
          <p:nvPr/>
        </p:nvGraphicFramePr>
        <p:xfrm>
          <a:off x="548640" y="3840480"/>
          <a:ext cx="11064240" cy="242316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9</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THIẾT KẾ</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Chỉ mục bảo vệ luật nghiệp vụ, không chỉ để chạy nhanh</a:t>
            </a:r>
          </a:p>
        </p:txBody>
      </p:sp>
      <p:graphicFrame>
        <p:nvGraphicFramePr>
          <p:cNvPr id="6" name="Table 5"/>
          <p:cNvGraphicFramePr>
            <a:graphicFrameLocks noGrp="1"/>
          </p:cNvGraphicFramePr>
          <p:nvPr/>
        </p:nvGraphicFramePr>
        <p:xfrm>
          <a:off x="548640" y="1600200"/>
          <a:ext cx="11064240" cy="4480560"/>
        </p:xfrm>
        <a:graphic>
          <a:graphicData uri="http://schemas.openxmlformats.org/drawingml/2006/table">
            <a:tbl>
              <a:tblPr firstRow="1" bandRow="1">
                <a:tableStyleId>{5C22544A-7EE6-4342-B048-85BDC9FD1C3A}</a:tableStyleId>
              </a:tblPr>
              <a:tblGrid>
                <a:gridCol w="3291840"/>
                <a:gridCol w="3566160"/>
                <a:gridCol w="4206240"/>
              </a:tblGrid>
              <a:tr h="560070">
                <a:tc>
                  <a:txBody>
                    <a:bodyPr/>
                    <a:lstStyle/>
                    <a:p>
                      <a:r>
                        <a:rPr sz="1500" b="1">
                          <a:solidFill>
                            <a:srgbClr val="FFFFFF"/>
                          </a:solidFill>
                          <a:latin typeface="Calibri"/>
                        </a:rPr>
                        <a:t>Chỉ mục</a:t>
                      </a:r>
                    </a:p>
                  </a:txBody>
                  <a:tcPr marL="137160" marR="137160">
                    <a:solidFill>
                      <a:srgbClr val="244C43"/>
                    </a:solidFill>
                  </a:tcPr>
                </a:tc>
                <a:tc>
                  <a:txBody>
                    <a:bodyPr/>
                    <a:lstStyle/>
                    <a:p>
                      <a:r>
                        <a:rPr sz="1500" b="1">
                          <a:solidFill>
                            <a:srgbClr val="FFFFFF"/>
                          </a:solidFill>
                          <a:latin typeface="Calibri"/>
                        </a:rPr>
                        <a:t>Loại</a:t>
                      </a:r>
                    </a:p>
                  </a:txBody>
                  <a:tcPr marL="137160" marR="137160">
                    <a:solidFill>
                      <a:srgbClr val="244C43"/>
                    </a:solidFill>
                  </a:tcPr>
                </a:tc>
                <a:tc>
                  <a:txBody>
                    <a:bodyPr/>
                    <a:lstStyle/>
                    <a:p>
                      <a:r>
                        <a:rPr sz="1500" b="1">
                          <a:solidFill>
                            <a:srgbClr val="FFFFFF"/>
                          </a:solidFill>
                          <a:latin typeface="Calibri"/>
                        </a:rPr>
                        <a:t>Bảo đảm điều gì</a:t>
                      </a:r>
                    </a:p>
                  </a:txBody>
                  <a:tcPr marL="137160" marR="137160">
                    <a:solidFill>
                      <a:srgbClr val="244C43"/>
                    </a:solidFill>
                  </a:tcPr>
                </a:tc>
              </a:tr>
              <a:tr h="560070">
                <a:tc>
                  <a:txBody>
                    <a:bodyPr/>
                    <a:lstStyle/>
                    <a:p>
                      <a:r>
                        <a:rPr sz="1500" b="1">
                          <a:solidFill>
                            <a:srgbClr val="1B3C35"/>
                          </a:solidFill>
                          <a:latin typeface="Consolas"/>
                        </a:rPr>
                        <a:t>ticket_open_device</a:t>
                      </a:r>
                    </a:p>
                  </a:txBody>
                  <a:tcPr marL="137160" marR="137160">
                    <a:solidFill>
                      <a:srgbClr val="F4FAF6"/>
                    </a:solidFill>
                  </a:tcPr>
                </a:tc>
                <a:tc>
                  <a:txBody>
                    <a:bodyPr/>
                    <a:lstStyle/>
                    <a:p>
                      <a:r>
                        <a:rPr sz="1500" b="0">
                          <a:solidFill>
                            <a:srgbClr val="29354A"/>
                          </a:solidFill>
                          <a:latin typeface="Calibri"/>
                        </a:rPr>
                        <a:t>unique + partial {open: true}</a:t>
                      </a:r>
                    </a:p>
                  </a:txBody>
                  <a:tcPr marL="137160" marR="137160">
                    <a:solidFill>
                      <a:srgbClr val="F4FAF6"/>
                    </a:solidFill>
                  </a:tcPr>
                </a:tc>
                <a:tc>
                  <a:txBody>
                    <a:bodyPr/>
                    <a:lstStyle/>
                    <a:p>
                      <a:r>
                        <a:rPr sz="1500" b="0">
                          <a:solidFill>
                            <a:srgbClr val="29354A"/>
                          </a:solidFill>
                          <a:latin typeface="Calibri"/>
                        </a:rPr>
                        <a:t>Một thiết bị chỉ có một phiếu đang mở</a:t>
                      </a:r>
                    </a:p>
                  </a:txBody>
                  <a:tcPr marL="137160" marR="137160">
                    <a:solidFill>
                      <a:srgbClr val="F4FAF6"/>
                    </a:solidFill>
                  </a:tcPr>
                </a:tc>
              </a:tr>
              <a:tr h="560070">
                <a:tc>
                  <a:txBody>
                    <a:bodyPr/>
                    <a:lstStyle/>
                    <a:p>
                      <a:r>
                        <a:rPr sz="1500" b="1">
                          <a:solidFill>
                            <a:srgbClr val="1B3C35"/>
                          </a:solidFill>
                          <a:latin typeface="Consolas"/>
                        </a:rPr>
                        <a:t>customer_phone</a:t>
                      </a:r>
                    </a:p>
                  </a:txBody>
                  <a:tcPr marL="137160" marR="137160">
                    <a:solidFill>
                      <a:srgbClr val="FFFFFF"/>
                    </a:solidFill>
                  </a:tcPr>
                </a:tc>
                <a:tc>
                  <a:txBody>
                    <a:bodyPr/>
                    <a:lstStyle/>
                    <a:p>
                      <a:r>
                        <a:rPr sz="1500" b="0">
                          <a:solidFill>
                            <a:srgbClr val="29354A"/>
                          </a:solidFill>
                          <a:latin typeface="Calibri"/>
                        </a:rPr>
                        <a:t>unique + partial {status: ACTIVE}</a:t>
                      </a:r>
                    </a:p>
                  </a:txBody>
                  <a:tcPr marL="137160" marR="137160">
                    <a:solidFill>
                      <a:srgbClr val="FFFFFF"/>
                    </a:solidFill>
                  </a:tcPr>
                </a:tc>
                <a:tc>
                  <a:txBody>
                    <a:bodyPr/>
                    <a:lstStyle/>
                    <a:p>
                      <a:r>
                        <a:rPr sz="1500" b="0">
                          <a:solidFill>
                            <a:srgbClr val="29354A"/>
                          </a:solidFill>
                          <a:latin typeface="Calibri"/>
                        </a:rPr>
                        <a:t>SĐT duy nhất giữa khách đang hoạt động</a:t>
                      </a:r>
                    </a:p>
                  </a:txBody>
                  <a:tcPr marL="137160" marR="137160">
                    <a:solidFill>
                      <a:srgbClr val="FFFFFF"/>
                    </a:solidFill>
                  </a:tcPr>
                </a:tc>
              </a:tr>
              <a:tr h="560070">
                <a:tc>
                  <a:txBody>
                    <a:bodyPr/>
                    <a:lstStyle/>
                    <a:p>
                      <a:r>
                        <a:rPr sz="1500" b="1">
                          <a:solidFill>
                            <a:srgbClr val="1B3C35"/>
                          </a:solidFill>
                          <a:latin typeface="Consolas"/>
                        </a:rPr>
                        <a:t>quote_active_ticket</a:t>
                      </a:r>
                    </a:p>
                  </a:txBody>
                  <a:tcPr marL="137160" marR="137160">
                    <a:solidFill>
                      <a:srgbClr val="F4FAF6"/>
                    </a:solidFill>
                  </a:tcPr>
                </a:tc>
                <a:tc>
                  <a:txBody>
                    <a:bodyPr/>
                    <a:lstStyle/>
                    <a:p>
                      <a:r>
                        <a:rPr sz="1500" b="0">
                          <a:solidFill>
                            <a:srgbClr val="29354A"/>
                          </a:solidFill>
                          <a:latin typeface="Calibri"/>
                        </a:rPr>
                        <a:t>unique + partial</a:t>
                      </a:r>
                    </a:p>
                  </a:txBody>
                  <a:tcPr marL="137160" marR="137160">
                    <a:solidFill>
                      <a:srgbClr val="F4FAF6"/>
                    </a:solidFill>
                  </a:tcPr>
                </a:tc>
                <a:tc>
                  <a:txBody>
                    <a:bodyPr/>
                    <a:lstStyle/>
                    <a:p>
                      <a:r>
                        <a:rPr sz="1500" b="0">
                          <a:solidFill>
                            <a:srgbClr val="29354A"/>
                          </a:solidFill>
                          <a:latin typeface="Calibri"/>
                        </a:rPr>
                        <a:t>Một phiếu một báo giá hiệu lực</a:t>
                      </a:r>
                    </a:p>
                  </a:txBody>
                  <a:tcPr marL="137160" marR="137160">
                    <a:solidFill>
                      <a:srgbClr val="F4FAF6"/>
                    </a:solidFill>
                  </a:tcPr>
                </a:tc>
              </a:tr>
              <a:tr h="560070">
                <a:tc>
                  <a:txBody>
                    <a:bodyPr/>
                    <a:lstStyle/>
                    <a:p>
                      <a:r>
                        <a:rPr sz="1500" b="1">
                          <a:solidFill>
                            <a:srgbClr val="1B3C35"/>
                          </a:solidFill>
                          <a:latin typeface="Consolas"/>
                        </a:rPr>
                        <a:t>ticket_technician</a:t>
                      </a:r>
                    </a:p>
                  </a:txBody>
                  <a:tcPr marL="137160" marR="137160">
                    <a:solidFill>
                      <a:srgbClr val="FFFFFF"/>
                    </a:solidFill>
                  </a:tcPr>
                </a:tc>
                <a:tc>
                  <a:txBody>
                    <a:bodyPr/>
                    <a:lstStyle/>
                    <a:p>
                      <a:r>
                        <a:rPr sz="1500" b="0">
                          <a:solidFill>
                            <a:srgbClr val="29354A"/>
                          </a:solidFill>
                          <a:latin typeface="Calibri"/>
                        </a:rPr>
                        <a:t>ghép theo ESR</a:t>
                      </a:r>
                    </a:p>
                  </a:txBody>
                  <a:tcPr marL="137160" marR="137160">
                    <a:solidFill>
                      <a:srgbClr val="FFFFFF"/>
                    </a:solidFill>
                  </a:tcPr>
                </a:tc>
                <a:tc>
                  <a:txBody>
                    <a:bodyPr/>
                    <a:lstStyle/>
                    <a:p>
                      <a:r>
                        <a:rPr sz="1500" b="0">
                          <a:solidFill>
                            <a:srgbClr val="29354A"/>
                          </a:solidFill>
                          <a:latin typeface="Calibri"/>
                        </a:rPr>
                        <a:t>Hàng đợi KTV sắp theo hạn SLA</a:t>
                      </a:r>
                    </a:p>
                  </a:txBody>
                  <a:tcPr marL="137160" marR="137160">
                    <a:solidFill>
                      <a:srgbClr val="FFFFFF"/>
                    </a:solidFill>
                  </a:tcPr>
                </a:tc>
              </a:tr>
              <a:tr h="560070">
                <a:tc>
                  <a:txBody>
                    <a:bodyPr/>
                    <a:lstStyle/>
                    <a:p>
                      <a:r>
                        <a:rPr sz="1500" b="1">
                          <a:solidFill>
                            <a:srgbClr val="1B3C35"/>
                          </a:solidFill>
                          <a:latin typeface="Consolas"/>
                        </a:rPr>
                        <a:t>account_username</a:t>
                      </a:r>
                    </a:p>
                  </a:txBody>
                  <a:tcPr marL="137160" marR="137160">
                    <a:solidFill>
                      <a:srgbClr val="F4FAF6"/>
                    </a:solidFill>
                  </a:tcPr>
                </a:tc>
                <a:tc>
                  <a:txBody>
                    <a:bodyPr/>
                    <a:lstStyle/>
                    <a:p>
                      <a:r>
                        <a:rPr sz="1500" b="0">
                          <a:solidFill>
                            <a:srgbClr val="29354A"/>
                          </a:solidFill>
                          <a:latin typeface="Calibri"/>
                        </a:rPr>
                        <a:t>collation strength 2</a:t>
                      </a:r>
                    </a:p>
                  </a:txBody>
                  <a:tcPr marL="137160" marR="137160">
                    <a:solidFill>
                      <a:srgbClr val="F4FAF6"/>
                    </a:solidFill>
                  </a:tcPr>
                </a:tc>
                <a:tc>
                  <a:txBody>
                    <a:bodyPr/>
                    <a:lstStyle/>
                    <a:p>
                      <a:r>
                        <a:rPr sz="1500" b="0">
                          <a:solidFill>
                            <a:srgbClr val="29354A"/>
                          </a:solidFill>
                          <a:latin typeface="Calibri"/>
                        </a:rPr>
                        <a:t>Tên đăng nhập không phân biệt hoa thường</a:t>
                      </a:r>
                    </a:p>
                  </a:txBody>
                  <a:tcPr marL="137160" marR="137160">
                    <a:solidFill>
                      <a:srgbClr val="F4FAF6"/>
                    </a:solidFill>
                  </a:tcPr>
                </a:tc>
              </a:tr>
              <a:tr h="560070">
                <a:tc>
                  <a:txBody>
                    <a:bodyPr/>
                    <a:lstStyle/>
                    <a:p>
                      <a:r>
                        <a:rPr sz="1500" b="1">
                          <a:solidFill>
                            <a:srgbClr val="1B3C35"/>
                          </a:solidFill>
                          <a:latin typeface="Consolas"/>
                        </a:rPr>
                        <a:t>refresh_expiry · otp_expiry</a:t>
                      </a:r>
                    </a:p>
                  </a:txBody>
                  <a:tcPr marL="137160" marR="137160">
                    <a:solidFill>
                      <a:srgbClr val="FFFFFF"/>
                    </a:solidFill>
                  </a:tcPr>
                </a:tc>
                <a:tc>
                  <a:txBody>
                    <a:bodyPr/>
                    <a:lstStyle/>
                    <a:p>
                      <a:r>
                        <a:rPr sz="1500" b="0">
                          <a:solidFill>
                            <a:srgbClr val="29354A"/>
                          </a:solidFill>
                          <a:latin typeface="Calibri"/>
                        </a:rPr>
                        <a:t>TTL 7 ngày · 1 ngày</a:t>
                      </a:r>
                    </a:p>
                  </a:txBody>
                  <a:tcPr marL="137160" marR="137160">
                    <a:solidFill>
                      <a:srgbClr val="FFFFFF"/>
                    </a:solidFill>
                  </a:tcPr>
                </a:tc>
                <a:tc>
                  <a:txBody>
                    <a:bodyPr/>
                    <a:lstStyle/>
                    <a:p>
                      <a:r>
                        <a:rPr sz="1500" b="0">
                          <a:solidFill>
                            <a:srgbClr val="29354A"/>
                          </a:solidFill>
                          <a:latin typeface="Calibri"/>
                        </a:rPr>
                        <a:t>MongoDB tự xóa token, OTP hết hạn</a:t>
                      </a:r>
                    </a:p>
                  </a:txBody>
                  <a:tcPr marL="137160" marR="137160">
                    <a:solidFill>
                      <a:srgbClr val="FFFFFF"/>
                    </a:solidFill>
                  </a:tcPr>
                </a:tc>
              </a:tr>
              <a:tr h="560070">
                <a:tc>
                  <a:txBody>
                    <a:bodyPr/>
                    <a:lstStyle/>
                    <a:p>
                      <a:r>
                        <a:rPr sz="1500" b="1">
                          <a:solidFill>
                            <a:srgbClr val="1B3C35"/>
                          </a:solidFill>
                          <a:latin typeface="Consolas"/>
                        </a:rPr>
                        <a:t>ticket_text</a:t>
                      </a:r>
                    </a:p>
                  </a:txBody>
                  <a:tcPr marL="137160" marR="137160">
                    <a:solidFill>
                      <a:srgbClr val="F4FAF6"/>
                    </a:solidFill>
                  </a:tcPr>
                </a:tc>
                <a:tc>
                  <a:txBody>
                    <a:bodyPr/>
                    <a:lstStyle/>
                    <a:p>
                      <a:r>
                        <a:rPr sz="1500" b="0">
                          <a:solidFill>
                            <a:srgbClr val="29354A"/>
                          </a:solidFill>
                          <a:latin typeface="Calibri"/>
                        </a:rPr>
                        <a:t>text, default_language none</a:t>
                      </a:r>
                    </a:p>
                  </a:txBody>
                  <a:tcPr marL="137160" marR="137160">
                    <a:solidFill>
                      <a:srgbClr val="F4FAF6"/>
                    </a:solidFill>
                  </a:tcPr>
                </a:tc>
                <a:tc>
                  <a:txBody>
                    <a:bodyPr/>
                    <a:lstStyle/>
                    <a:p>
                      <a:r>
                        <a:rPr sz="1500" b="0">
                          <a:solidFill>
                            <a:srgbClr val="29354A"/>
                          </a:solidFill>
                          <a:latin typeface="Calibri"/>
                        </a:rPr>
                        <a:t>Tìm phiếu theo triệu chứng tiếng Việt</a:t>
                      </a:r>
                    </a:p>
                  </a:txBody>
                  <a:tcPr marL="137160" marR="137160">
                    <a:solidFill>
                      <a:srgbClr val="F4FAF6"/>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10</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THIẾT KẾ</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Ràng buộc và giao dịch giữ dữ liệu đúng</a:t>
            </a:r>
          </a:p>
        </p:txBody>
      </p:sp>
      <p:sp>
        <p:nvSpPr>
          <p:cNvPr id="6" name="TextBox 5"/>
          <p:cNvSpPr txBox="1"/>
          <p:nvPr/>
        </p:nvSpPr>
        <p:spPr>
          <a:xfrm>
            <a:off x="548640" y="1554480"/>
            <a:ext cx="5394960" cy="365760"/>
          </a:xfrm>
          <a:prstGeom prst="rect">
            <a:avLst/>
          </a:prstGeom>
          <a:noFill/>
        </p:spPr>
        <p:txBody>
          <a:bodyPr wrap="square" lIns="0" rIns="0" tIns="0" bIns="0" anchor="t">
            <a:spAutoFit/>
          </a:bodyPr>
          <a:lstStyle/>
          <a:p>
            <a:pPr algn="l"/>
            <a:r>
              <a:rPr sz="2000" b="1" i="0">
                <a:solidFill>
                  <a:srgbClr val="1B3C35"/>
                </a:solidFill>
                <a:latin typeface="Cambria"/>
              </a:rPr>
              <a:t>$jsonSchema — từ chối ghi sai</a:t>
            </a:r>
          </a:p>
        </p:txBody>
      </p:sp>
      <p:sp>
        <p:nvSpPr>
          <p:cNvPr id="7" name="Rounded Rectangle 6"/>
          <p:cNvSpPr/>
          <p:nvPr/>
        </p:nvSpPr>
        <p:spPr>
          <a:xfrm>
            <a:off x="548640" y="2057400"/>
            <a:ext cx="5394960" cy="2377440"/>
          </a:xfrm>
          <a:prstGeom prst="roundRect">
            <a:avLst>
              <a:gd name="adj" fmla="val 4000"/>
            </a:avLst>
          </a:prstGeom>
          <a:solidFill>
            <a:srgbClr val="1B3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4937760" cy="2011680"/>
          </a:xfrm>
          <a:prstGeom prst="rect">
            <a:avLst/>
          </a:prstGeom>
          <a:noFill/>
        </p:spPr>
        <p:txBody>
          <a:bodyPr wrap="square" lIns="0" rIns="0" tIns="0" bIns="0" anchor="t">
            <a:spAutoFit/>
          </a:bodyPr>
          <a:lstStyle/>
          <a:p>
            <a:pPr algn="l"/>
            <a:r>
              <a:rPr sz="1300" b="0" i="0">
                <a:solidFill>
                  <a:srgbClr val="E8F2EC"/>
                </a:solidFill>
                <a:latin typeface="Consolas"/>
              </a:rPr>
              <a:t>db.payments.insertOne({ _id: "PT-TEST-SAI",</a:t>
            </a:r>
          </a:p>
          <a:p>
            <a:pPr algn="l"/>
            <a:r>
              <a:rPr sz="1300" b="0" i="0">
                <a:solidFill>
                  <a:srgbClr val="E8F2EC"/>
                </a:solidFill>
                <a:latin typeface="Consolas"/>
              </a:rPr>
              <a:t>  ticketId: "TN-X", type: "CHARGED",</a:t>
            </a:r>
          </a:p>
          <a:p>
            <a:pPr algn="l"/>
            <a:r>
              <a:rPr sz="1300" b="0" i="0">
                <a:solidFill>
                  <a:srgbClr val="E8F2EC"/>
                </a:solidFill>
                <a:latin typeface="Consolas"/>
              </a:rPr>
              <a:t>  paidAt: new Date(), amount: -5,</a:t>
            </a:r>
          </a:p>
          <a:p>
            <a:pPr algn="l"/>
            <a:r>
              <a:rPr sz="1300" b="0" i="0">
                <a:solidFill>
                  <a:srgbClr val="E8F2EC"/>
                </a:solidFill>
                <a:latin typeface="Consolas"/>
              </a:rPr>
              <a:t>  method: "BITCOIN", cashierId: "NV-006" })</a:t>
            </a:r>
          </a:p>
          <a:p>
            <a:pPr algn="l"/>
            <a:r>
              <a:rPr sz="1300" b="0" i="0">
                <a:solidFill>
                  <a:srgbClr val="E8F2EC"/>
                </a:solidFill>
                <a:latin typeface="Consolas"/>
              </a:rPr>
              <a:t>// code 121 DocumentValidationFailure</a:t>
            </a:r>
          </a:p>
          <a:p>
            <a:pPr algn="l"/>
            <a:r>
              <a:rPr sz="1300" b="0" i="0">
                <a:solidFill>
                  <a:srgbClr val="E8F2EC"/>
                </a:solidFill>
                <a:latin typeface="Consolas"/>
              </a:rPr>
              <a:t>// propertiesNotSatisfied: amount, method</a:t>
            </a:r>
          </a:p>
        </p:txBody>
      </p:sp>
      <p:sp>
        <p:nvSpPr>
          <p:cNvPr id="9" name="TextBox 8"/>
          <p:cNvSpPr txBox="1"/>
          <p:nvPr/>
        </p:nvSpPr>
        <p:spPr>
          <a:xfrm>
            <a:off x="548640" y="4617720"/>
            <a:ext cx="5394960" cy="1463040"/>
          </a:xfrm>
          <a:prstGeom prst="rect">
            <a:avLst/>
          </a:prstGeom>
          <a:noFill/>
        </p:spPr>
        <p:txBody>
          <a:bodyPr wrap="square" lIns="0" rIns="0" tIns="0" bIns="0" anchor="t">
            <a:spAutoFit/>
          </a:bodyPr>
          <a:lstStyle/>
          <a:p>
            <a:pPr algn="l"/>
            <a:r>
              <a:rPr sz="1500" b="0" i="0">
                <a:solidFill>
                  <a:srgbClr val="29354A"/>
                </a:solidFill>
                <a:latin typeface="Calibri"/>
              </a:rPr>
              <a:t>7 collection nghiệp vụ có validator (moderate, error): kiểu BSON, enum trạng thái, tiền Decimal128 ≥ 0, tiền tố mã.</a:t>
            </a:r>
          </a:p>
        </p:txBody>
      </p:sp>
      <p:sp>
        <p:nvSpPr>
          <p:cNvPr id="10" name="TextBox 9"/>
          <p:cNvSpPr txBox="1"/>
          <p:nvPr/>
        </p:nvSpPr>
        <p:spPr>
          <a:xfrm>
            <a:off x="6263640" y="1554480"/>
            <a:ext cx="5394960" cy="365760"/>
          </a:xfrm>
          <a:prstGeom prst="rect">
            <a:avLst/>
          </a:prstGeom>
          <a:noFill/>
        </p:spPr>
        <p:txBody>
          <a:bodyPr wrap="square" lIns="0" rIns="0" tIns="0" bIns="0" anchor="t">
            <a:spAutoFit/>
          </a:bodyPr>
          <a:lstStyle/>
          <a:p>
            <a:pPr algn="l"/>
            <a:r>
              <a:rPr sz="2000" b="1" i="0">
                <a:solidFill>
                  <a:srgbClr val="1B3C35"/>
                </a:solidFill>
                <a:latin typeface="Cambria"/>
              </a:rPr>
              <a:t>Giao dịch + cập nhật có điều kiện</a:t>
            </a:r>
          </a:p>
        </p:txBody>
      </p:sp>
      <p:sp>
        <p:nvSpPr>
          <p:cNvPr id="11" name="Rounded Rectangle 10"/>
          <p:cNvSpPr/>
          <p:nvPr/>
        </p:nvSpPr>
        <p:spPr>
          <a:xfrm>
            <a:off x="6263640" y="2057400"/>
            <a:ext cx="5349240" cy="89611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2167128"/>
            <a:ext cx="1554480" cy="685800"/>
          </a:xfrm>
          <a:prstGeom prst="rect">
            <a:avLst/>
          </a:prstGeom>
          <a:noFill/>
        </p:spPr>
        <p:txBody>
          <a:bodyPr wrap="square" lIns="0" rIns="0" tIns="0" bIns="0" anchor="ctr">
            <a:spAutoFit/>
          </a:bodyPr>
          <a:lstStyle/>
          <a:p>
            <a:pPr algn="l"/>
            <a:r>
              <a:rPr sz="1500" b="1" i="0">
                <a:solidFill>
                  <a:srgbClr val="1B3C35"/>
                </a:solidFill>
                <a:latin typeface="Calibri"/>
              </a:rPr>
              <a:t>Thu tiền</a:t>
            </a:r>
          </a:p>
        </p:txBody>
      </p:sp>
      <p:sp>
        <p:nvSpPr>
          <p:cNvPr id="13" name="TextBox 12"/>
          <p:cNvSpPr txBox="1"/>
          <p:nvPr/>
        </p:nvSpPr>
        <p:spPr>
          <a:xfrm>
            <a:off x="8092440" y="2167128"/>
            <a:ext cx="3383280" cy="685800"/>
          </a:xfrm>
          <a:prstGeom prst="rect">
            <a:avLst/>
          </a:prstGeom>
          <a:noFill/>
        </p:spPr>
        <p:txBody>
          <a:bodyPr wrap="square" lIns="0" rIns="0" tIns="0" bIns="0" anchor="ctr">
            <a:spAutoFit/>
          </a:bodyPr>
          <a:lstStyle/>
          <a:p>
            <a:pPr algn="l"/>
            <a:r>
              <a:rPr sz="1300" b="0" i="0">
                <a:solidFill>
                  <a:srgbClr val="29354A"/>
                </a:solidFill>
                <a:latin typeface="Calibri"/>
              </a:rPr>
              <a:t>Ghi phiếu thu + chuyển trạng thái phiếu trong một giao dịch</a:t>
            </a:r>
          </a:p>
        </p:txBody>
      </p:sp>
      <p:sp>
        <p:nvSpPr>
          <p:cNvPr id="14" name="Rounded Rectangle 13"/>
          <p:cNvSpPr/>
          <p:nvPr/>
        </p:nvSpPr>
        <p:spPr>
          <a:xfrm>
            <a:off x="6263640" y="3081528"/>
            <a:ext cx="5349240" cy="89611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92240" y="3191256"/>
            <a:ext cx="1554480" cy="685800"/>
          </a:xfrm>
          <a:prstGeom prst="rect">
            <a:avLst/>
          </a:prstGeom>
          <a:noFill/>
        </p:spPr>
        <p:txBody>
          <a:bodyPr wrap="square" lIns="0" rIns="0" tIns="0" bIns="0" anchor="ctr">
            <a:spAutoFit/>
          </a:bodyPr>
          <a:lstStyle/>
          <a:p>
            <a:pPr algn="l"/>
            <a:r>
              <a:rPr sz="1500" b="1" i="0">
                <a:solidFill>
                  <a:srgbClr val="1B3C35"/>
                </a:solidFill>
                <a:latin typeface="Calibri"/>
              </a:rPr>
              <a:t>Giữ chỗ kho</a:t>
            </a:r>
          </a:p>
        </p:txBody>
      </p:sp>
      <p:sp>
        <p:nvSpPr>
          <p:cNvPr id="16" name="TextBox 15"/>
          <p:cNvSpPr txBox="1"/>
          <p:nvPr/>
        </p:nvSpPr>
        <p:spPr>
          <a:xfrm>
            <a:off x="8092440" y="3191256"/>
            <a:ext cx="3383280" cy="685800"/>
          </a:xfrm>
          <a:prstGeom prst="rect">
            <a:avLst/>
          </a:prstGeom>
          <a:noFill/>
        </p:spPr>
        <p:txBody>
          <a:bodyPr wrap="square" lIns="0" rIns="0" tIns="0" bIns="0" anchor="ctr">
            <a:spAutoFit/>
          </a:bodyPr>
          <a:lstStyle/>
          <a:p>
            <a:pPr algn="l"/>
            <a:r>
              <a:rPr sz="1300" b="0" i="0">
                <a:solidFill>
                  <a:srgbClr val="29354A"/>
                </a:solidFill>
                <a:latin typeface="Calibri"/>
              </a:rPr>
              <a:t>$expr: onHand − reserved ≥ số lượng, nếu không → hết hàng</a:t>
            </a:r>
          </a:p>
        </p:txBody>
      </p:sp>
      <p:sp>
        <p:nvSpPr>
          <p:cNvPr id="17" name="Rounded Rectangle 16"/>
          <p:cNvSpPr/>
          <p:nvPr/>
        </p:nvSpPr>
        <p:spPr>
          <a:xfrm>
            <a:off x="6263640" y="4105656"/>
            <a:ext cx="5349240" cy="89611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4215384"/>
            <a:ext cx="1554480" cy="685800"/>
          </a:xfrm>
          <a:prstGeom prst="rect">
            <a:avLst/>
          </a:prstGeom>
          <a:noFill/>
        </p:spPr>
        <p:txBody>
          <a:bodyPr wrap="square" lIns="0" rIns="0" tIns="0" bIns="0" anchor="ctr">
            <a:spAutoFit/>
          </a:bodyPr>
          <a:lstStyle/>
          <a:p>
            <a:pPr algn="l"/>
            <a:r>
              <a:rPr sz="1500" b="1" i="0">
                <a:solidFill>
                  <a:srgbClr val="1B3C35"/>
                </a:solidFill>
                <a:latin typeface="Calibri"/>
              </a:rPr>
              <a:t>Xuất kho</a:t>
            </a:r>
          </a:p>
        </p:txBody>
      </p:sp>
      <p:sp>
        <p:nvSpPr>
          <p:cNvPr id="19" name="TextBox 18"/>
          <p:cNvSpPr txBox="1"/>
          <p:nvPr/>
        </p:nvSpPr>
        <p:spPr>
          <a:xfrm>
            <a:off x="8092440" y="4215384"/>
            <a:ext cx="3383280" cy="685800"/>
          </a:xfrm>
          <a:prstGeom prst="rect">
            <a:avLst/>
          </a:prstGeom>
          <a:noFill/>
        </p:spPr>
        <p:txBody>
          <a:bodyPr wrap="square" lIns="0" rIns="0" tIns="0" bIns="0" anchor="ctr">
            <a:spAutoFit/>
          </a:bodyPr>
          <a:lstStyle/>
          <a:p>
            <a:pPr algn="l"/>
            <a:r>
              <a:rPr sz="1300" b="0" i="0">
                <a:solidFill>
                  <a:srgbClr val="29354A"/>
                </a:solidFill>
                <a:latin typeface="Calibri"/>
              </a:rPr>
              <a:t>Trừ tồn tổng, rồi trừ đúng kệ bằng $elemMatch + bins.$</a:t>
            </a:r>
          </a:p>
        </p:txBody>
      </p:sp>
      <p:sp>
        <p:nvSpPr>
          <p:cNvPr id="20" name="Rounded Rectangle 19"/>
          <p:cNvSpPr/>
          <p:nvPr/>
        </p:nvSpPr>
        <p:spPr>
          <a:xfrm>
            <a:off x="6263640" y="5129784"/>
            <a:ext cx="5349240" cy="89611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92240" y="5239512"/>
            <a:ext cx="1554480" cy="685800"/>
          </a:xfrm>
          <a:prstGeom prst="rect">
            <a:avLst/>
          </a:prstGeom>
          <a:noFill/>
        </p:spPr>
        <p:txBody>
          <a:bodyPr wrap="square" lIns="0" rIns="0" tIns="0" bIns="0" anchor="ctr">
            <a:spAutoFit/>
          </a:bodyPr>
          <a:lstStyle/>
          <a:p>
            <a:pPr algn="l"/>
            <a:r>
              <a:rPr sz="1500" b="1" i="0">
                <a:solidFill>
                  <a:srgbClr val="1B3C35"/>
                </a:solidFill>
                <a:latin typeface="Calibri"/>
              </a:rPr>
              <a:t>Commit chưa rõ</a:t>
            </a:r>
          </a:p>
        </p:txBody>
      </p:sp>
      <p:sp>
        <p:nvSpPr>
          <p:cNvPr id="22" name="TextBox 21"/>
          <p:cNvSpPr txBox="1"/>
          <p:nvPr/>
        </p:nvSpPr>
        <p:spPr>
          <a:xfrm>
            <a:off x="8092440" y="5239512"/>
            <a:ext cx="3383280" cy="685800"/>
          </a:xfrm>
          <a:prstGeom prst="rect">
            <a:avLst/>
          </a:prstGeom>
          <a:noFill/>
        </p:spPr>
        <p:txBody>
          <a:bodyPr wrap="square" lIns="0" rIns="0" tIns="0" bIns="0" anchor="ctr">
            <a:spAutoFit/>
          </a:bodyPr>
          <a:lstStyle/>
          <a:p>
            <a:pPr algn="l"/>
            <a:r>
              <a:rPr sz="1300" b="0" i="0">
                <a:solidFill>
                  <a:srgbClr val="29354A"/>
                </a:solidFill>
                <a:latin typeface="Calibri"/>
              </a:rPr>
              <a:t>Chỉ thử lại lệnh commit — không bao giờ thu tiền hai lần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11</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TRUY VẤN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Dữ liệu demo: 6 tháng sinh qua API thật</a:t>
            </a:r>
          </a:p>
        </p:txBody>
      </p:sp>
      <p:graphicFrame>
        <p:nvGraphicFramePr>
          <p:cNvPr id="6" name="Chart 5"/>
          <p:cNvGraphicFramePr>
            <a:graphicFrameLocks noGrp="1"/>
          </p:cNvGraphicFramePr>
          <p:nvPr/>
        </p:nvGraphicFramePr>
        <p:xfrm>
          <a:off x="548640" y="1508760"/>
          <a:ext cx="6949440" cy="4663440"/>
        </p:xfrm>
        <a:graphic>
          <a:graphicData uri="http://schemas.openxmlformats.org/drawingml/2006/chart">
            <c:chart xmlns:c="http://schemas.openxmlformats.org/drawingml/2006/chart" r:id="rId2"/>
          </a:graphicData>
        </a:graphic>
      </p:graphicFrame>
      <p:sp>
        <p:nvSpPr>
          <p:cNvPr id="7" name="Rounded Rectangle 6"/>
          <p:cNvSpPr/>
          <p:nvPr/>
        </p:nvSpPr>
        <p:spPr>
          <a:xfrm>
            <a:off x="7863840" y="1600200"/>
            <a:ext cx="3749039" cy="9601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92440" y="1709928"/>
            <a:ext cx="1737360" cy="731520"/>
          </a:xfrm>
          <a:prstGeom prst="rect">
            <a:avLst/>
          </a:prstGeom>
          <a:noFill/>
        </p:spPr>
        <p:txBody>
          <a:bodyPr wrap="square" lIns="0" rIns="0" tIns="0" bIns="0" anchor="ctr">
            <a:spAutoFit/>
          </a:bodyPr>
          <a:lstStyle/>
          <a:p>
            <a:pPr algn="l"/>
            <a:r>
              <a:rPr sz="2600" b="1" i="0">
                <a:solidFill>
                  <a:srgbClr val="1B3C35"/>
                </a:solidFill>
                <a:latin typeface="Cambria"/>
              </a:rPr>
              <a:t>170</a:t>
            </a:r>
          </a:p>
        </p:txBody>
      </p:sp>
      <p:sp>
        <p:nvSpPr>
          <p:cNvPr id="9" name="TextBox 8"/>
          <p:cNvSpPr txBox="1"/>
          <p:nvPr/>
        </p:nvSpPr>
        <p:spPr>
          <a:xfrm>
            <a:off x="9829800" y="1709928"/>
            <a:ext cx="1691640" cy="731520"/>
          </a:xfrm>
          <a:prstGeom prst="rect">
            <a:avLst/>
          </a:prstGeom>
          <a:noFill/>
        </p:spPr>
        <p:txBody>
          <a:bodyPr wrap="square" lIns="0" rIns="0" tIns="0" bIns="0" anchor="ctr">
            <a:spAutoFit/>
          </a:bodyPr>
          <a:lstStyle/>
          <a:p>
            <a:pPr algn="l"/>
            <a:r>
              <a:rPr sz="1300" b="0" i="0">
                <a:solidFill>
                  <a:srgbClr val="29354A"/>
                </a:solidFill>
                <a:latin typeface="Calibri"/>
              </a:rPr>
              <a:t>phiếu đã bàn giao</a:t>
            </a:r>
          </a:p>
        </p:txBody>
      </p:sp>
      <p:sp>
        <p:nvSpPr>
          <p:cNvPr id="10" name="Rounded Rectangle 9"/>
          <p:cNvSpPr/>
          <p:nvPr/>
        </p:nvSpPr>
        <p:spPr>
          <a:xfrm>
            <a:off x="7863840" y="2743200"/>
            <a:ext cx="3749039" cy="9601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92440" y="2852928"/>
            <a:ext cx="1737360" cy="731520"/>
          </a:xfrm>
          <a:prstGeom prst="rect">
            <a:avLst/>
          </a:prstGeom>
          <a:noFill/>
        </p:spPr>
        <p:txBody>
          <a:bodyPr wrap="square" lIns="0" rIns="0" tIns="0" bIns="0" anchor="ctr">
            <a:spAutoFit/>
          </a:bodyPr>
          <a:lstStyle/>
          <a:p>
            <a:pPr algn="l"/>
            <a:r>
              <a:rPr sz="2600" b="1" i="0">
                <a:solidFill>
                  <a:srgbClr val="1B3C35"/>
                </a:solidFill>
                <a:latin typeface="Cambria"/>
              </a:rPr>
              <a:t>121 / 69</a:t>
            </a:r>
          </a:p>
        </p:txBody>
      </p:sp>
      <p:sp>
        <p:nvSpPr>
          <p:cNvPr id="12" name="TextBox 11"/>
          <p:cNvSpPr txBox="1"/>
          <p:nvPr/>
        </p:nvSpPr>
        <p:spPr>
          <a:xfrm>
            <a:off x="9829800" y="2852928"/>
            <a:ext cx="1691640" cy="731520"/>
          </a:xfrm>
          <a:prstGeom prst="rect">
            <a:avLst/>
          </a:prstGeom>
          <a:noFill/>
        </p:spPr>
        <p:txBody>
          <a:bodyPr wrap="square" lIns="0" rIns="0" tIns="0" bIns="0" anchor="ctr">
            <a:spAutoFit/>
          </a:bodyPr>
          <a:lstStyle/>
          <a:p>
            <a:pPr algn="l"/>
            <a:r>
              <a:rPr sz="1300" b="0" i="0">
                <a:solidFill>
                  <a:srgbClr val="29354A"/>
                </a:solidFill>
                <a:latin typeface="Calibri"/>
              </a:rPr>
              <a:t>bảo hành miễn phí / tính phí</a:t>
            </a:r>
          </a:p>
        </p:txBody>
      </p:sp>
      <p:sp>
        <p:nvSpPr>
          <p:cNvPr id="13" name="Rounded Rectangle 12"/>
          <p:cNvSpPr/>
          <p:nvPr/>
        </p:nvSpPr>
        <p:spPr>
          <a:xfrm>
            <a:off x="7863840" y="3886200"/>
            <a:ext cx="3749039" cy="9601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92440" y="3995928"/>
            <a:ext cx="1737360" cy="731520"/>
          </a:xfrm>
          <a:prstGeom prst="rect">
            <a:avLst/>
          </a:prstGeom>
          <a:noFill/>
        </p:spPr>
        <p:txBody>
          <a:bodyPr wrap="square" lIns="0" rIns="0" tIns="0" bIns="0" anchor="ctr">
            <a:spAutoFit/>
          </a:bodyPr>
          <a:lstStyle/>
          <a:p>
            <a:pPr algn="l"/>
            <a:r>
              <a:rPr sz="2600" b="1" i="0">
                <a:solidFill>
                  <a:srgbClr val="1B3C35"/>
                </a:solidFill>
                <a:latin typeface="Cambria"/>
              </a:rPr>
              <a:t>170</a:t>
            </a:r>
          </a:p>
        </p:txBody>
      </p:sp>
      <p:sp>
        <p:nvSpPr>
          <p:cNvPr id="15" name="TextBox 14"/>
          <p:cNvSpPr txBox="1"/>
          <p:nvPr/>
        </p:nvSpPr>
        <p:spPr>
          <a:xfrm>
            <a:off x="9829800" y="3995928"/>
            <a:ext cx="1691640" cy="731520"/>
          </a:xfrm>
          <a:prstGeom prst="rect">
            <a:avLst/>
          </a:prstGeom>
          <a:noFill/>
        </p:spPr>
        <p:txBody>
          <a:bodyPr wrap="square" lIns="0" rIns="0" tIns="0" bIns="0" anchor="ctr">
            <a:spAutoFit/>
          </a:bodyPr>
          <a:lstStyle/>
          <a:p>
            <a:pPr algn="l"/>
            <a:r>
              <a:rPr sz="1300" b="0" i="0">
                <a:solidFill>
                  <a:srgbClr val="29354A"/>
                </a:solidFill>
                <a:latin typeface="Calibri"/>
              </a:rPr>
              <a:t>lượt khách đánh giá</a:t>
            </a:r>
          </a:p>
        </p:txBody>
      </p:sp>
      <p:sp>
        <p:nvSpPr>
          <p:cNvPr id="16" name="Rounded Rectangle 15"/>
          <p:cNvSpPr/>
          <p:nvPr/>
        </p:nvSpPr>
        <p:spPr>
          <a:xfrm>
            <a:off x="7863840" y="5029200"/>
            <a:ext cx="3749039" cy="96012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92440" y="5138928"/>
            <a:ext cx="1737360" cy="731520"/>
          </a:xfrm>
          <a:prstGeom prst="rect">
            <a:avLst/>
          </a:prstGeom>
          <a:noFill/>
        </p:spPr>
        <p:txBody>
          <a:bodyPr wrap="square" lIns="0" rIns="0" tIns="0" bIns="0" anchor="ctr">
            <a:spAutoFit/>
          </a:bodyPr>
          <a:lstStyle/>
          <a:p>
            <a:pPr algn="l"/>
            <a:r>
              <a:rPr sz="2600" b="1" i="0">
                <a:solidFill>
                  <a:srgbClr val="1B3C35"/>
                </a:solidFill>
                <a:latin typeface="Cambria"/>
              </a:rPr>
              <a:t>24</a:t>
            </a:r>
          </a:p>
        </p:txBody>
      </p:sp>
      <p:sp>
        <p:nvSpPr>
          <p:cNvPr id="18" name="TextBox 17"/>
          <p:cNvSpPr txBox="1"/>
          <p:nvPr/>
        </p:nvSpPr>
        <p:spPr>
          <a:xfrm>
            <a:off x="9829800" y="5138928"/>
            <a:ext cx="1691640" cy="731520"/>
          </a:xfrm>
          <a:prstGeom prst="rect">
            <a:avLst/>
          </a:prstGeom>
          <a:noFill/>
        </p:spPr>
        <p:txBody>
          <a:bodyPr wrap="square" lIns="0" rIns="0" tIns="0" bIns="0" anchor="ctr">
            <a:spAutoFit/>
          </a:bodyPr>
          <a:lstStyle/>
          <a:p>
            <a:pPr algn="l"/>
            <a:r>
              <a:rPr sz="1300" b="0" i="0">
                <a:solidFill>
                  <a:srgbClr val="29354A"/>
                </a:solidFill>
                <a:latin typeface="Calibri"/>
              </a:rPr>
              <a:t>yêu cầu online thành phiếu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12</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TRUY VẤN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Aggregation: doanh thu theo tháng giờ Việt Nam</a:t>
            </a:r>
          </a:p>
        </p:txBody>
      </p:sp>
      <p:sp>
        <p:nvSpPr>
          <p:cNvPr id="6" name="Rounded Rectangle 5"/>
          <p:cNvSpPr/>
          <p:nvPr/>
        </p:nvSpPr>
        <p:spPr>
          <a:xfrm>
            <a:off x="548640" y="1554480"/>
            <a:ext cx="5120640" cy="3108960"/>
          </a:xfrm>
          <a:prstGeom prst="roundRect">
            <a:avLst>
              <a:gd name="adj" fmla="val 4000"/>
            </a:avLst>
          </a:prstGeom>
          <a:solidFill>
            <a:srgbClr val="1B3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4663440" cy="2743200"/>
          </a:xfrm>
          <a:prstGeom prst="rect">
            <a:avLst/>
          </a:prstGeom>
          <a:noFill/>
        </p:spPr>
        <p:txBody>
          <a:bodyPr wrap="square" lIns="0" rIns="0" tIns="0" bIns="0" anchor="t">
            <a:spAutoFit/>
          </a:bodyPr>
          <a:lstStyle/>
          <a:p>
            <a:pPr algn="l"/>
            <a:r>
              <a:rPr sz="1300" b="0" i="0">
                <a:solidFill>
                  <a:srgbClr val="E8F2EC"/>
                </a:solidFill>
                <a:latin typeface="Consolas"/>
              </a:rPr>
              <a:t>db.payments.aggregate([</a:t>
            </a:r>
          </a:p>
          <a:p>
            <a:pPr algn="l"/>
            <a:r>
              <a:rPr sz="1300" b="0" i="0">
                <a:solidFill>
                  <a:srgbClr val="E8F2EC"/>
                </a:solidFill>
                <a:latin typeface="Consolas"/>
              </a:rPr>
              <a:t>  { $match: { type: "CHARGED" } },</a:t>
            </a:r>
          </a:p>
          <a:p>
            <a:pPr algn="l"/>
            <a:r>
              <a:rPr sz="1300" b="0" i="0">
                <a:solidFill>
                  <a:srgbClr val="E8F2EC"/>
                </a:solidFill>
                <a:latin typeface="Consolas"/>
              </a:rPr>
              <a:t>  { $group: {</a:t>
            </a:r>
          </a:p>
          <a:p>
            <a:pPr algn="l"/>
            <a:r>
              <a:rPr sz="1300" b="0" i="0">
                <a:solidFill>
                  <a:srgbClr val="E8F2EC"/>
                </a:solidFill>
                <a:latin typeface="Consolas"/>
              </a:rPr>
              <a:t>      _id: { $dateToString: {</a:t>
            </a:r>
          </a:p>
          <a:p>
            <a:pPr algn="l"/>
            <a:r>
              <a:rPr sz="1300" b="0" i="0">
                <a:solidFill>
                  <a:srgbClr val="E8F2EC"/>
                </a:solidFill>
                <a:latin typeface="Consolas"/>
              </a:rPr>
              <a:t>        format: "%Y-%m", date: "$paidAt",</a:t>
            </a:r>
          </a:p>
          <a:p>
            <a:pPr algn="l"/>
            <a:r>
              <a:rPr sz="1300" b="0" i="0">
                <a:solidFill>
                  <a:srgbClr val="E8F2EC"/>
                </a:solidFill>
                <a:latin typeface="Consolas"/>
              </a:rPr>
              <a:t>        timezone: "+07:00" } },</a:t>
            </a:r>
          </a:p>
          <a:p>
            <a:pPr algn="l"/>
            <a:r>
              <a:rPr sz="1300" b="0" i="0">
                <a:solidFill>
                  <a:srgbClr val="E8F2EC"/>
                </a:solidFill>
                <a:latin typeface="Consolas"/>
              </a:rPr>
              <a:t>      payments: { $sum: 1 },</a:t>
            </a:r>
          </a:p>
          <a:p>
            <a:pPr algn="l"/>
            <a:r>
              <a:rPr sz="1300" b="0" i="0">
                <a:solidFill>
                  <a:srgbClr val="E8F2EC"/>
                </a:solidFill>
                <a:latin typeface="Consolas"/>
              </a:rPr>
              <a:t>      total: { $sum: "$amount" } } },</a:t>
            </a:r>
          </a:p>
          <a:p>
            <a:pPr algn="l"/>
            <a:r>
              <a:rPr sz="1300" b="0" i="0">
                <a:solidFill>
                  <a:srgbClr val="E8F2EC"/>
                </a:solidFill>
                <a:latin typeface="Consolas"/>
              </a:rPr>
              <a:t>  { $sort: { _id: 1 } } ])</a:t>
            </a:r>
          </a:p>
        </p:txBody>
      </p:sp>
      <p:sp>
        <p:nvSpPr>
          <p:cNvPr id="8" name="TextBox 7"/>
          <p:cNvSpPr txBox="1"/>
          <p:nvPr/>
        </p:nvSpPr>
        <p:spPr>
          <a:xfrm>
            <a:off x="548640" y="4846320"/>
            <a:ext cx="5120640" cy="1280160"/>
          </a:xfrm>
          <a:prstGeom prst="rect">
            <a:avLst/>
          </a:prstGeom>
          <a:noFill/>
        </p:spPr>
        <p:txBody>
          <a:bodyPr wrap="square" lIns="0" rIns="0" tIns="0" bIns="0" anchor="t">
            <a:spAutoFit/>
          </a:bodyPr>
          <a:lstStyle/>
          <a:p>
            <a:pPr algn="l"/>
            <a:r>
              <a:rPr sz="1400" b="0" i="0">
                <a:solidFill>
                  <a:srgbClr val="29354A"/>
                </a:solidFill>
                <a:latin typeface="Calibri"/>
              </a:rPr>
              <a:t>Chính pipeline này chạy trong trang Báo cáo của ứng dụng (ReportService). Kết quả trùng khớp từng byte với cách tính cũ trên 30 truy vấn mẫu.</a:t>
            </a:r>
          </a:p>
        </p:txBody>
      </p:sp>
      <p:graphicFrame>
        <p:nvGraphicFramePr>
          <p:cNvPr id="9" name="Chart 8"/>
          <p:cNvGraphicFramePr>
            <a:graphicFrameLocks noGrp="1"/>
          </p:cNvGraphicFramePr>
          <p:nvPr/>
        </p:nvGraphicFramePr>
        <p:xfrm>
          <a:off x="5943600" y="1508760"/>
          <a:ext cx="5669280" cy="466344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13</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TRUY VẤN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Bộ 12 truy vấn nâng cao chạy trên Compass</a:t>
            </a:r>
          </a:p>
        </p:txBody>
      </p:sp>
      <p:sp>
        <p:nvSpPr>
          <p:cNvPr id="6" name="Rounded Rectangle 5"/>
          <p:cNvSpPr/>
          <p:nvPr/>
        </p:nvSpPr>
        <p:spPr>
          <a:xfrm>
            <a:off x="548640" y="1645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920240"/>
            <a:ext cx="3017520" cy="457200"/>
          </a:xfrm>
          <a:prstGeom prst="rect">
            <a:avLst/>
          </a:prstGeom>
          <a:noFill/>
        </p:spPr>
        <p:txBody>
          <a:bodyPr wrap="square" lIns="0" rIns="0" tIns="0" bIns="0" anchor="t">
            <a:spAutoFit/>
          </a:bodyPr>
          <a:lstStyle/>
          <a:p>
            <a:pPr algn="l"/>
            <a:r>
              <a:rPr sz="1800" b="1" i="0">
                <a:solidFill>
                  <a:srgbClr val="244C43"/>
                </a:solidFill>
                <a:latin typeface="Consolas"/>
              </a:rPr>
              <a:t>$lookup</a:t>
            </a:r>
          </a:p>
        </p:txBody>
      </p:sp>
      <p:sp>
        <p:nvSpPr>
          <p:cNvPr id="8" name="TextBox 7"/>
          <p:cNvSpPr txBox="1"/>
          <p:nvPr/>
        </p:nvSpPr>
        <p:spPr>
          <a:xfrm>
            <a:off x="822959" y="2514600"/>
            <a:ext cx="3017520" cy="1005840"/>
          </a:xfrm>
          <a:prstGeom prst="rect">
            <a:avLst/>
          </a:prstGeom>
          <a:noFill/>
        </p:spPr>
        <p:txBody>
          <a:bodyPr wrap="square" lIns="0" rIns="0" tIns="0" bIns="0" anchor="t">
            <a:spAutoFit/>
          </a:bodyPr>
          <a:lstStyle/>
          <a:p>
            <a:pPr algn="l"/>
            <a:r>
              <a:rPr sz="1500" b="0" i="0">
                <a:solidFill>
                  <a:srgbClr val="29354A"/>
                </a:solidFill>
                <a:latin typeface="Calibri"/>
              </a:rPr>
              <a:t>Hiệu suất KTV: NV-007 giao 48/52 phiếu</a:t>
            </a:r>
          </a:p>
        </p:txBody>
      </p:sp>
      <p:sp>
        <p:nvSpPr>
          <p:cNvPr id="9" name="Rounded Rectangle 8"/>
          <p:cNvSpPr/>
          <p:nvPr/>
        </p:nvSpPr>
        <p:spPr>
          <a:xfrm>
            <a:off x="4297679" y="1645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1999" y="1920240"/>
            <a:ext cx="3017520" cy="457200"/>
          </a:xfrm>
          <a:prstGeom prst="rect">
            <a:avLst/>
          </a:prstGeom>
          <a:noFill/>
        </p:spPr>
        <p:txBody>
          <a:bodyPr wrap="square" lIns="0" rIns="0" tIns="0" bIns="0" anchor="t">
            <a:spAutoFit/>
          </a:bodyPr>
          <a:lstStyle/>
          <a:p>
            <a:pPr algn="l"/>
            <a:r>
              <a:rPr sz="1800" b="1" i="0">
                <a:solidFill>
                  <a:srgbClr val="244C43"/>
                </a:solidFill>
                <a:latin typeface="Consolas"/>
              </a:rPr>
              <a:t>$lookup + pipeline con</a:t>
            </a:r>
          </a:p>
        </p:txBody>
      </p:sp>
      <p:sp>
        <p:nvSpPr>
          <p:cNvPr id="11" name="TextBox 10"/>
          <p:cNvSpPr txBox="1"/>
          <p:nvPr/>
        </p:nvSpPr>
        <p:spPr>
          <a:xfrm>
            <a:off x="4571999" y="2514600"/>
            <a:ext cx="3017520" cy="1005840"/>
          </a:xfrm>
          <a:prstGeom prst="rect">
            <a:avLst/>
          </a:prstGeom>
          <a:noFill/>
        </p:spPr>
        <p:txBody>
          <a:bodyPr wrap="square" lIns="0" rIns="0" tIns="0" bIns="0" anchor="t">
            <a:spAutoFit/>
          </a:bodyPr>
          <a:lstStyle/>
          <a:p>
            <a:pPr algn="l"/>
            <a:r>
              <a:rPr sz="1500" b="0" i="0">
                <a:solidFill>
                  <a:srgbClr val="29354A"/>
                </a:solidFill>
                <a:latin typeface="Calibri"/>
              </a:rPr>
              <a:t>Khách chi nhiều nhất: Đặng Khánh Long, 5.130.000 đ</a:t>
            </a:r>
          </a:p>
        </p:txBody>
      </p:sp>
      <p:sp>
        <p:nvSpPr>
          <p:cNvPr id="12" name="Rounded Rectangle 11"/>
          <p:cNvSpPr/>
          <p:nvPr/>
        </p:nvSpPr>
        <p:spPr>
          <a:xfrm>
            <a:off x="8046719" y="1645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21040" y="1920240"/>
            <a:ext cx="3017520" cy="457200"/>
          </a:xfrm>
          <a:prstGeom prst="rect">
            <a:avLst/>
          </a:prstGeom>
          <a:noFill/>
        </p:spPr>
        <p:txBody>
          <a:bodyPr wrap="square" lIns="0" rIns="0" tIns="0" bIns="0" anchor="t">
            <a:spAutoFit/>
          </a:bodyPr>
          <a:lstStyle/>
          <a:p>
            <a:pPr algn="l"/>
            <a:r>
              <a:rPr sz="1800" b="1" i="0">
                <a:solidFill>
                  <a:srgbClr val="244C43"/>
                </a:solidFill>
                <a:latin typeface="Consolas"/>
              </a:rPr>
              <a:t>$unwind</a:t>
            </a:r>
          </a:p>
        </p:txBody>
      </p:sp>
      <p:sp>
        <p:nvSpPr>
          <p:cNvPr id="14" name="TextBox 13"/>
          <p:cNvSpPr txBox="1"/>
          <p:nvPr/>
        </p:nvSpPr>
        <p:spPr>
          <a:xfrm>
            <a:off x="8321040" y="2514600"/>
            <a:ext cx="3017520" cy="1005840"/>
          </a:xfrm>
          <a:prstGeom prst="rect">
            <a:avLst/>
          </a:prstGeom>
          <a:noFill/>
        </p:spPr>
        <p:txBody>
          <a:bodyPr wrap="square" lIns="0" rIns="0" tIns="0" bIns="0" anchor="t">
            <a:spAutoFit/>
          </a:bodyPr>
          <a:lstStyle/>
          <a:p>
            <a:pPr algn="l"/>
            <a:r>
              <a:rPr sz="1500" b="0" i="0">
                <a:solidFill>
                  <a:srgbClr val="29354A"/>
                </a:solidFill>
                <a:latin typeface="Calibri"/>
              </a:rPr>
              <a:t>Linh kiện xuất nhiều nhất: Màn hình điện thoại OLED (18)</a:t>
            </a:r>
          </a:p>
        </p:txBody>
      </p:sp>
      <p:sp>
        <p:nvSpPr>
          <p:cNvPr id="15" name="Rounded Rectangle 14"/>
          <p:cNvSpPr/>
          <p:nvPr/>
        </p:nvSpPr>
        <p:spPr>
          <a:xfrm>
            <a:off x="548640" y="3931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59" y="4206240"/>
            <a:ext cx="3017520" cy="457200"/>
          </a:xfrm>
          <a:prstGeom prst="rect">
            <a:avLst/>
          </a:prstGeom>
          <a:noFill/>
        </p:spPr>
        <p:txBody>
          <a:bodyPr wrap="square" lIns="0" rIns="0" tIns="0" bIns="0" anchor="t">
            <a:spAutoFit/>
          </a:bodyPr>
          <a:lstStyle/>
          <a:p>
            <a:pPr algn="l"/>
            <a:r>
              <a:rPr sz="1800" b="1" i="0">
                <a:solidFill>
                  <a:srgbClr val="244C43"/>
                </a:solidFill>
                <a:latin typeface="Consolas"/>
              </a:rPr>
              <a:t>$facet</a:t>
            </a:r>
          </a:p>
        </p:txBody>
      </p:sp>
      <p:sp>
        <p:nvSpPr>
          <p:cNvPr id="17" name="TextBox 16"/>
          <p:cNvSpPr txBox="1"/>
          <p:nvPr/>
        </p:nvSpPr>
        <p:spPr>
          <a:xfrm>
            <a:off x="822959" y="4800600"/>
            <a:ext cx="3017520" cy="1005840"/>
          </a:xfrm>
          <a:prstGeom prst="rect">
            <a:avLst/>
          </a:prstGeom>
          <a:noFill/>
        </p:spPr>
        <p:txBody>
          <a:bodyPr wrap="square" lIns="0" rIns="0" tIns="0" bIns="0" anchor="t">
            <a:spAutoFit/>
          </a:bodyPr>
          <a:lstStyle/>
          <a:p>
            <a:pPr algn="l"/>
            <a:r>
              <a:rPr sz="1500" b="0" i="0">
                <a:solidFill>
                  <a:srgbClr val="29354A"/>
                </a:solidFill>
                <a:latin typeface="Calibri"/>
              </a:rPr>
              <a:t>Thời gian xử lý tổng thể và theo nhóm thiết bị trong một lượt</a:t>
            </a:r>
          </a:p>
        </p:txBody>
      </p:sp>
      <p:sp>
        <p:nvSpPr>
          <p:cNvPr id="18" name="Rounded Rectangle 17"/>
          <p:cNvSpPr/>
          <p:nvPr/>
        </p:nvSpPr>
        <p:spPr>
          <a:xfrm>
            <a:off x="4297679" y="3931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1999" y="4206240"/>
            <a:ext cx="3017520" cy="457200"/>
          </a:xfrm>
          <a:prstGeom prst="rect">
            <a:avLst/>
          </a:prstGeom>
          <a:noFill/>
        </p:spPr>
        <p:txBody>
          <a:bodyPr wrap="square" lIns="0" rIns="0" tIns="0" bIns="0" anchor="t">
            <a:spAutoFit/>
          </a:bodyPr>
          <a:lstStyle/>
          <a:p>
            <a:pPr algn="l"/>
            <a:r>
              <a:rPr sz="1800" b="1" i="0">
                <a:solidFill>
                  <a:srgbClr val="244C43"/>
                </a:solidFill>
                <a:latin typeface="Consolas"/>
              </a:rPr>
              <a:t>$setWindowFields</a:t>
            </a:r>
          </a:p>
        </p:txBody>
      </p:sp>
      <p:sp>
        <p:nvSpPr>
          <p:cNvPr id="20" name="TextBox 19"/>
          <p:cNvSpPr txBox="1"/>
          <p:nvPr/>
        </p:nvSpPr>
        <p:spPr>
          <a:xfrm>
            <a:off x="4571999" y="4800600"/>
            <a:ext cx="3017520" cy="1005840"/>
          </a:xfrm>
          <a:prstGeom prst="rect">
            <a:avLst/>
          </a:prstGeom>
          <a:noFill/>
        </p:spPr>
        <p:txBody>
          <a:bodyPr wrap="square" lIns="0" rIns="0" tIns="0" bIns="0" anchor="t">
            <a:spAutoFit/>
          </a:bodyPr>
          <a:lstStyle/>
          <a:p>
            <a:pPr algn="l"/>
            <a:r>
              <a:rPr sz="1500" b="0" i="0">
                <a:solidFill>
                  <a:srgbClr val="29354A"/>
                </a:solidFill>
                <a:latin typeface="Calibri"/>
              </a:rPr>
              <a:t>Doanh thu lũy kế theo tháng; $bucket chia điểm đánh giá</a:t>
            </a:r>
          </a:p>
        </p:txBody>
      </p:sp>
      <p:sp>
        <p:nvSpPr>
          <p:cNvPr id="21" name="Rounded Rectangle 20"/>
          <p:cNvSpPr/>
          <p:nvPr/>
        </p:nvSpPr>
        <p:spPr>
          <a:xfrm>
            <a:off x="8046719" y="3931920"/>
            <a:ext cx="3474720" cy="20116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21040" y="4206240"/>
            <a:ext cx="3017520" cy="457200"/>
          </a:xfrm>
          <a:prstGeom prst="rect">
            <a:avLst/>
          </a:prstGeom>
          <a:noFill/>
        </p:spPr>
        <p:txBody>
          <a:bodyPr wrap="square" lIns="0" rIns="0" tIns="0" bIns="0" anchor="t">
            <a:spAutoFit/>
          </a:bodyPr>
          <a:lstStyle/>
          <a:p>
            <a:pPr algn="l"/>
            <a:r>
              <a:rPr sz="1800" b="1" i="0">
                <a:solidFill>
                  <a:srgbClr val="244C43"/>
                </a:solidFill>
                <a:latin typeface="Consolas"/>
              </a:rPr>
              <a:t>$text · $merge</a:t>
            </a:r>
          </a:p>
        </p:txBody>
      </p:sp>
      <p:sp>
        <p:nvSpPr>
          <p:cNvPr id="23" name="TextBox 22"/>
          <p:cNvSpPr txBox="1"/>
          <p:nvPr/>
        </p:nvSpPr>
        <p:spPr>
          <a:xfrm>
            <a:off x="8321040" y="4800600"/>
            <a:ext cx="3017520" cy="1005840"/>
          </a:xfrm>
          <a:prstGeom prst="rect">
            <a:avLst/>
          </a:prstGeom>
          <a:noFill/>
        </p:spPr>
        <p:txBody>
          <a:bodyPr wrap="square" lIns="0" rIns="0" tIns="0" bIns="0" anchor="t">
            <a:spAutoFit/>
          </a:bodyPr>
          <a:lstStyle/>
          <a:p>
            <a:pPr algn="l"/>
            <a:r>
              <a:rPr sz="1500" b="0" i="0">
                <a:solidFill>
                  <a:srgbClr val="29354A"/>
                </a:solidFill>
                <a:latin typeface="Calibri"/>
              </a:rPr>
              <a:t>Tìm “nguồn” (45 phiếu); lưu báo cáo thành collection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14</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TRUY VẤN</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Explain: chỉ mục đọc đúng số document cần</a:t>
            </a:r>
          </a:p>
        </p:txBody>
      </p:sp>
      <p:graphicFrame>
        <p:nvGraphicFramePr>
          <p:cNvPr id="6" name="Chart 5"/>
          <p:cNvGraphicFramePr>
            <a:graphicFrameLocks noGrp="1"/>
          </p:cNvGraphicFramePr>
          <p:nvPr/>
        </p:nvGraphicFramePr>
        <p:xfrm>
          <a:off x="548640" y="1554480"/>
          <a:ext cx="7132320" cy="4572000"/>
        </p:xfrm>
        <a:graphic>
          <a:graphicData uri="http://schemas.openxmlformats.org/drawingml/2006/chart">
            <c:chart xmlns:c="http://schemas.openxmlformats.org/drawingml/2006/chart" r:id="rId2"/>
          </a:graphicData>
        </a:graphic>
      </p:graphicFrame>
      <p:sp>
        <p:nvSpPr>
          <p:cNvPr id="7" name="TextBox 6"/>
          <p:cNvSpPr txBox="1"/>
          <p:nvPr/>
        </p:nvSpPr>
        <p:spPr>
          <a:xfrm>
            <a:off x="8046720" y="1600200"/>
            <a:ext cx="3566160" cy="365760"/>
          </a:xfrm>
          <a:prstGeom prst="rect">
            <a:avLst/>
          </a:prstGeom>
          <a:noFill/>
        </p:spPr>
        <p:txBody>
          <a:bodyPr wrap="square" lIns="0" rIns="0" tIns="0" bIns="0" anchor="t">
            <a:spAutoFit/>
          </a:bodyPr>
          <a:lstStyle/>
          <a:p>
            <a:pPr algn="l"/>
            <a:r>
              <a:rPr sz="1800" b="1" i="0">
                <a:solidFill>
                  <a:srgbClr val="1B3C35"/>
                </a:solidFill>
                <a:latin typeface="Cambria"/>
              </a:rPr>
              <a:t>Kế hoạch thực thi</a:t>
            </a:r>
          </a:p>
        </p:txBody>
      </p:sp>
      <p:sp>
        <p:nvSpPr>
          <p:cNvPr id="8" name="Rounded Rectangle 7"/>
          <p:cNvSpPr/>
          <p:nvPr/>
        </p:nvSpPr>
        <p:spPr>
          <a:xfrm>
            <a:off x="8046720" y="2103120"/>
            <a:ext cx="1325880" cy="566928"/>
          </a:xfrm>
          <a:prstGeom prst="roundRect">
            <a:avLst>
              <a:gd name="adj" fmla="val 2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0" y="2240279"/>
            <a:ext cx="1325880" cy="320040"/>
          </a:xfrm>
          <a:prstGeom prst="rect">
            <a:avLst/>
          </a:prstGeom>
          <a:noFill/>
        </p:spPr>
        <p:txBody>
          <a:bodyPr wrap="square" lIns="0" rIns="0" tIns="0" bIns="0" anchor="t">
            <a:spAutoFit/>
          </a:bodyPr>
          <a:lstStyle/>
          <a:p>
            <a:pPr algn="ctr"/>
            <a:r>
              <a:rPr sz="1300" b="1" i="0">
                <a:solidFill>
                  <a:srgbClr val="FFFFFF"/>
                </a:solidFill>
                <a:latin typeface="Calibri"/>
              </a:rPr>
              <a:t>IXSCAN</a:t>
            </a:r>
          </a:p>
        </p:txBody>
      </p:sp>
      <p:sp>
        <p:nvSpPr>
          <p:cNvPr id="10" name="TextBox 9"/>
          <p:cNvSpPr txBox="1"/>
          <p:nvPr/>
        </p:nvSpPr>
        <p:spPr>
          <a:xfrm>
            <a:off x="9509760" y="2231136"/>
            <a:ext cx="2194560" cy="365760"/>
          </a:xfrm>
          <a:prstGeom prst="rect">
            <a:avLst/>
          </a:prstGeom>
          <a:noFill/>
        </p:spPr>
        <p:txBody>
          <a:bodyPr wrap="square" lIns="0" rIns="0" tIns="0" bIns="0" anchor="t">
            <a:spAutoFit/>
          </a:bodyPr>
          <a:lstStyle/>
          <a:p>
            <a:pPr algn="l"/>
            <a:r>
              <a:rPr sz="1300" b="0" i="0">
                <a:solidFill>
                  <a:srgbClr val="29354A"/>
                </a:solidFill>
                <a:latin typeface="Consolas"/>
              </a:rPr>
              <a:t>ticket_customer</a:t>
            </a:r>
          </a:p>
        </p:txBody>
      </p:sp>
      <p:sp>
        <p:nvSpPr>
          <p:cNvPr id="11" name="Rounded Rectangle 10"/>
          <p:cNvSpPr/>
          <p:nvPr/>
        </p:nvSpPr>
        <p:spPr>
          <a:xfrm>
            <a:off x="8046720" y="2880360"/>
            <a:ext cx="1325880" cy="566928"/>
          </a:xfrm>
          <a:prstGeom prst="roundRect">
            <a:avLst>
              <a:gd name="adj" fmla="val 2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0" y="3017520"/>
            <a:ext cx="1325880" cy="320040"/>
          </a:xfrm>
          <a:prstGeom prst="rect">
            <a:avLst/>
          </a:prstGeom>
          <a:noFill/>
        </p:spPr>
        <p:txBody>
          <a:bodyPr wrap="square" lIns="0" rIns="0" tIns="0" bIns="0" anchor="t">
            <a:spAutoFit/>
          </a:bodyPr>
          <a:lstStyle/>
          <a:p>
            <a:pPr algn="ctr"/>
            <a:r>
              <a:rPr sz="1300" b="1" i="0">
                <a:solidFill>
                  <a:srgbClr val="FFFFFF"/>
                </a:solidFill>
                <a:latin typeface="Calibri"/>
              </a:rPr>
              <a:t>IXSCAN</a:t>
            </a:r>
          </a:p>
        </p:txBody>
      </p:sp>
      <p:sp>
        <p:nvSpPr>
          <p:cNvPr id="13" name="TextBox 12"/>
          <p:cNvSpPr txBox="1"/>
          <p:nvPr/>
        </p:nvSpPr>
        <p:spPr>
          <a:xfrm>
            <a:off x="9509760" y="3008376"/>
            <a:ext cx="2194560" cy="365760"/>
          </a:xfrm>
          <a:prstGeom prst="rect">
            <a:avLst/>
          </a:prstGeom>
          <a:noFill/>
        </p:spPr>
        <p:txBody>
          <a:bodyPr wrap="square" lIns="0" rIns="0" tIns="0" bIns="0" anchor="t">
            <a:spAutoFit/>
          </a:bodyPr>
          <a:lstStyle/>
          <a:p>
            <a:pPr algn="l"/>
            <a:r>
              <a:rPr sz="1300" b="0" i="0">
                <a:solidFill>
                  <a:srgbClr val="29354A"/>
                </a:solidFill>
                <a:latin typeface="Consolas"/>
              </a:rPr>
              <a:t>ticket_technician</a:t>
            </a:r>
          </a:p>
        </p:txBody>
      </p:sp>
      <p:sp>
        <p:nvSpPr>
          <p:cNvPr id="14" name="Rounded Rectangle 13"/>
          <p:cNvSpPr/>
          <p:nvPr/>
        </p:nvSpPr>
        <p:spPr>
          <a:xfrm>
            <a:off x="8046720" y="3657600"/>
            <a:ext cx="1325880" cy="566928"/>
          </a:xfrm>
          <a:prstGeom prst="roundRect">
            <a:avLst>
              <a:gd name="adj" fmla="val 2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46720" y="3794760"/>
            <a:ext cx="1325880" cy="320040"/>
          </a:xfrm>
          <a:prstGeom prst="rect">
            <a:avLst/>
          </a:prstGeom>
          <a:noFill/>
        </p:spPr>
        <p:txBody>
          <a:bodyPr wrap="square" lIns="0" rIns="0" tIns="0" bIns="0" anchor="t">
            <a:spAutoFit/>
          </a:bodyPr>
          <a:lstStyle/>
          <a:p>
            <a:pPr algn="ctr"/>
            <a:r>
              <a:rPr sz="1300" b="1" i="0">
                <a:solidFill>
                  <a:srgbClr val="FFFFFF"/>
                </a:solidFill>
                <a:latin typeface="Calibri"/>
              </a:rPr>
              <a:t>IXSCAN</a:t>
            </a:r>
          </a:p>
        </p:txBody>
      </p:sp>
      <p:sp>
        <p:nvSpPr>
          <p:cNvPr id="16" name="TextBox 15"/>
          <p:cNvSpPr txBox="1"/>
          <p:nvPr/>
        </p:nvSpPr>
        <p:spPr>
          <a:xfrm>
            <a:off x="9509760" y="3785615"/>
            <a:ext cx="2194560" cy="365760"/>
          </a:xfrm>
          <a:prstGeom prst="rect">
            <a:avLst/>
          </a:prstGeom>
          <a:noFill/>
        </p:spPr>
        <p:txBody>
          <a:bodyPr wrap="square" lIns="0" rIns="0" tIns="0" bIns="0" anchor="t">
            <a:spAutoFit/>
          </a:bodyPr>
          <a:lstStyle/>
          <a:p>
            <a:pPr algn="l"/>
            <a:r>
              <a:rPr sz="1300" b="0" i="0">
                <a:solidFill>
                  <a:srgbClr val="29354A"/>
                </a:solidFill>
                <a:latin typeface="Consolas"/>
              </a:rPr>
              <a:t>ticket_text</a:t>
            </a:r>
          </a:p>
        </p:txBody>
      </p:sp>
      <p:sp>
        <p:nvSpPr>
          <p:cNvPr id="17" name="Rounded Rectangle 16"/>
          <p:cNvSpPr/>
          <p:nvPr/>
        </p:nvSpPr>
        <p:spPr>
          <a:xfrm>
            <a:off x="8046720" y="4434840"/>
            <a:ext cx="1325880" cy="566928"/>
          </a:xfrm>
          <a:prstGeom prst="roundRect">
            <a:avLst>
              <a:gd name="adj" fmla="val 20000"/>
            </a:avLst>
          </a:prstGeom>
          <a:solidFill>
            <a:srgbClr val="8B4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4572000"/>
            <a:ext cx="1325880" cy="320040"/>
          </a:xfrm>
          <a:prstGeom prst="rect">
            <a:avLst/>
          </a:prstGeom>
          <a:noFill/>
        </p:spPr>
        <p:txBody>
          <a:bodyPr wrap="square" lIns="0" rIns="0" tIns="0" bIns="0" anchor="t">
            <a:spAutoFit/>
          </a:bodyPr>
          <a:lstStyle/>
          <a:p>
            <a:pPr algn="ctr"/>
            <a:r>
              <a:rPr sz="1300" b="1" i="0">
                <a:solidFill>
                  <a:srgbClr val="FFFFFF"/>
                </a:solidFill>
                <a:latin typeface="Calibri"/>
              </a:rPr>
              <a:t>COLLSCAN</a:t>
            </a:r>
          </a:p>
        </p:txBody>
      </p:sp>
      <p:sp>
        <p:nvSpPr>
          <p:cNvPr id="19" name="TextBox 18"/>
          <p:cNvSpPr txBox="1"/>
          <p:nvPr/>
        </p:nvSpPr>
        <p:spPr>
          <a:xfrm>
            <a:off x="9509760" y="4562855"/>
            <a:ext cx="2194560" cy="365760"/>
          </a:xfrm>
          <a:prstGeom prst="rect">
            <a:avLst/>
          </a:prstGeom>
          <a:noFill/>
        </p:spPr>
        <p:txBody>
          <a:bodyPr wrap="square" lIns="0" rIns="0" tIns="0" bIns="0" anchor="t">
            <a:spAutoFit/>
          </a:bodyPr>
          <a:lstStyle/>
          <a:p>
            <a:pPr algn="l"/>
            <a:r>
              <a:rPr sz="1300" b="0" i="0">
                <a:solidFill>
                  <a:srgbClr val="29354A"/>
                </a:solidFill>
                <a:latin typeface="Consolas"/>
              </a:rPr>
              <a:t>không có index</a:t>
            </a:r>
          </a:p>
        </p:txBody>
      </p:sp>
      <p:sp>
        <p:nvSpPr>
          <p:cNvPr id="20" name="TextBox 19"/>
          <p:cNvSpPr txBox="1"/>
          <p:nvPr/>
        </p:nvSpPr>
        <p:spPr>
          <a:xfrm>
            <a:off x="8046720" y="5257800"/>
            <a:ext cx="3566160" cy="868680"/>
          </a:xfrm>
          <a:prstGeom prst="rect">
            <a:avLst/>
          </a:prstGeom>
          <a:noFill/>
        </p:spPr>
        <p:txBody>
          <a:bodyPr wrap="square" lIns="0" rIns="0" tIns="0" bIns="0" anchor="t">
            <a:spAutoFit/>
          </a:bodyPr>
          <a:lstStyle/>
          <a:p>
            <a:pPr algn="l"/>
            <a:r>
              <a:rPr sz="1400" b="0" i="0">
                <a:solidFill>
                  <a:srgbClr val="29354A"/>
                </a:solidFill>
                <a:latin typeface="Calibri"/>
              </a:rPr>
              <a:t>Không index: đọc 197 phiếu để lấy 11. Có index: tỉ lệ đọc/trả về =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15</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VẬN HÀNH</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Import/Export, sao lưu và khôi phục</a:t>
            </a:r>
          </a:p>
        </p:txBody>
      </p:sp>
      <p:sp>
        <p:nvSpPr>
          <p:cNvPr id="6" name="Rounded Rectangle 5"/>
          <p:cNvSpPr/>
          <p:nvPr/>
        </p:nvSpPr>
        <p:spPr>
          <a:xfrm>
            <a:off x="548640" y="1600200"/>
            <a:ext cx="3474720" cy="45262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10512"/>
            <a:ext cx="3017520" cy="731520"/>
          </a:xfrm>
          <a:prstGeom prst="rect">
            <a:avLst/>
          </a:prstGeom>
          <a:noFill/>
        </p:spPr>
        <p:txBody>
          <a:bodyPr wrap="square" lIns="0" rIns="0" tIns="0" bIns="0" anchor="t">
            <a:spAutoFit/>
          </a:bodyPr>
          <a:lstStyle/>
          <a:p>
            <a:pPr algn="l"/>
            <a:r>
              <a:rPr sz="1800" b="1" i="0">
                <a:solidFill>
                  <a:srgbClr val="1B3C35"/>
                </a:solidFill>
                <a:latin typeface="Cambria"/>
              </a:rPr>
              <a:t>mongodump / mongorestore</a:t>
            </a:r>
          </a:p>
        </p:txBody>
      </p:sp>
      <p:sp>
        <p:nvSpPr>
          <p:cNvPr id="8" name="TextBox 7"/>
          <p:cNvSpPr txBox="1"/>
          <p:nvPr/>
        </p:nvSpPr>
        <p:spPr>
          <a:xfrm>
            <a:off x="822959" y="2542032"/>
            <a:ext cx="3017520" cy="365760"/>
          </a:xfrm>
          <a:prstGeom prst="rect">
            <a:avLst/>
          </a:prstGeom>
          <a:noFill/>
        </p:spPr>
        <p:txBody>
          <a:bodyPr wrap="square" lIns="0" rIns="0" tIns="0" bIns="0" anchor="t">
            <a:spAutoFit/>
          </a:bodyPr>
          <a:lstStyle/>
          <a:p>
            <a:pPr algn="l"/>
            <a:r>
              <a:rPr sz="1200" b="0" i="0">
                <a:solidFill>
                  <a:srgbClr val="62716C"/>
                </a:solidFill>
                <a:latin typeface="Consolas"/>
              </a:rPr>
              <a:t>backup.ps1 · restore.ps1</a:t>
            </a:r>
          </a:p>
        </p:txBody>
      </p:sp>
      <p:sp>
        <p:nvSpPr>
          <p:cNvPr id="9" name="TextBox 8"/>
          <p:cNvSpPr txBox="1"/>
          <p:nvPr/>
        </p:nvSpPr>
        <p:spPr>
          <a:xfrm>
            <a:off x="822959" y="3017520"/>
            <a:ext cx="3017520" cy="1828800"/>
          </a:xfrm>
          <a:prstGeom prst="rect">
            <a:avLst/>
          </a:prstGeom>
          <a:noFill/>
        </p:spPr>
        <p:txBody>
          <a:bodyPr wrap="square" lIns="0" rIns="0" tIns="0" bIns="0" anchor="t">
            <a:spAutoFit/>
          </a:bodyPr>
          <a:lstStyle/>
          <a:p>
            <a:pPr algn="l">
              <a:spcAft>
                <a:spcPts val="600"/>
              </a:spcAft>
            </a:pPr>
            <a:r>
              <a:rPr sz="1400" b="0" i="0">
                <a:solidFill>
                  <a:srgbClr val="29354A"/>
                </a:solidFill>
                <a:latin typeface="Calibri"/>
              </a:rPr>
              <a:t>– Archive BSON nén gzip, kèm tệp đính kèm</a:t>
            </a:r>
          </a:p>
          <a:p>
            <a:pPr algn="l">
              <a:spcAft>
                <a:spcPts val="600"/>
              </a:spcAft>
            </a:pPr>
            <a:r>
              <a:rPr sz="1400" b="0" i="0">
                <a:solidFill>
                  <a:srgbClr val="29354A"/>
                </a:solidFill>
                <a:latin typeface="Calibri"/>
              </a:rPr>
              <a:t>– Khôi phục vào database mới bằng --nsFrom/--nsTo</a:t>
            </a:r>
          </a:p>
          <a:p>
            <a:pPr algn="l">
              <a:spcAft>
                <a:spcPts val="600"/>
              </a:spcAft>
            </a:pPr>
            <a:r>
              <a:rPr sz="1400" b="0" i="0">
                <a:solidFill>
                  <a:srgbClr val="29354A"/>
                </a:solidFill>
                <a:latin typeface="Calibri"/>
              </a:rPr>
              <a:t>– Từ chối ghi đè database đang có</a:t>
            </a:r>
          </a:p>
        </p:txBody>
      </p:sp>
      <p:sp>
        <p:nvSpPr>
          <p:cNvPr id="10" name="Rounded Rectangle 9"/>
          <p:cNvSpPr/>
          <p:nvPr/>
        </p:nvSpPr>
        <p:spPr>
          <a:xfrm>
            <a:off x="731520" y="5074920"/>
            <a:ext cx="3108960" cy="868680"/>
          </a:xfrm>
          <a:prstGeom prst="roundRect">
            <a:avLst>
              <a:gd name="adj" fmla="val 1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5138928"/>
            <a:ext cx="2834640" cy="731520"/>
          </a:xfrm>
          <a:prstGeom prst="rect">
            <a:avLst/>
          </a:prstGeom>
          <a:noFill/>
        </p:spPr>
        <p:txBody>
          <a:bodyPr wrap="square" lIns="0" rIns="0" tIns="0" bIns="0" anchor="ctr">
            <a:spAutoFit/>
          </a:bodyPr>
          <a:lstStyle/>
          <a:p>
            <a:pPr algn="ctr"/>
            <a:r>
              <a:rPr sz="1300" b="1" i="0">
                <a:solidFill>
                  <a:srgbClr val="FFFFFF"/>
                </a:solidFill>
                <a:latin typeface="Calibri"/>
              </a:rPr>
              <a:t>4.532 / 4.532 document · đủ validator, TTL</a:t>
            </a:r>
          </a:p>
        </p:txBody>
      </p:sp>
      <p:sp>
        <p:nvSpPr>
          <p:cNvPr id="12" name="Rounded Rectangle 11"/>
          <p:cNvSpPr/>
          <p:nvPr/>
        </p:nvSpPr>
        <p:spPr>
          <a:xfrm>
            <a:off x="4297679" y="1600200"/>
            <a:ext cx="3474720" cy="45262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1999" y="1810512"/>
            <a:ext cx="3017520" cy="731520"/>
          </a:xfrm>
          <a:prstGeom prst="rect">
            <a:avLst/>
          </a:prstGeom>
          <a:noFill/>
        </p:spPr>
        <p:txBody>
          <a:bodyPr wrap="square" lIns="0" rIns="0" tIns="0" bIns="0" anchor="t">
            <a:spAutoFit/>
          </a:bodyPr>
          <a:lstStyle/>
          <a:p>
            <a:pPr algn="l"/>
            <a:r>
              <a:rPr sz="1800" b="1" i="0">
                <a:solidFill>
                  <a:srgbClr val="1B3C35"/>
                </a:solidFill>
                <a:latin typeface="Cambria"/>
              </a:rPr>
              <a:t>mongoexport / mongoimport</a:t>
            </a:r>
          </a:p>
        </p:txBody>
      </p:sp>
      <p:sp>
        <p:nvSpPr>
          <p:cNvPr id="14" name="TextBox 13"/>
          <p:cNvSpPr txBox="1"/>
          <p:nvPr/>
        </p:nvSpPr>
        <p:spPr>
          <a:xfrm>
            <a:off x="4571999" y="2542032"/>
            <a:ext cx="3017520" cy="365760"/>
          </a:xfrm>
          <a:prstGeom prst="rect">
            <a:avLst/>
          </a:prstGeom>
          <a:noFill/>
        </p:spPr>
        <p:txBody>
          <a:bodyPr wrap="square" lIns="0" rIns="0" tIns="0" bIns="0" anchor="t">
            <a:spAutoFit/>
          </a:bodyPr>
          <a:lstStyle/>
          <a:p>
            <a:pPr algn="l"/>
            <a:r>
              <a:rPr sz="1200" b="0" i="0">
                <a:solidFill>
                  <a:srgbClr val="62716C"/>
                </a:solidFill>
                <a:latin typeface="Consolas"/>
              </a:rPr>
              <a:t>Compass: Export Data · Import</a:t>
            </a:r>
          </a:p>
        </p:txBody>
      </p:sp>
      <p:sp>
        <p:nvSpPr>
          <p:cNvPr id="15" name="TextBox 14"/>
          <p:cNvSpPr txBox="1"/>
          <p:nvPr/>
        </p:nvSpPr>
        <p:spPr>
          <a:xfrm>
            <a:off x="4571999" y="3017520"/>
            <a:ext cx="3017520" cy="1828800"/>
          </a:xfrm>
          <a:prstGeom prst="rect">
            <a:avLst/>
          </a:prstGeom>
          <a:noFill/>
        </p:spPr>
        <p:txBody>
          <a:bodyPr wrap="square" lIns="0" rIns="0" tIns="0" bIns="0" anchor="t">
            <a:spAutoFit/>
          </a:bodyPr>
          <a:lstStyle/>
          <a:p>
            <a:pPr algn="l">
              <a:spcAft>
                <a:spcPts val="600"/>
              </a:spcAft>
            </a:pPr>
            <a:r>
              <a:rPr sz="1400" b="0" i="0">
                <a:solidFill>
                  <a:srgbClr val="29354A"/>
                </a:solidFill>
                <a:latin typeface="Calibri"/>
              </a:rPr>
              <a:t>– JSON canonical giữ kiểu Date, Decimal128</a:t>
            </a:r>
          </a:p>
          <a:p>
            <a:pPr algn="l">
              <a:spcAft>
                <a:spcPts val="600"/>
              </a:spcAft>
            </a:pPr>
            <a:r>
              <a:rPr sz="1400" b="0" i="0">
                <a:solidFill>
                  <a:srgbClr val="29354A"/>
                </a:solidFill>
                <a:latin typeface="Calibri"/>
              </a:rPr>
              <a:t>– CSV mở bằng Excel</a:t>
            </a:r>
          </a:p>
          <a:p>
            <a:pPr algn="l">
              <a:spcAft>
                <a:spcPts val="600"/>
              </a:spcAft>
            </a:pPr>
            <a:r>
              <a:rPr sz="1400" b="0" i="0">
                <a:solidFill>
                  <a:srgbClr val="29354A"/>
                </a:solidFill>
                <a:latin typeface="Calibri"/>
              </a:rPr>
              <a:t>– Xuất theo điều kiện --query</a:t>
            </a:r>
          </a:p>
        </p:txBody>
      </p:sp>
      <p:sp>
        <p:nvSpPr>
          <p:cNvPr id="16" name="Rounded Rectangle 15"/>
          <p:cNvSpPr/>
          <p:nvPr/>
        </p:nvSpPr>
        <p:spPr>
          <a:xfrm>
            <a:off x="4480559" y="5074920"/>
            <a:ext cx="3108960" cy="868680"/>
          </a:xfrm>
          <a:prstGeom prst="roundRect">
            <a:avLst>
              <a:gd name="adj" fmla="val 1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7719" y="5138928"/>
            <a:ext cx="2834640" cy="731520"/>
          </a:xfrm>
          <a:prstGeom prst="rect">
            <a:avLst/>
          </a:prstGeom>
          <a:noFill/>
        </p:spPr>
        <p:txBody>
          <a:bodyPr wrap="square" lIns="0" rIns="0" tIns="0" bIns="0" anchor="ctr">
            <a:spAutoFit/>
          </a:bodyPr>
          <a:lstStyle/>
          <a:p>
            <a:pPr algn="ctr"/>
            <a:r>
              <a:rPr sz="1300" b="1" i="0">
                <a:solidFill>
                  <a:srgbClr val="FFFFFF"/>
                </a:solidFill>
                <a:latin typeface="Calibri"/>
              </a:rPr>
              <a:t>84 khách hàng xuất – nhập, giữ nguyên kiểu</a:t>
            </a:r>
          </a:p>
        </p:txBody>
      </p:sp>
      <p:sp>
        <p:nvSpPr>
          <p:cNvPr id="18" name="Rounded Rectangle 17"/>
          <p:cNvSpPr/>
          <p:nvPr/>
        </p:nvSpPr>
        <p:spPr>
          <a:xfrm>
            <a:off x="8046719" y="1600200"/>
            <a:ext cx="3474720" cy="452628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21040" y="1810512"/>
            <a:ext cx="3017520" cy="731520"/>
          </a:xfrm>
          <a:prstGeom prst="rect">
            <a:avLst/>
          </a:prstGeom>
          <a:noFill/>
        </p:spPr>
        <p:txBody>
          <a:bodyPr wrap="square" lIns="0" rIns="0" tIns="0" bIns="0" anchor="t">
            <a:spAutoFit/>
          </a:bodyPr>
          <a:lstStyle/>
          <a:p>
            <a:pPr algn="l"/>
            <a:r>
              <a:rPr sz="1800" b="1" i="0">
                <a:solidFill>
                  <a:srgbClr val="1B3C35"/>
                </a:solidFill>
                <a:latin typeface="Cambria"/>
              </a:rPr>
              <a:t>Sao lưu trên trang quản trị</a:t>
            </a:r>
          </a:p>
        </p:txBody>
      </p:sp>
      <p:sp>
        <p:nvSpPr>
          <p:cNvPr id="20" name="TextBox 19"/>
          <p:cNvSpPr txBox="1"/>
          <p:nvPr/>
        </p:nvSpPr>
        <p:spPr>
          <a:xfrm>
            <a:off x="8321040" y="2542032"/>
            <a:ext cx="3017520" cy="365760"/>
          </a:xfrm>
          <a:prstGeom prst="rect">
            <a:avLst/>
          </a:prstGeom>
          <a:noFill/>
        </p:spPr>
        <p:txBody>
          <a:bodyPr wrap="square" lIns="0" rIns="0" tIns="0" bIns="0" anchor="t">
            <a:spAutoFit/>
          </a:bodyPr>
          <a:lstStyle/>
          <a:p>
            <a:pPr algn="l"/>
            <a:r>
              <a:rPr sz="1200" b="0" i="0">
                <a:solidFill>
                  <a:srgbClr val="62716C"/>
                </a:solidFill>
                <a:latin typeface="Consolas"/>
              </a:rPr>
              <a:t>GET /api/v1/admin/backup</a:t>
            </a:r>
          </a:p>
        </p:txBody>
      </p:sp>
      <p:sp>
        <p:nvSpPr>
          <p:cNvPr id="21" name="TextBox 20"/>
          <p:cNvSpPr txBox="1"/>
          <p:nvPr/>
        </p:nvSpPr>
        <p:spPr>
          <a:xfrm>
            <a:off x="8321040" y="3017520"/>
            <a:ext cx="3017520" cy="1828800"/>
          </a:xfrm>
          <a:prstGeom prst="rect">
            <a:avLst/>
          </a:prstGeom>
          <a:noFill/>
        </p:spPr>
        <p:txBody>
          <a:bodyPr wrap="square" lIns="0" rIns="0" tIns="0" bIns="0" anchor="t">
            <a:spAutoFit/>
          </a:bodyPr>
          <a:lstStyle/>
          <a:p>
            <a:pPr algn="l">
              <a:spcAft>
                <a:spcPts val="600"/>
              </a:spcAft>
            </a:pPr>
            <a:r>
              <a:rPr sz="1400" b="0" i="0">
                <a:solidFill>
                  <a:srgbClr val="29354A"/>
                </a:solidFill>
                <a:latin typeface="Calibri"/>
              </a:rPr>
              <a:t>– Zip Extended JSON + manifest + restore.js</a:t>
            </a:r>
          </a:p>
          <a:p>
            <a:pPr algn="l">
              <a:spcAft>
                <a:spcPts val="600"/>
              </a:spcAft>
            </a:pPr>
            <a:r>
              <a:rPr sz="1400" b="0" i="0">
                <a:solidFill>
                  <a:srgbClr val="29354A"/>
                </a:solidFill>
                <a:latin typeface="Calibri"/>
              </a:rPr>
              <a:t>– Bỏ băm mật khẩu, token, OTP</a:t>
            </a:r>
          </a:p>
          <a:p>
            <a:pPr algn="l">
              <a:spcAft>
                <a:spcPts val="600"/>
              </a:spcAft>
            </a:pPr>
            <a:r>
              <a:rPr sz="1400" b="0" i="0">
                <a:solidFill>
                  <a:srgbClr val="29354A"/>
                </a:solidFill>
                <a:latin typeface="Calibri"/>
              </a:rPr>
              <a:t>– Ghi nhật ký DATABASE_BACKUP</a:t>
            </a:r>
          </a:p>
        </p:txBody>
      </p:sp>
      <p:sp>
        <p:nvSpPr>
          <p:cNvPr id="22" name="Rounded Rectangle 21"/>
          <p:cNvSpPr/>
          <p:nvPr/>
        </p:nvSpPr>
        <p:spPr>
          <a:xfrm>
            <a:off x="8229599" y="5074920"/>
            <a:ext cx="3108960" cy="868680"/>
          </a:xfrm>
          <a:prstGeom prst="roundRect">
            <a:avLst>
              <a:gd name="adj" fmla="val 10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66759" y="5138928"/>
            <a:ext cx="2834640" cy="731520"/>
          </a:xfrm>
          <a:prstGeom prst="rect">
            <a:avLst/>
          </a:prstGeom>
          <a:noFill/>
        </p:spPr>
        <p:txBody>
          <a:bodyPr wrap="square" lIns="0" rIns="0" tIns="0" bIns="0" anchor="ctr">
            <a:spAutoFit/>
          </a:bodyPr>
          <a:lstStyle/>
          <a:p>
            <a:pPr algn="ctr"/>
            <a:r>
              <a:rPr sz="1300" b="1" i="0">
                <a:solidFill>
                  <a:srgbClr val="FFFFFF"/>
                </a:solidFill>
                <a:latin typeface="Calibri"/>
              </a:rPr>
              <a:t>4.517 / 4.517 document nạp lại bằng mongosh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16</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ỨNG DỤNG</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Kết nối ứng dụng: ASP.NET Core + MongoDB.Driver</a:t>
            </a:r>
          </a:p>
        </p:txBody>
      </p:sp>
      <p:pic>
        <p:nvPicPr>
          <p:cNvPr id="6" name="Picture 5" descr="fig-architecture.png"/>
          <p:cNvPicPr>
            <a:picLocks noChangeAspect="1"/>
          </p:cNvPicPr>
          <p:nvPr/>
        </p:nvPicPr>
        <p:blipFill>
          <a:blip r:embed="rId2"/>
          <a:stretch>
            <a:fillRect/>
          </a:stretch>
        </p:blipFill>
        <p:spPr>
          <a:xfrm>
            <a:off x="548640" y="1554480"/>
            <a:ext cx="6949440" cy="3332895"/>
          </a:xfrm>
          <a:prstGeom prst="rect">
            <a:avLst/>
          </a:prstGeom>
        </p:spPr>
      </p:pic>
      <p:sp>
        <p:nvSpPr>
          <p:cNvPr id="7" name="Rounded Rectangle 6"/>
          <p:cNvSpPr/>
          <p:nvPr/>
        </p:nvSpPr>
        <p:spPr>
          <a:xfrm>
            <a:off x="7772400" y="1554480"/>
            <a:ext cx="3840480" cy="1600200"/>
          </a:xfrm>
          <a:prstGeom prst="roundRect">
            <a:avLst>
              <a:gd name="adj" fmla="val 4000"/>
            </a:avLst>
          </a:prstGeom>
          <a:solidFill>
            <a:srgbClr val="1B3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01000" y="1737360"/>
            <a:ext cx="3383280" cy="1234440"/>
          </a:xfrm>
          <a:prstGeom prst="rect">
            <a:avLst/>
          </a:prstGeom>
          <a:noFill/>
        </p:spPr>
        <p:txBody>
          <a:bodyPr wrap="square" lIns="0" rIns="0" tIns="0" bIns="0" anchor="t">
            <a:spAutoFit/>
          </a:bodyPr>
          <a:lstStyle/>
          <a:p>
            <a:pPr algn="l"/>
            <a:r>
              <a:rPr sz="1300" b="0" i="0">
                <a:solidFill>
                  <a:srgbClr val="E8F2EC"/>
                </a:solidFill>
                <a:latin typeface="Consolas"/>
              </a:rPr>
              <a:t>mongodb://127.0.0.1:27017/</a:t>
            </a:r>
          </a:p>
          <a:p>
            <a:pPr algn="l"/>
            <a:r>
              <a:rPr sz="1300" b="0" i="0">
                <a:solidFill>
                  <a:srgbClr val="E8F2EC"/>
                </a:solidFill>
                <a:latin typeface="Consolas"/>
              </a:rPr>
              <a:t>  ?replicaSet=rs0</a:t>
            </a:r>
          </a:p>
          <a:p>
            <a:pPr algn="l"/>
            <a:r>
              <a:rPr sz="1300" b="0" i="0">
                <a:solidFill>
                  <a:srgbClr val="E8F2EC"/>
                </a:solidFill>
                <a:latin typeface="Consolas"/>
              </a:rPr>
              <a:t>db: soopi_mongodb</a:t>
            </a:r>
          </a:p>
        </p:txBody>
      </p:sp>
      <p:sp>
        <p:nvSpPr>
          <p:cNvPr id="9" name="TextBox 8"/>
          <p:cNvSpPr txBox="1"/>
          <p:nvPr/>
        </p:nvSpPr>
        <p:spPr>
          <a:xfrm>
            <a:off x="7772400" y="3383280"/>
            <a:ext cx="3840480" cy="2743200"/>
          </a:xfrm>
          <a:prstGeom prst="rect">
            <a:avLst/>
          </a:prstGeom>
          <a:noFill/>
        </p:spPr>
        <p:txBody>
          <a:bodyPr wrap="square" lIns="0" rIns="0" tIns="0" bIns="0" anchor="t">
            <a:spAutoFit/>
          </a:bodyPr>
          <a:lstStyle/>
          <a:p>
            <a:pPr algn="l">
              <a:spcAft>
                <a:spcPts val="800"/>
              </a:spcAft>
            </a:pPr>
            <a:r>
              <a:rPr sz="1400" b="0" i="0">
                <a:solidFill>
                  <a:srgbClr val="29354A"/>
                </a:solidFill>
                <a:latin typeface="Calibri"/>
              </a:rPr>
              <a:t>– MongoClient singleton, AppDbContext theo request</a:t>
            </a:r>
          </a:p>
          <a:p>
            <a:pPr algn="l">
              <a:spcAft>
                <a:spcPts val="800"/>
              </a:spcAft>
            </a:pPr>
            <a:r>
              <a:rPr sz="1400" b="0" i="0">
                <a:solidFill>
                  <a:srgbClr val="29354A"/>
                </a:solidFill>
                <a:latin typeface="Calibri"/>
              </a:rPr>
              <a:t>– Lưu bằng ReplaceOne với document gốc làm điều kiện → chống lost update</a:t>
            </a:r>
          </a:p>
          <a:p>
            <a:pPr algn="l">
              <a:spcAft>
                <a:spcPts val="800"/>
              </a:spcAft>
            </a:pPr>
            <a:r>
              <a:rPr sz="1400" b="0" i="0">
                <a:solidFill>
                  <a:srgbClr val="29354A"/>
                </a:solidFill>
                <a:latin typeface="Calibri"/>
              </a:rPr>
              <a:t>– TransactionRunner: snapshot, majority, thử lại 3 lần</a:t>
            </a:r>
          </a:p>
          <a:p>
            <a:pPr algn="l">
              <a:spcAft>
                <a:spcPts val="800"/>
              </a:spcAft>
            </a:pPr>
            <a:r>
              <a:rPr sz="1400" b="0" i="0">
                <a:solidFill>
                  <a:srgbClr val="29354A"/>
                </a:solidFill>
                <a:latin typeface="Calibri"/>
              </a:rPr>
              <a:t>– Báo cáo dựng BsonDocument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17</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ỨNG DỤNG</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Demo: bảy vai trò trên cùng một cơ sở dữ liệu</a:t>
            </a:r>
          </a:p>
        </p:txBody>
      </p:sp>
      <p:sp>
        <p:nvSpPr>
          <p:cNvPr id="6" name="Rounded Rectangle 5"/>
          <p:cNvSpPr/>
          <p:nvPr/>
        </p:nvSpPr>
        <p:spPr>
          <a:xfrm>
            <a:off x="548640" y="1600200"/>
            <a:ext cx="3474720" cy="3063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dmin-desktop.png"/>
          <p:cNvPicPr>
            <a:picLocks noChangeAspect="1"/>
          </p:cNvPicPr>
          <p:nvPr/>
        </p:nvPicPr>
        <p:blipFill>
          <a:blip r:embed="rId2"/>
          <a:stretch>
            <a:fillRect/>
          </a:stretch>
        </p:blipFill>
        <p:spPr>
          <a:xfrm>
            <a:off x="640080" y="1965960"/>
            <a:ext cx="3291840" cy="2057400"/>
          </a:xfrm>
          <a:prstGeom prst="rect">
            <a:avLst/>
          </a:prstGeom>
        </p:spPr>
      </p:pic>
      <p:sp>
        <p:nvSpPr>
          <p:cNvPr id="8" name="TextBox 7"/>
          <p:cNvSpPr txBox="1"/>
          <p:nvPr/>
        </p:nvSpPr>
        <p:spPr>
          <a:xfrm>
            <a:off x="640080" y="4315968"/>
            <a:ext cx="3291840" cy="320040"/>
          </a:xfrm>
          <a:prstGeom prst="rect">
            <a:avLst/>
          </a:prstGeom>
          <a:noFill/>
        </p:spPr>
        <p:txBody>
          <a:bodyPr wrap="square" lIns="0" rIns="0" tIns="0" bIns="0" anchor="t">
            <a:spAutoFit/>
          </a:bodyPr>
          <a:lstStyle/>
          <a:p>
            <a:pPr algn="ctr"/>
            <a:r>
              <a:rPr sz="1300" b="1" i="0">
                <a:solidFill>
                  <a:srgbClr val="1B3C35"/>
                </a:solidFill>
                <a:latin typeface="Calibri"/>
              </a:rPr>
              <a:t>Quản trị: người dùng, danh mục</a:t>
            </a:r>
          </a:p>
        </p:txBody>
      </p:sp>
      <p:sp>
        <p:nvSpPr>
          <p:cNvPr id="9" name="Rounded Rectangle 8"/>
          <p:cNvSpPr/>
          <p:nvPr/>
        </p:nvSpPr>
        <p:spPr>
          <a:xfrm>
            <a:off x="4297679" y="1600200"/>
            <a:ext cx="3474720" cy="3063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02-ba-phieu.png"/>
          <p:cNvPicPr>
            <a:picLocks noChangeAspect="1"/>
          </p:cNvPicPr>
          <p:nvPr/>
        </p:nvPicPr>
        <p:blipFill>
          <a:blip r:embed="rId3"/>
          <a:stretch>
            <a:fillRect/>
          </a:stretch>
        </p:blipFill>
        <p:spPr>
          <a:xfrm>
            <a:off x="4800257" y="1691640"/>
            <a:ext cx="2469564" cy="2606040"/>
          </a:xfrm>
          <a:prstGeom prst="rect">
            <a:avLst/>
          </a:prstGeom>
        </p:spPr>
      </p:pic>
      <p:sp>
        <p:nvSpPr>
          <p:cNvPr id="11" name="TextBox 10"/>
          <p:cNvSpPr txBox="1"/>
          <p:nvPr/>
        </p:nvSpPr>
        <p:spPr>
          <a:xfrm>
            <a:off x="4389119" y="4315968"/>
            <a:ext cx="3291840" cy="320040"/>
          </a:xfrm>
          <a:prstGeom prst="rect">
            <a:avLst/>
          </a:prstGeom>
          <a:noFill/>
        </p:spPr>
        <p:txBody>
          <a:bodyPr wrap="square" lIns="0" rIns="0" tIns="0" bIns="0" anchor="t">
            <a:spAutoFit/>
          </a:bodyPr>
          <a:lstStyle/>
          <a:p>
            <a:pPr algn="ctr"/>
            <a:r>
              <a:rPr sz="1300" b="1" i="0">
                <a:solidFill>
                  <a:srgbClr val="1B3C35"/>
                </a:solidFill>
                <a:latin typeface="Calibri"/>
              </a:rPr>
              <a:t>Phiếu ở các giai đoạn</a:t>
            </a:r>
          </a:p>
        </p:txBody>
      </p:sp>
      <p:sp>
        <p:nvSpPr>
          <p:cNvPr id="12" name="Rounded Rectangle 11"/>
          <p:cNvSpPr/>
          <p:nvPr/>
        </p:nvSpPr>
        <p:spPr>
          <a:xfrm>
            <a:off x="8046719" y="1600200"/>
            <a:ext cx="3474720" cy="306324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05-bao-cao-sla.png"/>
          <p:cNvPicPr>
            <a:picLocks noChangeAspect="1"/>
          </p:cNvPicPr>
          <p:nvPr/>
        </p:nvPicPr>
        <p:blipFill>
          <a:blip r:embed="rId4"/>
          <a:stretch>
            <a:fillRect/>
          </a:stretch>
        </p:blipFill>
        <p:spPr>
          <a:xfrm>
            <a:off x="8349647" y="1691640"/>
            <a:ext cx="2868865" cy="2606040"/>
          </a:xfrm>
          <a:prstGeom prst="rect">
            <a:avLst/>
          </a:prstGeom>
        </p:spPr>
      </p:pic>
      <p:sp>
        <p:nvSpPr>
          <p:cNvPr id="14" name="TextBox 13"/>
          <p:cNvSpPr txBox="1"/>
          <p:nvPr/>
        </p:nvSpPr>
        <p:spPr>
          <a:xfrm>
            <a:off x="8138159" y="4315968"/>
            <a:ext cx="3291840" cy="320040"/>
          </a:xfrm>
          <a:prstGeom prst="rect">
            <a:avLst/>
          </a:prstGeom>
          <a:noFill/>
        </p:spPr>
        <p:txBody>
          <a:bodyPr wrap="square" lIns="0" rIns="0" tIns="0" bIns="0" anchor="t">
            <a:spAutoFit/>
          </a:bodyPr>
          <a:lstStyle/>
          <a:p>
            <a:pPr algn="ctr"/>
            <a:r>
              <a:rPr sz="1300" b="1" i="0">
                <a:solidFill>
                  <a:srgbClr val="1B3C35"/>
                </a:solidFill>
                <a:latin typeface="Calibri"/>
              </a:rPr>
              <a:t>Báo cáo, SLA</a:t>
            </a:r>
          </a:p>
        </p:txBody>
      </p:sp>
      <p:sp>
        <p:nvSpPr>
          <p:cNvPr id="15" name="TextBox 14"/>
          <p:cNvSpPr txBox="1"/>
          <p:nvPr/>
        </p:nvSpPr>
        <p:spPr>
          <a:xfrm>
            <a:off x="548640" y="4892040"/>
            <a:ext cx="11064240" cy="1371600"/>
          </a:xfrm>
          <a:prstGeom prst="rect">
            <a:avLst/>
          </a:prstGeom>
          <a:noFill/>
        </p:spPr>
        <p:txBody>
          <a:bodyPr wrap="square" lIns="0" rIns="0" tIns="0" bIns="0" anchor="t">
            <a:spAutoFit/>
          </a:bodyPr>
          <a:lstStyle/>
          <a:p>
            <a:pPr algn="l">
              <a:spcAft>
                <a:spcPts val="200"/>
              </a:spcAft>
            </a:pPr>
            <a:r>
              <a:rPr sz="1400" b="1" i="0">
                <a:solidFill>
                  <a:srgbClr val="244C43"/>
                </a:solidFill>
                <a:latin typeface="Calibri"/>
              </a:rPr>
              <a:t>1. </a:t>
            </a:r>
            <a:r>
              <a:rPr sz="1400" b="0" i="0">
                <a:solidFill>
                  <a:srgbClr val="29354A"/>
                </a:solidFill>
                <a:latin typeface="Calibri"/>
              </a:rPr>
              <a:t>Đăng nhập admin → tạo tài khoản, khóa tài khoản, tải bản sao lưu</a:t>
            </a:r>
          </a:p>
          <a:p>
            <a:pPr algn="l">
              <a:spcAft>
                <a:spcPts val="200"/>
              </a:spcAft>
            </a:pPr>
            <a:r>
              <a:rPr sz="1400" b="1" i="0">
                <a:solidFill>
                  <a:srgbClr val="244C43"/>
                </a:solidFill>
                <a:latin typeface="Calibri"/>
              </a:rPr>
              <a:t>2. </a:t>
            </a:r>
            <a:r>
              <a:rPr sz="1400" b="0" i="0">
                <a:solidFill>
                  <a:srgbClr val="29354A"/>
                </a:solidFill>
                <a:latin typeface="Calibri"/>
              </a:rPr>
              <a:t>Lễ tân lập phiếu (thử phiếu thứ hai cho cùng thiết bị → bị chặn)</a:t>
            </a:r>
          </a:p>
          <a:p>
            <a:pPr algn="l">
              <a:spcAft>
                <a:spcPts val="200"/>
              </a:spcAft>
            </a:pPr>
            <a:r>
              <a:rPr sz="1400" b="1" i="0">
                <a:solidFill>
                  <a:srgbClr val="244C43"/>
                </a:solidFill>
                <a:latin typeface="Calibri"/>
              </a:rPr>
              <a:t>3. </a:t>
            </a:r>
            <a:r>
              <a:rPr sz="1400" b="0" i="0">
                <a:solidFill>
                  <a:srgbClr val="29354A"/>
                </a:solidFill>
                <a:latin typeface="Calibri"/>
              </a:rPr>
              <a:t>Điều phối → KTV báo giá → khách xác nhận → kho xuất → QC → thu ngân → bàn giao</a:t>
            </a:r>
          </a:p>
          <a:p>
            <a:pPr algn="l">
              <a:spcAft>
                <a:spcPts val="200"/>
              </a:spcAft>
            </a:pPr>
            <a:r>
              <a:rPr sz="1400" b="1" i="0">
                <a:solidFill>
                  <a:srgbClr val="244C43"/>
                </a:solidFill>
                <a:latin typeface="Calibri"/>
              </a:rPr>
              <a:t>4. </a:t>
            </a:r>
            <a:r>
              <a:rPr sz="1400" b="0" i="0">
                <a:solidFill>
                  <a:srgbClr val="29354A"/>
                </a:solidFill>
                <a:latin typeface="Calibri"/>
              </a:rPr>
              <a:t>Mở Compass: xem phiếu vừa tạo, chạy pipeline báo cáo, Explain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62716C"/>
                </a:solidFill>
                <a:latin typeface="Calibri"/>
              </a:rPr>
              <a:t>Soopi · Cơ sở dữ liệu NoSQL · Nhóm 2</a:t>
            </a:r>
          </a:p>
        </p:txBody>
      </p:sp>
      <p:sp>
        <p:nvSpPr>
          <p:cNvPr id="3" name="TextBox 2"/>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62716C"/>
                </a:solidFill>
                <a:latin typeface="Calibri"/>
              </a:rPr>
              <a:t>18</a:t>
            </a:r>
          </a:p>
        </p:txBody>
      </p:sp>
      <p:sp>
        <p:nvSpPr>
          <p:cNvPr id="4" name="Kicker"/>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62716C"/>
                </a:solidFill>
                <a:latin typeface="Calibri"/>
              </a:rPr>
              <a:t>KẾT QUẢ</a:t>
            </a:r>
          </a:p>
        </p:txBody>
      </p:sp>
      <p:sp>
        <p:nvSpPr>
          <p:cNvPr id="5" name="Title"/>
          <p:cNvSpPr txBox="1"/>
          <p:nvPr/>
        </p:nvSpPr>
        <p:spPr>
          <a:xfrm>
            <a:off x="548640" y="566928"/>
            <a:ext cx="11064240" cy="731520"/>
          </a:xfrm>
          <a:prstGeom prst="rect">
            <a:avLst/>
          </a:prstGeom>
          <a:noFill/>
        </p:spPr>
        <p:txBody>
          <a:bodyPr wrap="square" lIns="0" rIns="0" tIns="0" bIns="0" anchor="t">
            <a:spAutoFit/>
          </a:bodyPr>
          <a:lstStyle/>
          <a:p>
            <a:pPr algn="l"/>
            <a:r>
              <a:rPr sz="3200" b="1" i="0">
                <a:solidFill>
                  <a:srgbClr val="1B3C35"/>
                </a:solidFill>
                <a:latin typeface="Cambria"/>
              </a:rPr>
              <a:t>Kiểm thử và phân công</a:t>
            </a:r>
          </a:p>
        </p:txBody>
      </p:sp>
      <p:sp>
        <p:nvSpPr>
          <p:cNvPr id="6" name="Rounded Rectangle 5"/>
          <p:cNvSpPr/>
          <p:nvPr/>
        </p:nvSpPr>
        <p:spPr>
          <a:xfrm>
            <a:off x="548640" y="1600200"/>
            <a:ext cx="5120640" cy="98755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28216"/>
            <a:ext cx="1463040" cy="731520"/>
          </a:xfrm>
          <a:prstGeom prst="rect">
            <a:avLst/>
          </a:prstGeom>
          <a:noFill/>
        </p:spPr>
        <p:txBody>
          <a:bodyPr wrap="square" lIns="0" rIns="0" tIns="0" bIns="0" anchor="ctr">
            <a:spAutoFit/>
          </a:bodyPr>
          <a:lstStyle/>
          <a:p>
            <a:pPr algn="l"/>
            <a:r>
              <a:rPr sz="2800" b="1" i="0">
                <a:solidFill>
                  <a:srgbClr val="1B3C35"/>
                </a:solidFill>
                <a:latin typeface="Cambria"/>
              </a:rPr>
              <a:t>119</a:t>
            </a:r>
          </a:p>
        </p:txBody>
      </p:sp>
      <p:sp>
        <p:nvSpPr>
          <p:cNvPr id="8" name="TextBox 7"/>
          <p:cNvSpPr txBox="1"/>
          <p:nvPr/>
        </p:nvSpPr>
        <p:spPr>
          <a:xfrm>
            <a:off x="2331720" y="1709928"/>
            <a:ext cx="3200400" cy="411480"/>
          </a:xfrm>
          <a:prstGeom prst="rect">
            <a:avLst/>
          </a:prstGeom>
          <a:noFill/>
        </p:spPr>
        <p:txBody>
          <a:bodyPr wrap="square" lIns="0" rIns="0" tIns="0" bIns="0" anchor="t">
            <a:spAutoFit/>
          </a:bodyPr>
          <a:lstStyle/>
          <a:p>
            <a:pPr algn="l"/>
            <a:r>
              <a:rPr sz="1500" b="1" i="0">
                <a:solidFill>
                  <a:srgbClr val="29354A"/>
                </a:solidFill>
                <a:latin typeface="Calibri"/>
              </a:rPr>
              <a:t>kiểm thử backend đạt</a:t>
            </a:r>
          </a:p>
        </p:txBody>
      </p:sp>
      <p:sp>
        <p:nvSpPr>
          <p:cNvPr id="9" name="TextBox 8"/>
          <p:cNvSpPr txBox="1"/>
          <p:nvPr/>
        </p:nvSpPr>
        <p:spPr>
          <a:xfrm>
            <a:off x="2331720" y="2103120"/>
            <a:ext cx="3200400" cy="365760"/>
          </a:xfrm>
          <a:prstGeom prst="rect">
            <a:avLst/>
          </a:prstGeom>
          <a:noFill/>
        </p:spPr>
        <p:txBody>
          <a:bodyPr wrap="square" lIns="0" rIns="0" tIns="0" bIns="0" anchor="t">
            <a:spAutoFit/>
          </a:bodyPr>
          <a:lstStyle/>
          <a:p>
            <a:pPr algn="l"/>
            <a:r>
              <a:rPr sz="1200" b="0" i="0">
                <a:solidFill>
                  <a:srgbClr val="62716C"/>
                </a:solidFill>
                <a:latin typeface="Calibri"/>
              </a:rPr>
              <a:t>xUnit trên database MongoDB tạm</a:t>
            </a:r>
          </a:p>
        </p:txBody>
      </p:sp>
      <p:sp>
        <p:nvSpPr>
          <p:cNvPr id="10" name="Rounded Rectangle 9"/>
          <p:cNvSpPr/>
          <p:nvPr/>
        </p:nvSpPr>
        <p:spPr>
          <a:xfrm>
            <a:off x="548640" y="2743200"/>
            <a:ext cx="5120640" cy="98755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871216"/>
            <a:ext cx="1463040" cy="731520"/>
          </a:xfrm>
          <a:prstGeom prst="rect">
            <a:avLst/>
          </a:prstGeom>
          <a:noFill/>
        </p:spPr>
        <p:txBody>
          <a:bodyPr wrap="square" lIns="0" rIns="0" tIns="0" bIns="0" anchor="ctr">
            <a:spAutoFit/>
          </a:bodyPr>
          <a:lstStyle/>
          <a:p>
            <a:pPr algn="l"/>
            <a:r>
              <a:rPr sz="2800" b="1" i="0">
                <a:solidFill>
                  <a:srgbClr val="1B3C35"/>
                </a:solidFill>
                <a:latin typeface="Cambria"/>
              </a:rPr>
              <a:t>25/25</a:t>
            </a:r>
          </a:p>
        </p:txBody>
      </p:sp>
      <p:sp>
        <p:nvSpPr>
          <p:cNvPr id="12" name="TextBox 11"/>
          <p:cNvSpPr txBox="1"/>
          <p:nvPr/>
        </p:nvSpPr>
        <p:spPr>
          <a:xfrm>
            <a:off x="2331720" y="2852928"/>
            <a:ext cx="3200400" cy="411480"/>
          </a:xfrm>
          <a:prstGeom prst="rect">
            <a:avLst/>
          </a:prstGeom>
          <a:noFill/>
        </p:spPr>
        <p:txBody>
          <a:bodyPr wrap="square" lIns="0" rIns="0" tIns="0" bIns="0" anchor="t">
            <a:spAutoFit/>
          </a:bodyPr>
          <a:lstStyle/>
          <a:p>
            <a:pPr algn="l"/>
            <a:r>
              <a:rPr sz="1500" b="1" i="0">
                <a:solidFill>
                  <a:srgbClr val="29354A"/>
                </a:solidFill>
                <a:latin typeface="Calibri"/>
              </a:rPr>
              <a:t>kiểm thử frontend</a:t>
            </a:r>
          </a:p>
        </p:txBody>
      </p:sp>
      <p:sp>
        <p:nvSpPr>
          <p:cNvPr id="13" name="TextBox 12"/>
          <p:cNvSpPr txBox="1"/>
          <p:nvPr/>
        </p:nvSpPr>
        <p:spPr>
          <a:xfrm>
            <a:off x="2331720" y="3246120"/>
            <a:ext cx="3200400" cy="365760"/>
          </a:xfrm>
          <a:prstGeom prst="rect">
            <a:avLst/>
          </a:prstGeom>
          <a:noFill/>
        </p:spPr>
        <p:txBody>
          <a:bodyPr wrap="square" lIns="0" rIns="0" tIns="0" bIns="0" anchor="t">
            <a:spAutoFit/>
          </a:bodyPr>
          <a:lstStyle/>
          <a:p>
            <a:pPr algn="l"/>
            <a:r>
              <a:rPr sz="1200" b="0" i="0">
                <a:solidFill>
                  <a:srgbClr val="62716C"/>
                </a:solidFill>
                <a:latin typeface="Calibri"/>
              </a:rPr>
              <a:t>node --test, tsc</a:t>
            </a:r>
          </a:p>
        </p:txBody>
      </p:sp>
      <p:sp>
        <p:nvSpPr>
          <p:cNvPr id="14" name="Rounded Rectangle 13"/>
          <p:cNvSpPr/>
          <p:nvPr/>
        </p:nvSpPr>
        <p:spPr>
          <a:xfrm>
            <a:off x="548640" y="3886200"/>
            <a:ext cx="5120640" cy="98755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014215"/>
            <a:ext cx="1463040" cy="731520"/>
          </a:xfrm>
          <a:prstGeom prst="rect">
            <a:avLst/>
          </a:prstGeom>
          <a:noFill/>
        </p:spPr>
        <p:txBody>
          <a:bodyPr wrap="square" lIns="0" rIns="0" tIns="0" bIns="0" anchor="ctr">
            <a:spAutoFit/>
          </a:bodyPr>
          <a:lstStyle/>
          <a:p>
            <a:pPr algn="l"/>
            <a:r>
              <a:rPr sz="2800" b="1" i="0">
                <a:solidFill>
                  <a:srgbClr val="1B3C35"/>
                </a:solidFill>
                <a:latin typeface="Cambria"/>
              </a:rPr>
              <a:t>30</a:t>
            </a:r>
          </a:p>
        </p:txBody>
      </p:sp>
      <p:sp>
        <p:nvSpPr>
          <p:cNvPr id="16" name="TextBox 15"/>
          <p:cNvSpPr txBox="1"/>
          <p:nvPr/>
        </p:nvSpPr>
        <p:spPr>
          <a:xfrm>
            <a:off x="2331720" y="3995928"/>
            <a:ext cx="3200400" cy="411480"/>
          </a:xfrm>
          <a:prstGeom prst="rect">
            <a:avLst/>
          </a:prstGeom>
          <a:noFill/>
        </p:spPr>
        <p:txBody>
          <a:bodyPr wrap="square" lIns="0" rIns="0" tIns="0" bIns="0" anchor="t">
            <a:spAutoFit/>
          </a:bodyPr>
          <a:lstStyle/>
          <a:p>
            <a:pPr algn="l"/>
            <a:r>
              <a:rPr sz="1500" b="1" i="0">
                <a:solidFill>
                  <a:srgbClr val="29354A"/>
                </a:solidFill>
                <a:latin typeface="Calibri"/>
              </a:rPr>
              <a:t>truy vấn báo cáo trùng khớp</a:t>
            </a:r>
          </a:p>
        </p:txBody>
      </p:sp>
      <p:sp>
        <p:nvSpPr>
          <p:cNvPr id="17" name="TextBox 16"/>
          <p:cNvSpPr txBox="1"/>
          <p:nvPr/>
        </p:nvSpPr>
        <p:spPr>
          <a:xfrm>
            <a:off x="2331720" y="4389120"/>
            <a:ext cx="3200400" cy="365760"/>
          </a:xfrm>
          <a:prstGeom prst="rect">
            <a:avLst/>
          </a:prstGeom>
          <a:noFill/>
        </p:spPr>
        <p:txBody>
          <a:bodyPr wrap="square" lIns="0" rIns="0" tIns="0" bIns="0" anchor="t">
            <a:spAutoFit/>
          </a:bodyPr>
          <a:lstStyle/>
          <a:p>
            <a:pPr algn="l"/>
            <a:r>
              <a:rPr sz="1200" b="0" i="0">
                <a:solidFill>
                  <a:srgbClr val="62716C"/>
                </a:solidFill>
                <a:latin typeface="Calibri"/>
              </a:rPr>
              <a:t>pipeline so với bản cũ</a:t>
            </a:r>
          </a:p>
        </p:txBody>
      </p:sp>
      <p:sp>
        <p:nvSpPr>
          <p:cNvPr id="18" name="Rounded Rectangle 17"/>
          <p:cNvSpPr/>
          <p:nvPr/>
        </p:nvSpPr>
        <p:spPr>
          <a:xfrm>
            <a:off x="548640" y="5029200"/>
            <a:ext cx="5120640" cy="987552"/>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157216"/>
            <a:ext cx="1463040" cy="731520"/>
          </a:xfrm>
          <a:prstGeom prst="rect">
            <a:avLst/>
          </a:prstGeom>
          <a:noFill/>
        </p:spPr>
        <p:txBody>
          <a:bodyPr wrap="square" lIns="0" rIns="0" tIns="0" bIns="0" anchor="ctr">
            <a:spAutoFit/>
          </a:bodyPr>
          <a:lstStyle/>
          <a:p>
            <a:pPr algn="l"/>
            <a:r>
              <a:rPr sz="2800" b="1" i="0">
                <a:solidFill>
                  <a:srgbClr val="1B3C35"/>
                </a:solidFill>
                <a:latin typeface="Cambria"/>
              </a:rPr>
              <a:t>100%</a:t>
            </a:r>
          </a:p>
        </p:txBody>
      </p:sp>
      <p:sp>
        <p:nvSpPr>
          <p:cNvPr id="20" name="TextBox 19"/>
          <p:cNvSpPr txBox="1"/>
          <p:nvPr/>
        </p:nvSpPr>
        <p:spPr>
          <a:xfrm>
            <a:off x="2331720" y="5138928"/>
            <a:ext cx="3200400" cy="411480"/>
          </a:xfrm>
          <a:prstGeom prst="rect">
            <a:avLst/>
          </a:prstGeom>
          <a:noFill/>
        </p:spPr>
        <p:txBody>
          <a:bodyPr wrap="square" lIns="0" rIns="0" tIns="0" bIns="0" anchor="t">
            <a:spAutoFit/>
          </a:bodyPr>
          <a:lstStyle/>
          <a:p>
            <a:pPr algn="l"/>
            <a:r>
              <a:rPr sz="1500" b="1" i="0">
                <a:solidFill>
                  <a:srgbClr val="29354A"/>
                </a:solidFill>
                <a:latin typeface="Calibri"/>
              </a:rPr>
              <a:t>route API của bản gốc</a:t>
            </a:r>
          </a:p>
        </p:txBody>
      </p:sp>
      <p:sp>
        <p:nvSpPr>
          <p:cNvPr id="21" name="TextBox 20"/>
          <p:cNvSpPr txBox="1"/>
          <p:nvPr/>
        </p:nvSpPr>
        <p:spPr>
          <a:xfrm>
            <a:off x="2331720" y="5532120"/>
            <a:ext cx="3200400" cy="365760"/>
          </a:xfrm>
          <a:prstGeom prst="rect">
            <a:avLst/>
          </a:prstGeom>
          <a:noFill/>
        </p:spPr>
        <p:txBody>
          <a:bodyPr wrap="square" lIns="0" rIns="0" tIns="0" bIns="0" anchor="t">
            <a:spAutoFit/>
          </a:bodyPr>
          <a:lstStyle/>
          <a:p>
            <a:pPr algn="l"/>
            <a:r>
              <a:rPr sz="1200" b="0" i="0">
                <a:solidFill>
                  <a:srgbClr val="62716C"/>
                </a:solidFill>
                <a:latin typeface="Calibri"/>
              </a:rPr>
              <a:t>check-contract.mjs</a:t>
            </a:r>
          </a:p>
        </p:txBody>
      </p:sp>
      <p:sp>
        <p:nvSpPr>
          <p:cNvPr id="22" name="Rounded Rectangle 21"/>
          <p:cNvSpPr/>
          <p:nvPr/>
        </p:nvSpPr>
        <p:spPr>
          <a:xfrm>
            <a:off x="6035040" y="1600200"/>
            <a:ext cx="5577840" cy="1371600"/>
          </a:xfrm>
          <a:prstGeom prst="roundRect">
            <a:avLst>
              <a:gd name="adj" fmla="val 8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09360" y="1737360"/>
            <a:ext cx="3200400" cy="411480"/>
          </a:xfrm>
          <a:prstGeom prst="rect">
            <a:avLst/>
          </a:prstGeom>
          <a:noFill/>
        </p:spPr>
        <p:txBody>
          <a:bodyPr wrap="square" lIns="0" rIns="0" tIns="0" bIns="0" anchor="t">
            <a:spAutoFit/>
          </a:bodyPr>
          <a:lstStyle/>
          <a:p>
            <a:pPr algn="l"/>
            <a:r>
              <a:rPr sz="1700" b="1" i="0">
                <a:solidFill>
                  <a:srgbClr val="FFFFFF"/>
                </a:solidFill>
                <a:latin typeface="Cambria"/>
              </a:rPr>
              <a:t>Bùi Hữu Lộc</a:t>
            </a:r>
          </a:p>
        </p:txBody>
      </p:sp>
      <p:sp>
        <p:nvSpPr>
          <p:cNvPr id="24" name="TextBox 23"/>
          <p:cNvSpPr txBox="1"/>
          <p:nvPr/>
        </p:nvSpPr>
        <p:spPr>
          <a:xfrm>
            <a:off x="9692640" y="1764792"/>
            <a:ext cx="1737360" cy="365760"/>
          </a:xfrm>
          <a:prstGeom prst="rect">
            <a:avLst/>
          </a:prstGeom>
          <a:noFill/>
        </p:spPr>
        <p:txBody>
          <a:bodyPr wrap="square" lIns="0" rIns="0" tIns="0" bIns="0" anchor="t">
            <a:spAutoFit/>
          </a:bodyPr>
          <a:lstStyle/>
          <a:p>
            <a:pPr algn="r"/>
            <a:r>
              <a:rPr sz="1200" b="0" i="0">
                <a:solidFill>
                  <a:srgbClr val="DDEFE4"/>
                </a:solidFill>
                <a:latin typeface="Calibri"/>
              </a:rPr>
              <a:t>2001230467</a:t>
            </a:r>
          </a:p>
        </p:txBody>
      </p:sp>
      <p:sp>
        <p:nvSpPr>
          <p:cNvPr id="25" name="TextBox 24"/>
          <p:cNvSpPr txBox="1"/>
          <p:nvPr/>
        </p:nvSpPr>
        <p:spPr>
          <a:xfrm>
            <a:off x="6309360" y="2194560"/>
            <a:ext cx="5120640" cy="731520"/>
          </a:xfrm>
          <a:prstGeom prst="rect">
            <a:avLst/>
          </a:prstGeom>
          <a:noFill/>
        </p:spPr>
        <p:txBody>
          <a:bodyPr wrap="square" lIns="0" rIns="0" tIns="0" bIns="0" anchor="t">
            <a:spAutoFit/>
          </a:bodyPr>
          <a:lstStyle/>
          <a:p>
            <a:pPr algn="l"/>
            <a:r>
              <a:rPr sz="1300" b="0" i="0">
                <a:solidFill>
                  <a:srgbClr val="FFFFFF"/>
                </a:solidFill>
                <a:latin typeface="Calibri"/>
              </a:rPr>
              <a:t>Thiết kế document, chỉ mục, schema; tầng MongoDB, giao dịch; aggregation; sao lưu</a:t>
            </a:r>
          </a:p>
        </p:txBody>
      </p:sp>
      <p:sp>
        <p:nvSpPr>
          <p:cNvPr id="26" name="Rounded Rectangle 25"/>
          <p:cNvSpPr/>
          <p:nvPr/>
        </p:nvSpPr>
        <p:spPr>
          <a:xfrm>
            <a:off x="6035040" y="3127248"/>
            <a:ext cx="5577840" cy="137160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09360" y="3264408"/>
            <a:ext cx="3200400" cy="411480"/>
          </a:xfrm>
          <a:prstGeom prst="rect">
            <a:avLst/>
          </a:prstGeom>
          <a:noFill/>
        </p:spPr>
        <p:txBody>
          <a:bodyPr wrap="square" lIns="0" rIns="0" tIns="0" bIns="0" anchor="t">
            <a:spAutoFit/>
          </a:bodyPr>
          <a:lstStyle/>
          <a:p>
            <a:pPr algn="l"/>
            <a:r>
              <a:rPr sz="1700" b="1" i="0">
                <a:solidFill>
                  <a:srgbClr val="1B3C35"/>
                </a:solidFill>
                <a:latin typeface="Cambria"/>
              </a:rPr>
              <a:t>Đỗ Lê Thanh Mẫn</a:t>
            </a:r>
          </a:p>
        </p:txBody>
      </p:sp>
      <p:sp>
        <p:nvSpPr>
          <p:cNvPr id="28" name="TextBox 27"/>
          <p:cNvSpPr txBox="1"/>
          <p:nvPr/>
        </p:nvSpPr>
        <p:spPr>
          <a:xfrm>
            <a:off x="9692640" y="3291840"/>
            <a:ext cx="1737360" cy="365760"/>
          </a:xfrm>
          <a:prstGeom prst="rect">
            <a:avLst/>
          </a:prstGeom>
          <a:noFill/>
        </p:spPr>
        <p:txBody>
          <a:bodyPr wrap="square" lIns="0" rIns="0" tIns="0" bIns="0" anchor="t">
            <a:spAutoFit/>
          </a:bodyPr>
          <a:lstStyle/>
          <a:p>
            <a:pPr algn="r"/>
            <a:r>
              <a:rPr sz="1200" b="0" i="0">
                <a:solidFill>
                  <a:srgbClr val="62716C"/>
                </a:solidFill>
                <a:latin typeface="Calibri"/>
              </a:rPr>
              <a:t>2001230510</a:t>
            </a:r>
          </a:p>
        </p:txBody>
      </p:sp>
      <p:sp>
        <p:nvSpPr>
          <p:cNvPr id="29" name="TextBox 28"/>
          <p:cNvSpPr txBox="1"/>
          <p:nvPr/>
        </p:nvSpPr>
        <p:spPr>
          <a:xfrm>
            <a:off x="6309360" y="3721608"/>
            <a:ext cx="5120640" cy="731520"/>
          </a:xfrm>
          <a:prstGeom prst="rect">
            <a:avLst/>
          </a:prstGeom>
          <a:noFill/>
        </p:spPr>
        <p:txBody>
          <a:bodyPr wrap="square" lIns="0" rIns="0" tIns="0" bIns="0" anchor="t">
            <a:spAutoFit/>
          </a:bodyPr>
          <a:lstStyle/>
          <a:p>
            <a:pPr algn="l"/>
            <a:r>
              <a:rPr sz="1300" b="0" i="0">
                <a:solidFill>
                  <a:srgbClr val="29354A"/>
                </a:solidFill>
                <a:latin typeface="Calibri"/>
              </a:rPr>
              <a:t>Nghiệp vụ tiếp nhận – sửa chữa; bộ truy vấn Compass; dữ liệu demo</a:t>
            </a:r>
          </a:p>
        </p:txBody>
      </p:sp>
      <p:sp>
        <p:nvSpPr>
          <p:cNvPr id="30" name="Rounded Rectangle 29"/>
          <p:cNvSpPr/>
          <p:nvPr/>
        </p:nvSpPr>
        <p:spPr>
          <a:xfrm>
            <a:off x="6035040" y="4654296"/>
            <a:ext cx="5577840" cy="1371600"/>
          </a:xfrm>
          <a:prstGeom prst="roundRect">
            <a:avLst>
              <a:gd name="adj" fmla="val 8000"/>
            </a:avLst>
          </a:prstGeom>
          <a:solidFill>
            <a:srgbClr val="F4FAF6"/>
          </a:solidFill>
          <a:ln w="12700">
            <a:solidFill>
              <a:srgbClr val="B9D5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09360" y="4791456"/>
            <a:ext cx="3200400" cy="411480"/>
          </a:xfrm>
          <a:prstGeom prst="rect">
            <a:avLst/>
          </a:prstGeom>
          <a:noFill/>
        </p:spPr>
        <p:txBody>
          <a:bodyPr wrap="square" lIns="0" rIns="0" tIns="0" bIns="0" anchor="t">
            <a:spAutoFit/>
          </a:bodyPr>
          <a:lstStyle/>
          <a:p>
            <a:pPr algn="l"/>
            <a:r>
              <a:rPr sz="1700" b="1" i="0">
                <a:solidFill>
                  <a:srgbClr val="1B3C35"/>
                </a:solidFill>
                <a:latin typeface="Cambria"/>
              </a:rPr>
              <a:t>Phan Minh Thiện</a:t>
            </a:r>
          </a:p>
        </p:txBody>
      </p:sp>
      <p:sp>
        <p:nvSpPr>
          <p:cNvPr id="32" name="TextBox 31"/>
          <p:cNvSpPr txBox="1"/>
          <p:nvPr/>
        </p:nvSpPr>
        <p:spPr>
          <a:xfrm>
            <a:off x="9692640" y="4818888"/>
            <a:ext cx="1737360" cy="365760"/>
          </a:xfrm>
          <a:prstGeom prst="rect">
            <a:avLst/>
          </a:prstGeom>
          <a:noFill/>
        </p:spPr>
        <p:txBody>
          <a:bodyPr wrap="square" lIns="0" rIns="0" tIns="0" bIns="0" anchor="t">
            <a:spAutoFit/>
          </a:bodyPr>
          <a:lstStyle/>
          <a:p>
            <a:pPr algn="r"/>
            <a:r>
              <a:rPr sz="1200" b="0" i="0">
                <a:solidFill>
                  <a:srgbClr val="62716C"/>
                </a:solidFill>
                <a:latin typeface="Calibri"/>
              </a:rPr>
              <a:t>2001230923</a:t>
            </a:r>
          </a:p>
        </p:txBody>
      </p:sp>
      <p:sp>
        <p:nvSpPr>
          <p:cNvPr id="33" name="TextBox 32"/>
          <p:cNvSpPr txBox="1"/>
          <p:nvPr/>
        </p:nvSpPr>
        <p:spPr>
          <a:xfrm>
            <a:off x="6309360" y="5248656"/>
            <a:ext cx="5120640" cy="731520"/>
          </a:xfrm>
          <a:prstGeom prst="rect">
            <a:avLst/>
          </a:prstGeom>
          <a:noFill/>
        </p:spPr>
        <p:txBody>
          <a:bodyPr wrap="square" lIns="0" rIns="0" tIns="0" bIns="0" anchor="t">
            <a:spAutoFit/>
          </a:bodyPr>
          <a:lstStyle/>
          <a:p>
            <a:pPr algn="l"/>
            <a:r>
              <a:rPr sz="1300" b="0" i="0">
                <a:solidFill>
                  <a:srgbClr val="29354A"/>
                </a:solidFill>
                <a:latin typeface="Calibri"/>
              </a:rPr>
              <a:t>Giao diện các vai trò; kho, thu ngân; import/export; slide, kịch bản demo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3C35"/>
        </a:solidFill>
        <a:effectLst/>
      </p:bgPr>
    </p:bg>
    <p:spTree>
      <p:nvGrpSpPr>
        <p:cNvPr id="1" name=""/>
        <p:cNvGrpSpPr/>
        <p:nvPr/>
      </p:nvGrpSpPr>
      <p:grpSpPr/>
      <p:sp>
        <p:nvSpPr>
          <p:cNvPr id="2" name="TextBox 1"/>
          <p:cNvSpPr txBox="1"/>
          <p:nvPr/>
        </p:nvSpPr>
        <p:spPr>
          <a:xfrm>
            <a:off x="731520" y="731520"/>
            <a:ext cx="10058400" cy="365760"/>
          </a:xfrm>
          <a:prstGeom prst="rect">
            <a:avLst/>
          </a:prstGeom>
          <a:noFill/>
        </p:spPr>
        <p:txBody>
          <a:bodyPr wrap="square" lIns="0" rIns="0" tIns="0" bIns="0" anchor="t">
            <a:spAutoFit/>
          </a:bodyPr>
          <a:lstStyle/>
          <a:p>
            <a:pPr algn="l"/>
            <a:r>
              <a:rPr sz="1400" b="1" i="0">
                <a:solidFill>
                  <a:srgbClr val="EFB952"/>
                </a:solidFill>
                <a:latin typeface="Calibri"/>
              </a:rPr>
              <a:t>KẾT LUẬN</a:t>
            </a:r>
          </a:p>
        </p:txBody>
      </p:sp>
      <p:sp>
        <p:nvSpPr>
          <p:cNvPr id="3" name="TextBox 2"/>
          <p:cNvSpPr txBox="1"/>
          <p:nvPr/>
        </p:nvSpPr>
        <p:spPr>
          <a:xfrm>
            <a:off x="731520" y="1234440"/>
            <a:ext cx="10698480" cy="1280160"/>
          </a:xfrm>
          <a:prstGeom prst="rect">
            <a:avLst/>
          </a:prstGeom>
          <a:noFill/>
        </p:spPr>
        <p:txBody>
          <a:bodyPr wrap="square" lIns="0" rIns="0" tIns="0" bIns="0" anchor="t">
            <a:spAutoFit/>
          </a:bodyPr>
          <a:lstStyle/>
          <a:p>
            <a:pPr algn="l"/>
            <a:r>
              <a:rPr sz="3400" b="1" i="0">
                <a:solidFill>
                  <a:srgbClr val="FFFFFF"/>
                </a:solidFill>
                <a:latin typeface="Cambria"/>
              </a:rPr>
              <a:t>MongoDB phù hợp khi dữ liệu được thiết kế theo cách ứng dụng đọc nó</a:t>
            </a:r>
          </a:p>
        </p:txBody>
      </p:sp>
      <p:sp>
        <p:nvSpPr>
          <p:cNvPr id="4" name="Rounded Rectangle 3"/>
          <p:cNvSpPr/>
          <p:nvPr/>
        </p:nvSpPr>
        <p:spPr>
          <a:xfrm>
            <a:off x="731520" y="2926080"/>
            <a:ext cx="3429000" cy="2651760"/>
          </a:xfrm>
          <a:prstGeom prst="roundRect">
            <a:avLst>
              <a:gd name="adj" fmla="val 6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05840" y="3154680"/>
            <a:ext cx="2926080" cy="411480"/>
          </a:xfrm>
          <a:prstGeom prst="rect">
            <a:avLst/>
          </a:prstGeom>
          <a:noFill/>
        </p:spPr>
        <p:txBody>
          <a:bodyPr wrap="square" lIns="0" rIns="0" tIns="0" bIns="0" anchor="t">
            <a:spAutoFit/>
          </a:bodyPr>
          <a:lstStyle/>
          <a:p>
            <a:pPr algn="l"/>
            <a:r>
              <a:rPr sz="1900" b="1" i="0">
                <a:solidFill>
                  <a:srgbClr val="EFB952"/>
                </a:solidFill>
                <a:latin typeface="Cambria"/>
              </a:rPr>
              <a:t>Đạt được</a:t>
            </a:r>
          </a:p>
        </p:txBody>
      </p:sp>
      <p:sp>
        <p:nvSpPr>
          <p:cNvPr id="6" name="TextBox 5"/>
          <p:cNvSpPr txBox="1"/>
          <p:nvPr/>
        </p:nvSpPr>
        <p:spPr>
          <a:xfrm>
            <a:off x="1005840" y="3657600"/>
            <a:ext cx="2926080" cy="1828800"/>
          </a:xfrm>
          <a:prstGeom prst="rect">
            <a:avLst/>
          </a:prstGeom>
          <a:noFill/>
        </p:spPr>
        <p:txBody>
          <a:bodyPr wrap="square" lIns="0" rIns="0" tIns="0" bIns="0" anchor="t">
            <a:spAutoFit/>
          </a:bodyPr>
          <a:lstStyle/>
          <a:p>
            <a:pPr algn="l"/>
            <a:r>
              <a:rPr sz="1600" b="0" i="0">
                <a:solidFill>
                  <a:srgbClr val="FFFFFF"/>
                </a:solidFill>
                <a:latin typeface="Calibri"/>
              </a:rPr>
              <a:t>Mô hình document có lý do, chỉ mục và validator bảo vệ luật nghiệp vụ, giao dịch cho tiền và kho, 12 pipeline báo cáo, sao lưu 3 cách, ứng dụng 7 vai trò.</a:t>
            </a:r>
          </a:p>
        </p:txBody>
      </p:sp>
      <p:sp>
        <p:nvSpPr>
          <p:cNvPr id="7" name="Rounded Rectangle 6"/>
          <p:cNvSpPr/>
          <p:nvPr/>
        </p:nvSpPr>
        <p:spPr>
          <a:xfrm>
            <a:off x="4389120" y="2926080"/>
            <a:ext cx="3429000" cy="2651760"/>
          </a:xfrm>
          <a:prstGeom prst="roundRect">
            <a:avLst>
              <a:gd name="adj" fmla="val 6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63440" y="3154680"/>
            <a:ext cx="2926080" cy="411480"/>
          </a:xfrm>
          <a:prstGeom prst="rect">
            <a:avLst/>
          </a:prstGeom>
          <a:noFill/>
        </p:spPr>
        <p:txBody>
          <a:bodyPr wrap="square" lIns="0" rIns="0" tIns="0" bIns="0" anchor="t">
            <a:spAutoFit/>
          </a:bodyPr>
          <a:lstStyle/>
          <a:p>
            <a:pPr algn="l"/>
            <a:r>
              <a:rPr sz="1900" b="1" i="0">
                <a:solidFill>
                  <a:srgbClr val="EFB952"/>
                </a:solidFill>
                <a:latin typeface="Cambria"/>
              </a:rPr>
              <a:t>Hạn chế</a:t>
            </a:r>
          </a:p>
        </p:txBody>
      </p:sp>
      <p:sp>
        <p:nvSpPr>
          <p:cNvPr id="9" name="TextBox 8"/>
          <p:cNvSpPr txBox="1"/>
          <p:nvPr/>
        </p:nvSpPr>
        <p:spPr>
          <a:xfrm>
            <a:off x="4663440" y="3657600"/>
            <a:ext cx="2926080" cy="1828800"/>
          </a:xfrm>
          <a:prstGeom prst="rect">
            <a:avLst/>
          </a:prstGeom>
          <a:noFill/>
        </p:spPr>
        <p:txBody>
          <a:bodyPr wrap="square" lIns="0" rIns="0" tIns="0" bIns="0" anchor="t">
            <a:spAutoFit/>
          </a:bodyPr>
          <a:lstStyle/>
          <a:p>
            <a:pPr algn="l"/>
            <a:r>
              <a:rPr sz="1600" b="0" i="0">
                <a:solidFill>
                  <a:srgbClr val="FFFFFF"/>
                </a:solidFill>
                <a:latin typeface="Calibri"/>
              </a:rPr>
              <a:t>Replica set một nút; một số báo cáo xuất Excel còn tính trong bộ nhớ; thông báo đẩy mới ghi log.</a:t>
            </a:r>
          </a:p>
        </p:txBody>
      </p:sp>
      <p:sp>
        <p:nvSpPr>
          <p:cNvPr id="10" name="Rounded Rectangle 9"/>
          <p:cNvSpPr/>
          <p:nvPr/>
        </p:nvSpPr>
        <p:spPr>
          <a:xfrm>
            <a:off x="8046720" y="2926080"/>
            <a:ext cx="3429000" cy="2651760"/>
          </a:xfrm>
          <a:prstGeom prst="roundRect">
            <a:avLst>
              <a:gd name="adj" fmla="val 6000"/>
            </a:avLst>
          </a:prstGeom>
          <a:solidFill>
            <a:srgbClr val="244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21040" y="3154680"/>
            <a:ext cx="2926080" cy="411480"/>
          </a:xfrm>
          <a:prstGeom prst="rect">
            <a:avLst/>
          </a:prstGeom>
          <a:noFill/>
        </p:spPr>
        <p:txBody>
          <a:bodyPr wrap="square" lIns="0" rIns="0" tIns="0" bIns="0" anchor="t">
            <a:spAutoFit/>
          </a:bodyPr>
          <a:lstStyle/>
          <a:p>
            <a:pPr algn="l"/>
            <a:r>
              <a:rPr sz="1900" b="1" i="0">
                <a:solidFill>
                  <a:srgbClr val="EFB952"/>
                </a:solidFill>
                <a:latin typeface="Cambria"/>
              </a:rPr>
              <a:t>Hướng phát triển</a:t>
            </a:r>
          </a:p>
        </p:txBody>
      </p:sp>
      <p:sp>
        <p:nvSpPr>
          <p:cNvPr id="12" name="TextBox 11"/>
          <p:cNvSpPr txBox="1"/>
          <p:nvPr/>
        </p:nvSpPr>
        <p:spPr>
          <a:xfrm>
            <a:off x="8321040" y="3657600"/>
            <a:ext cx="2926080" cy="1828800"/>
          </a:xfrm>
          <a:prstGeom prst="rect">
            <a:avLst/>
          </a:prstGeom>
          <a:noFill/>
        </p:spPr>
        <p:txBody>
          <a:bodyPr wrap="square" lIns="0" rIns="0" tIns="0" bIns="0" anchor="t">
            <a:spAutoFit/>
          </a:bodyPr>
          <a:lstStyle/>
          <a:p>
            <a:pPr algn="l"/>
            <a:r>
              <a:rPr sz="1600" b="0" i="0">
                <a:solidFill>
                  <a:srgbClr val="FFFFFF"/>
                </a:solidFill>
                <a:latin typeface="Calibri"/>
              </a:rPr>
              <a:t>Replica set 3 nút hoặc Atlas, change stream cho màn hình điều phối, $merge theo lịch, sharding theo trạm.</a:t>
            </a:r>
          </a:p>
        </p:txBody>
      </p:sp>
      <p:sp>
        <p:nvSpPr>
          <p:cNvPr id="13" name="TextBox 12"/>
          <p:cNvSpPr txBox="1"/>
          <p:nvPr/>
        </p:nvSpPr>
        <p:spPr>
          <a:xfrm>
            <a:off x="731520" y="5943600"/>
            <a:ext cx="10515600" cy="457200"/>
          </a:xfrm>
          <a:prstGeom prst="rect">
            <a:avLst/>
          </a:prstGeom>
          <a:noFill/>
        </p:spPr>
        <p:txBody>
          <a:bodyPr wrap="square" lIns="0" rIns="0" tIns="0" bIns="0" anchor="t">
            <a:spAutoFit/>
          </a:bodyPr>
          <a:lstStyle/>
          <a:p>
            <a:pPr algn="l"/>
            <a:r>
              <a:rPr sz="1800" b="1" i="0">
                <a:solidFill>
                  <a:srgbClr val="DDEFE4"/>
                </a:solidFill>
                <a:latin typeface="Calibri"/>
              </a:rPr>
              <a:t>Cảm ơn thầy và các bạn đã lắng nghe — nhóm sẵn sàng nhận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