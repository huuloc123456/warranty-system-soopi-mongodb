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5"/>
  </p:notesMasterIdLst>
  <p:sldIdLst>
    <p:sldId id="278" r:id="rId2"/>
    <p:sldId id="279" r:id="rId3"/>
    <p:sldId id="280" r:id="rId4"/>
    <p:sldId id="281" r:id="rId5"/>
    <p:sldId id="282" r:id="rId6"/>
    <p:sldId id="283" r:id="rId7"/>
    <p:sldId id="284" r:id="rId8"/>
    <p:sldId id="285" r:id="rId9"/>
    <p:sldId id="286" r:id="rId10"/>
    <p:sldId id="287" r:id="rId11"/>
    <p:sldId id="288" r:id="rId12"/>
    <p:sldId id="289" r:id="rId13"/>
    <p:sldId id="290" r:id="rId14"/>
    <p:sldId id="291" r:id="rId15"/>
    <p:sldId id="292" r:id="rId16"/>
    <p:sldId id="293" r:id="rId17"/>
    <p:sldId id="294" r:id="rId18"/>
    <p:sldId id="295" r:id="rId19"/>
    <p:sldId id="296" r:id="rId20"/>
    <p:sldId id="297" r:id="rId21"/>
    <p:sldId id="298" r:id="rId22"/>
    <p:sldId id="299" r:id="rId23"/>
    <p:sldId id="300" r:id="rId24"/>
    <p:sldId id="301" r:id="rId25"/>
    <p:sldId id="302" r:id="rId26"/>
    <p:sldId id="303" r:id="rId27"/>
    <p:sldId id="304" r:id="rId28"/>
    <p:sldId id="305" r:id="rId29"/>
    <p:sldId id="306" r:id="rId30"/>
    <p:sldId id="307" r:id="rId31"/>
    <p:sldId id="308" r:id="rId32"/>
    <p:sldId id="309" r:id="rId33"/>
    <p:sldId id="310" r:id="rId34"/>
  </p:sldIdLst>
  <p:sldSz cx="18288000" cy="10287000"/>
  <p:notesSz cx="6858000" cy="9144000"/>
  <p:embeddedFontLst>
    <p:embeddedFont>
      <p:font typeface="Arial Bold" panose="020B0704020202020204" pitchFamily="34" charset="0"/>
      <p:regular r:id="rId36"/>
      <p:bold r:id="rId37"/>
    </p:embeddedFont>
    <p:embeddedFont>
      <p:font typeface="Calibri (MS)" panose="020B0604020202020204" charset="0"/>
      <p:regular r:id="rId38"/>
    </p:embeddedFont>
    <p:embeddedFont>
      <p:font typeface="Consolas" panose="020B0609020204030204" pitchFamily="49" charset="0"/>
      <p:regular r:id="rId39"/>
      <p:bold r:id="rId40"/>
      <p:italic r:id="rId41"/>
      <p:boldItalic r:id="rId42"/>
    </p:embeddedFont>
    <p:embeddedFont>
      <p:font typeface="Montserrat" pitchFamily="2" charset="0"/>
      <p:regular r:id="rId43"/>
      <p:bold r:id="rId44"/>
    </p:embeddedFont>
    <p:embeddedFont>
      <p:font typeface="Montserrat Ultra-Bold" panose="020B0604020202020204" charset="0"/>
      <p:regular r:id="rId45"/>
    </p:embeddedFont>
    <p:embeddedFont>
      <p:font typeface="Roboto" panose="02000000000000000000" pitchFamily="2" charset="0"/>
      <p:regular r:id="rId46"/>
    </p:embeddedFont>
    <p:embeddedFont>
      <p:font typeface="Roboto Bold" panose="02000000000000000000" charset="0"/>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378" y="1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4915A7-CEA0-4EFF-983A-1F76B2017C41}" type="datetimeFigureOut">
              <a:rPr lang="en-US" smtClean="0"/>
              <a:t>10/13/2026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C19A2C-9D34-41D1-AA70-E8C08A39BEAC}" type="slidenum">
              <a:rPr lang="en-US" smtClean="0"/>
              <a:t>‹#›</a:t>
            </a:fld>
            <a:endParaRPr lang="en-US"/>
          </a:p>
        </p:txBody>
      </p:sp>
    </p:spTree>
    <p:extLst>
      <p:ext uri="{BB962C8B-B14F-4D97-AF65-F5344CB8AC3E}">
        <p14:creationId xmlns:p14="http://schemas.microsoft.com/office/powerpoint/2010/main" val="2581758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Đồ án môn Internet of Things — Nhóm 17, Đề tài 42. Mô hình quản lý 4 khu vực, 12 cửa và giám sát điều kiện môi trường. Trọng tâm: bảo vệ người trong kho lạnh bằng quy tắc an toàn tại thiết bị. Thực hiện bằng ESP32/Wokwi, PlatformIO, React, MQTT và MySQL. Giới thiệu đây là đồ án mô phỏng toàn bộ luồng thiết bị → máy chủ → giao diện, tập trung kiểm chứng nguyên lý vận hành.</a:t>
            </a:r>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1</a:t>
            </a:fld>
            <a:endParaRPr lang="en-US"/>
          </a:p>
        </p:txBody>
      </p:sp>
    </p:spTree>
    <p:extLst>
      <p:ext uri="{BB962C8B-B14F-4D97-AF65-F5344CB8AC3E}">
        <p14:creationId xmlns:p14="http://schemas.microsoft.com/office/powerpoint/2010/main" val="32349677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Đi từ bài toán và quy tắc an toàn tới cách triển khai, sau đó dùng demo và bằng chứng để đánh giá kết quả.</a:t>
            </a:r>
          </a:p>
        </p:txBody>
      </p:sp>
      <p:sp>
        <p:nvSpPr>
          <p:cNvPr id="4" name="Slide Number Placeholder 3"/>
          <p:cNvSpPr>
            <a:spLocks noGrp="1"/>
          </p:cNvSpPr>
          <p:nvPr>
            <p:ph type="sldNum" sz="quarter" idx="5"/>
          </p:nvPr>
        </p:nvSpPr>
        <p:spPr/>
        <p:txBody>
          <a:bodyPr/>
          <a:lstStyle/>
          <a:p>
            <a:fld id="{E3C19A2C-9D34-41D1-AA70-E8C08A39BEAC}" type="slidenum">
              <a:rPr lang="en-US" smtClean="0"/>
              <a:t>2</a:t>
            </a:fld>
            <a:endParaRPr lang="en-US"/>
          </a:p>
        </p:txBody>
      </p:sp>
    </p:spTree>
    <p:extLst>
      <p:ext uri="{BB962C8B-B14F-4D97-AF65-F5344CB8AC3E}">
        <p14:creationId xmlns:p14="http://schemas.microsoft.com/office/powerpoint/2010/main" val="4213905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3</a:t>
            </a:fld>
            <a:endParaRPr lang="en-US"/>
          </a:p>
        </p:txBody>
      </p:sp>
    </p:spTree>
    <p:extLst>
      <p:ext uri="{BB962C8B-B14F-4D97-AF65-F5344CB8AC3E}">
        <p14:creationId xmlns:p14="http://schemas.microsoft.com/office/powerpoint/2010/main" val="4896628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Nhấn mạnh nhu cầu gom thông tin về một màn hình và xử lý rủi ro tại cửa. Đây là bài toán khảo sát, chưa có số liệu tiết kiệm chi phí hoặc năng lượng thực tế.</a:t>
            </a:r>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4</a:t>
            </a:fld>
            <a:endParaRPr lang="en-US"/>
          </a:p>
        </p:txBody>
      </p:sp>
    </p:spTree>
    <p:extLst>
      <p:ext uri="{BB962C8B-B14F-4D97-AF65-F5344CB8AC3E}">
        <p14:creationId xmlns:p14="http://schemas.microsoft.com/office/powerpoint/2010/main" val="22795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Giao diện tập trung thông tin; quyết định an toàn của cửa D07/D08 vẫn do firmware thực hiện.</a:t>
            </a:r>
          </a:p>
        </p:txBody>
      </p:sp>
      <p:sp>
        <p:nvSpPr>
          <p:cNvPr id="4" name="Slide Number Placeholder 3"/>
          <p:cNvSpPr>
            <a:spLocks noGrp="1"/>
          </p:cNvSpPr>
          <p:nvPr>
            <p:ph type="sldNum" sz="quarter" idx="5"/>
          </p:nvPr>
        </p:nvSpPr>
        <p:spPr/>
        <p:txBody>
          <a:bodyPr/>
          <a:lstStyle/>
          <a:p>
            <a:fld id="{E3C19A2C-9D34-41D1-AA70-E8C08A39BEAC}" type="slidenum">
              <a:rPr lang="en-US" smtClean="0"/>
              <a:t>5</a:t>
            </a:fld>
            <a:endParaRPr lang="en-US"/>
          </a:p>
        </p:txBody>
      </p:sp>
    </p:spTree>
    <p:extLst>
      <p:ext uri="{BB962C8B-B14F-4D97-AF65-F5344CB8AC3E}">
        <p14:creationId xmlns:p14="http://schemas.microsoft.com/office/powerpoint/2010/main" val="16149623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Có 5 danh tính thiết bị: một ESP32 chạy Wokwi và bốn thiết bị script Node. Các dải nhiệt độ là cấu hình của mô hình, không phải yêu cầu chung cho mọi loại hàng.</a:t>
            </a:r>
          </a:p>
        </p:txBody>
      </p:sp>
      <p:sp>
        <p:nvSpPr>
          <p:cNvPr id="4" name="Slide Number Placeholder 3"/>
          <p:cNvSpPr>
            <a:spLocks noGrp="1"/>
          </p:cNvSpPr>
          <p:nvPr>
            <p:ph type="sldNum" sz="quarter" idx="5"/>
          </p:nvPr>
        </p:nvSpPr>
        <p:spPr/>
        <p:txBody>
          <a:bodyPr/>
          <a:lstStyle/>
          <a:p>
            <a:fld id="{E3C19A2C-9D34-41D1-AA70-E8C08A39BEAC}" type="slidenum">
              <a:rPr lang="en-US" smtClean="0"/>
              <a:t>6</a:t>
            </a:fld>
            <a:endParaRPr lang="en-US"/>
          </a:p>
        </p:txBody>
      </p:sp>
    </p:spTree>
    <p:extLst>
      <p:ext uri="{BB962C8B-B14F-4D97-AF65-F5344CB8AC3E}">
        <p14:creationId xmlns:p14="http://schemas.microsoft.com/office/powerpoint/2010/main" val="1555551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Tài liệu đề xuất thêm mạng công nghiệp, VLAN và phần cứng chuyên dụng. Bản demo dùng gateway Wokwi và dịch vụ cục bộ để kiểm chứng luồng xử lý.</a:t>
            </a:r>
          </a:p>
        </p:txBody>
      </p:sp>
      <p:sp>
        <p:nvSpPr>
          <p:cNvPr id="4" name="Slide Number Placeholder 3"/>
          <p:cNvSpPr>
            <a:spLocks noGrp="1"/>
          </p:cNvSpPr>
          <p:nvPr>
            <p:ph type="sldNum" sz="quarter" idx="5"/>
          </p:nvPr>
        </p:nvSpPr>
        <p:spPr/>
        <p:txBody>
          <a:bodyPr/>
          <a:lstStyle/>
          <a:p>
            <a:fld id="{E3C19A2C-9D34-41D1-AA70-E8C08A39BEAC}" type="slidenum">
              <a:rPr lang="en-US" smtClean="0"/>
              <a:t>7</a:t>
            </a:fld>
            <a:endParaRPr lang="en-US"/>
          </a:p>
        </p:txBody>
      </p:sp>
    </p:spTree>
    <p:extLst>
      <p:ext uri="{BB962C8B-B14F-4D97-AF65-F5344CB8AC3E}">
        <p14:creationId xmlns:p14="http://schemas.microsoft.com/office/powerpoint/2010/main" val="37440107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8</a:t>
            </a:fld>
            <a:endParaRPr lang="en-US"/>
          </a:p>
        </p:txBody>
      </p:sp>
    </p:spTree>
    <p:extLst>
      <p:ext uri="{BB962C8B-B14F-4D97-AF65-F5344CB8AC3E}">
        <p14:creationId xmlns:p14="http://schemas.microsoft.com/office/powerpoint/2010/main" val="37908298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Mô hình kiểm tra phản ứng với tín hiệu hiện diện, không đánh giá khả năng phát hiện người của radar thực tế. Camera nhiệt và CO₂ mới thuộc đề xuất mở rộng.</a:t>
            </a:r>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9</a:t>
            </a:fld>
            <a:endParaRPr lang="en-US"/>
          </a:p>
        </p:txBody>
      </p:sp>
    </p:spTree>
    <p:extLst>
      <p:ext uri="{BB962C8B-B14F-4D97-AF65-F5344CB8AC3E}">
        <p14:creationId xmlns:p14="http://schemas.microsoft.com/office/powerpoint/2010/main" val="3137519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Công thức nền tảng là Cho phép đóng = Count xác minh bằng 0 AND Presence clear AND Beam clear. Firmware bổ sung kiểm tra sức khỏe đầu vào, panic, liên động và tính hợp lệ của lệnh.</a:t>
            </a:r>
          </a:p>
        </p:txBody>
      </p:sp>
      <p:sp>
        <p:nvSpPr>
          <p:cNvPr id="4" name="Slide Number Placeholder 3"/>
          <p:cNvSpPr>
            <a:spLocks noGrp="1"/>
          </p:cNvSpPr>
          <p:nvPr>
            <p:ph type="sldNum" sz="quarter" idx="5"/>
          </p:nvPr>
        </p:nvSpPr>
        <p:spPr/>
        <p:txBody>
          <a:bodyPr/>
          <a:lstStyle/>
          <a:p>
            <a:fld id="{E3C19A2C-9D34-41D1-AA70-E8C08A39BEAC}" type="slidenum">
              <a:rPr lang="en-US" smtClean="0"/>
              <a:t>10</a:t>
            </a:fld>
            <a:endParaRPr lang="en-US"/>
          </a:p>
        </p:txBody>
      </p:sp>
    </p:spTree>
    <p:extLst>
      <p:ext uri="{BB962C8B-B14F-4D97-AF65-F5344CB8AC3E}">
        <p14:creationId xmlns:p14="http://schemas.microsoft.com/office/powerpoint/2010/main" val="36504467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Phân biệt “không có người” và “chưa biết số người”. Không dùng giá trị 0 để thay thế dữ liệu chưa xác minh.</a:t>
            </a:r>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11</a:t>
            </a:fld>
            <a:endParaRPr lang="en-US"/>
          </a:p>
        </p:txBody>
      </p:sp>
    </p:spTree>
    <p:extLst>
      <p:ext uri="{BB962C8B-B14F-4D97-AF65-F5344CB8AC3E}">
        <p14:creationId xmlns:p14="http://schemas.microsoft.com/office/powerpoint/2010/main" val="30614545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Mục tiêu liên động là hạn chế mở đồng thời khi vận hành bình thường. Khẩn cấp phải ưu tiên cứu người; không trình bày liên động như một điều kiện cản thoát hiểm.</a:t>
            </a:r>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12</a:t>
            </a:fld>
            <a:endParaRPr lang="en-US"/>
          </a:p>
        </p:txBody>
      </p:sp>
    </p:spTree>
    <p:extLst>
      <p:ext uri="{BB962C8B-B14F-4D97-AF65-F5344CB8AC3E}">
        <p14:creationId xmlns:p14="http://schemas.microsoft.com/office/powerpoint/2010/main" val="5439700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Đèn, còi, sưởi và quạt được biểu diễn bằng LED. Chốt xả cơ học và relay an toàn độc lập là yêu cầu khi triển khai thực tế, chưa được lắp trong mô hình.</a:t>
            </a:r>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13</a:t>
            </a:fld>
            <a:endParaRPr lang="en-US"/>
          </a:p>
        </p:txBody>
      </p:sp>
    </p:spTree>
    <p:extLst>
      <p:ext uri="{BB962C8B-B14F-4D97-AF65-F5344CB8AC3E}">
        <p14:creationId xmlns:p14="http://schemas.microsoft.com/office/powerpoint/2010/main" val="40634756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Ngưỡng xét trên tỷ lệ thực bằng số nguyên, không lấy số phần trăm đã làm tròn trên UI. Dữ liệu vị trí/hàng đang chứa là seed demo, chưa đồng bộ WMS.</a:t>
            </a:r>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14</a:t>
            </a:fld>
            <a:endParaRPr lang="en-US"/>
          </a:p>
        </p:txBody>
      </p:sp>
    </p:spTree>
    <p:extLst>
      <p:ext uri="{BB962C8B-B14F-4D97-AF65-F5344CB8AC3E}">
        <p14:creationId xmlns:p14="http://schemas.microsoft.com/office/powerpoint/2010/main" val="3054733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15</a:t>
            </a:fld>
            <a:endParaRPr lang="en-US"/>
          </a:p>
        </p:txBody>
      </p:sp>
    </p:spTree>
    <p:extLst>
      <p:ext uri="{BB962C8B-B14F-4D97-AF65-F5344CB8AC3E}">
        <p14:creationId xmlns:p14="http://schemas.microsoft.com/office/powerpoint/2010/main" val="11010900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PlatformIO dùng để build; Wokwi dùng để chạy mô phỏng. MySQL được giữ làm cơ sở dữ liệu thống nhất cho các quan hệ kho, cửa, người dùng và giữ chỗ.</a:t>
            </a:r>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16</a:t>
            </a:fld>
            <a:endParaRPr lang="en-US"/>
          </a:p>
        </p:txBody>
      </p:sp>
    </p:spTree>
    <p:extLst>
      <p:ext uri="{BB962C8B-B14F-4D97-AF65-F5344CB8AC3E}">
        <p14:creationId xmlns:p14="http://schemas.microsoft.com/office/powerpoint/2010/main" val="10406088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API nhận yêu cầu không có nghĩa cửa đã chuyển trạng thái. ACK của ESP32 và telemetry là bằng chứng kết quả thực thi trong mô phỏng.</a:t>
            </a:r>
          </a:p>
        </p:txBody>
      </p:sp>
      <p:sp>
        <p:nvSpPr>
          <p:cNvPr id="4" name="Slide Number Placeholder 3"/>
          <p:cNvSpPr>
            <a:spLocks noGrp="1"/>
          </p:cNvSpPr>
          <p:nvPr>
            <p:ph type="sldNum" sz="quarter" idx="5"/>
          </p:nvPr>
        </p:nvSpPr>
        <p:spPr/>
        <p:txBody>
          <a:bodyPr/>
          <a:lstStyle/>
          <a:p>
            <a:fld id="{E3C19A2C-9D34-41D1-AA70-E8C08A39BEAC}" type="slidenum">
              <a:rPr lang="en-US" smtClean="0"/>
              <a:t>17</a:t>
            </a:fld>
            <a:endParaRPr lang="en-US"/>
          </a:p>
        </p:txBody>
      </p:sp>
    </p:spTree>
    <p:extLst>
      <p:ext uri="{BB962C8B-B14F-4D97-AF65-F5344CB8AC3E}">
        <p14:creationId xmlns:p14="http://schemas.microsoft.com/office/powerpoint/2010/main" val="40071978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MySQL phù hợp vì dữ liệu có quan hệ rõ và thao tác nhận hàng cần tính nhất quán. Không cần thêm một cơ sở dữ liệu thứ hai cho phạm vi demo này.</a:t>
            </a:r>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18</a:t>
            </a:fld>
            <a:endParaRPr lang="en-US"/>
          </a:p>
        </p:txBody>
      </p:sp>
    </p:spTree>
    <p:extLst>
      <p:ext uri="{BB962C8B-B14F-4D97-AF65-F5344CB8AC3E}">
        <p14:creationId xmlns:p14="http://schemas.microsoft.com/office/powerpoint/2010/main" val="2750409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Giải thích vì sao dữ liệu cũ vẫn có thể được xem để tra cứu nhưng không được coi là căn cứ an toàn để gửi lệnh đóng.</a:t>
            </a:r>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19</a:t>
            </a:fld>
            <a:endParaRPr lang="en-US"/>
          </a:p>
        </p:txBody>
      </p:sp>
    </p:spTree>
    <p:extLst>
      <p:ext uri="{BB962C8B-B14F-4D97-AF65-F5344CB8AC3E}">
        <p14:creationId xmlns:p14="http://schemas.microsoft.com/office/powerpoint/2010/main" val="17524948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Lịch ca trong mô hình là dữ liệu demo tại MySQL. Chưa kéo lịch từ WMS; trạng thái ngoài ca được ghi nhận, không biến phần mềm thành cơ chế ngăn thoát hiểm.</a:t>
            </a:r>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20</a:t>
            </a:fld>
            <a:endParaRPr lang="en-US"/>
          </a:p>
        </p:txBody>
      </p:sp>
    </p:spTree>
    <p:extLst>
      <p:ext uri="{BB962C8B-B14F-4D97-AF65-F5344CB8AC3E}">
        <p14:creationId xmlns:p14="http://schemas.microsoft.com/office/powerpoint/2010/main" val="10699822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Tiếp nhận cảnh báo chỉ ghi nhận người vận hành đã biết sự cố; nó không làm điều kiện nguy hiểm tự biến mất.</a:t>
            </a:r>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21</a:t>
            </a:fld>
            <a:endParaRPr lang="en-US"/>
          </a:p>
        </p:txBody>
      </p:sp>
    </p:spTree>
    <p:extLst>
      <p:ext uri="{BB962C8B-B14F-4D97-AF65-F5344CB8AC3E}">
        <p14:creationId xmlns:p14="http://schemas.microsoft.com/office/powerpoint/2010/main" val="2333789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22</a:t>
            </a:fld>
            <a:endParaRPr lang="en-US"/>
          </a:p>
        </p:txBody>
      </p:sp>
    </p:spTree>
    <p:extLst>
      <p:ext uri="{BB962C8B-B14F-4D97-AF65-F5344CB8AC3E}">
        <p14:creationId xmlns:p14="http://schemas.microsoft.com/office/powerpoint/2010/main" val="32143161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Kiểm tra trường hợp có người theo RFID và trường hợp RFID/presence không khớp. Không dùng thao tác tiếp nhận cảnh báo để bỏ qua kiểm tra an toàn.</a:t>
            </a:r>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23</a:t>
            </a:fld>
            <a:endParaRPr lang="en-US"/>
          </a:p>
        </p:txBody>
      </p:sp>
    </p:spTree>
    <p:extLst>
      <p:ext uri="{BB962C8B-B14F-4D97-AF65-F5344CB8AC3E}">
        <p14:creationId xmlns:p14="http://schemas.microsoft.com/office/powerpoint/2010/main" val="2823513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Ảnh từ chối vị trí minh họa lỗi không có ô phù hợp, không phải ảnh kho đầy 95%. Bốn kịch bản tự động dùng FakeEdge; các ca panic/mất broker có bằng chứng Wokwi riêng.</a:t>
            </a:r>
          </a:p>
        </p:txBody>
      </p:sp>
      <p:sp>
        <p:nvSpPr>
          <p:cNvPr id="4" name="Slide Number Placeholder 3"/>
          <p:cNvSpPr>
            <a:spLocks noGrp="1"/>
          </p:cNvSpPr>
          <p:nvPr>
            <p:ph type="sldNum" sz="quarter" idx="5"/>
          </p:nvPr>
        </p:nvSpPr>
        <p:spPr/>
        <p:txBody>
          <a:bodyPr/>
          <a:lstStyle/>
          <a:p>
            <a:fld id="{E3C19A2C-9D34-41D1-AA70-E8C08A39BEAC}" type="slidenum">
              <a:rPr lang="en-US" smtClean="0"/>
              <a:t>24</a:t>
            </a:fld>
            <a:endParaRPr lang="en-US"/>
          </a:p>
        </p:txBody>
      </p:sp>
    </p:spTree>
    <p:extLst>
      <p:ext uri="{BB962C8B-B14F-4D97-AF65-F5344CB8AC3E}">
        <p14:creationId xmlns:p14="http://schemas.microsoft.com/office/powerpoint/2010/main" val="8389914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Các lỗi đầu vào được tạo bằng bản firmware kiểm thử riêng trên Wokwi; controller.h giữ nguyên. Ca tín hiệu trả ACK INPUT_UNKNOWN; ca stale bị chặn từ API.</a:t>
            </a:r>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25</a:t>
            </a:fld>
            <a:endParaRPr lang="en-US"/>
          </a:p>
        </p:txBody>
      </p:sp>
    </p:spTree>
    <p:extLst>
      <p:ext uri="{BB962C8B-B14F-4D97-AF65-F5344CB8AC3E}">
        <p14:creationId xmlns:p14="http://schemas.microsoft.com/office/powerpoint/2010/main" val="28570142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Chứng minh bằng ESP32 chạy Wokwi, không chỉ bằng client Node. Sau kiểm thử đã phục hồi firmware bình thường và xác nhận 5/5 thiết bị online/fresh.</a:t>
            </a:r>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26</a:t>
            </a:fld>
            <a:endParaRPr lang="en-US"/>
          </a:p>
        </p:txBody>
      </p:sp>
    </p:spTree>
    <p:extLst>
      <p:ext uri="{BB962C8B-B14F-4D97-AF65-F5344CB8AC3E}">
        <p14:creationId xmlns:p14="http://schemas.microsoft.com/office/powerpoint/2010/main" val="34856387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Các con số thuộc những lượt kiểm thử có báo cáo riêng. 50 nguồn ảo không phải 50 tài khoản thiết bị độc lập; 211 ms là tới WebSocket, chưa chứng minh độ trễ hiển thị trên màn hình.</a:t>
            </a:r>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27</a:t>
            </a:fld>
            <a:endParaRPr lang="en-US"/>
          </a:p>
        </p:txBody>
      </p:sp>
    </p:spTree>
    <p:extLst>
      <p:ext uri="{BB962C8B-B14F-4D97-AF65-F5344CB8AC3E}">
        <p14:creationId xmlns:p14="http://schemas.microsoft.com/office/powerpoint/2010/main" val="8967848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Số đo 418 ms thuộc lượt kiểm tra sau sửa lỗi gần nhất; không phải cam kết phục hồi cho mọi sự cố DB. Lỗi DB thật vẫn làm mất xác nhận phiên để tránh coi dữ liệu cũ là an toàn.</a:t>
            </a:r>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28</a:t>
            </a:fld>
            <a:endParaRPr lang="en-US"/>
          </a:p>
        </p:txBody>
      </p:sp>
    </p:spTree>
    <p:extLst>
      <p:ext uri="{BB962C8B-B14F-4D97-AF65-F5344CB8AC3E}">
        <p14:creationId xmlns:p14="http://schemas.microsoft.com/office/powerpoint/2010/main" val="375563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29</a:t>
            </a:fld>
            <a:endParaRPr lang="en-US"/>
          </a:p>
        </p:txBody>
      </p:sp>
    </p:spTree>
    <p:extLst>
      <p:ext uri="{BB962C8B-B14F-4D97-AF65-F5344CB8AC3E}">
        <p14:creationId xmlns:p14="http://schemas.microsoft.com/office/powerpoint/2010/main" val="5451897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Giá trị của đồ án là mô hình tích hợp và các tình huống kiểm chứng rõ ràng. Chưa có phép đo thực địa để kết luận mức tiết kiệm nhiệt, chi phí hoặc hiệu quả vận hành thực tế.</a:t>
            </a:r>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30</a:t>
            </a:fld>
            <a:endParaRPr lang="en-US"/>
          </a:p>
        </p:txBody>
      </p:sp>
    </p:spTree>
    <p:extLst>
      <p:ext uri="{BB962C8B-B14F-4D97-AF65-F5344CB8AC3E}">
        <p14:creationId xmlns:p14="http://schemas.microsoft.com/office/powerpoint/2010/main" val="13799195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Không khẳng định mô hình đạt chứng nhận an toàn hoặc đã thử được khả năng phát hiện người bất tỉnh. Mạng công nghiệp/VLAN trong tài liệu là phương án thiết kế, chưa triển khai ở demo localhost.</a:t>
            </a:r>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31</a:t>
            </a:fld>
            <a:endParaRPr lang="en-US"/>
          </a:p>
        </p:txBody>
      </p:sp>
    </p:spTree>
    <p:extLst>
      <p:ext uri="{BB962C8B-B14F-4D97-AF65-F5344CB8AC3E}">
        <p14:creationId xmlns:p14="http://schemas.microsoft.com/office/powerpoint/2010/main" val="40800352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Ưu tiên đóng các phép đo/bàn giao còn thiếu, sau đó mới mở rộng phần cứng và tích hợp. Thêm cảm biến cần kiểm chứng khả năng phát hiện trong môi trường kho lạnh thực tế.</a:t>
            </a:r>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32</a:t>
            </a:fld>
            <a:endParaRPr lang="en-US"/>
          </a:p>
        </p:txBody>
      </p:sp>
    </p:spTree>
    <p:extLst>
      <p:ext uri="{BB962C8B-B14F-4D97-AF65-F5344CB8AC3E}">
        <p14:creationId xmlns:p14="http://schemas.microsoft.com/office/powerpoint/2010/main" val="6410563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Giữ dashboard và tab Simulator sẵn sàng nếu cần minh họa thêm. Không chạy lại các ca thay firmware/TLS ngay trong buổi trình bày nếu chưa chuẩn bị thời gian phục hồi.</a:t>
            </a:r>
            <a:endParaRPr lang="en-US"/>
          </a:p>
        </p:txBody>
      </p:sp>
      <p:sp>
        <p:nvSpPr>
          <p:cNvPr id="4" name="Slide Number Placeholder 3"/>
          <p:cNvSpPr>
            <a:spLocks noGrp="1"/>
          </p:cNvSpPr>
          <p:nvPr>
            <p:ph type="sldNum" sz="quarter" idx="5"/>
          </p:nvPr>
        </p:nvSpPr>
        <p:spPr/>
        <p:txBody>
          <a:bodyPr/>
          <a:lstStyle/>
          <a:p>
            <a:fld id="{E3C19A2C-9D34-41D1-AA70-E8C08A39BEAC}" type="slidenum">
              <a:rPr lang="en-US" smtClean="0"/>
              <a:t>33</a:t>
            </a:fld>
            <a:endParaRPr lang="en-US"/>
          </a:p>
        </p:txBody>
      </p:sp>
    </p:spTree>
    <p:extLst>
      <p:ext uri="{BB962C8B-B14F-4D97-AF65-F5344CB8AC3E}">
        <p14:creationId xmlns:p14="http://schemas.microsoft.com/office/powerpoint/2010/main" val="1357179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grpSp>
        <p:nvGrpSpPr>
          <p:cNvPr id="6" name="Group 6"/>
          <p:cNvGrpSpPr/>
          <p:nvPr/>
        </p:nvGrpSpPr>
        <p:grpSpPr>
          <a:xfrm>
            <a:off x="2743238" y="10108759"/>
            <a:ext cx="15544724" cy="152705"/>
            <a:chOff x="0" y="0"/>
            <a:chExt cx="20726298" cy="203606"/>
          </a:xfrm>
        </p:grpSpPr>
        <p:sp>
          <p:nvSpPr>
            <p:cNvPr id="7" name="Freeform 7"/>
            <p:cNvSpPr/>
            <p:nvPr/>
          </p:nvSpPr>
          <p:spPr>
            <a:xfrm>
              <a:off x="0" y="0"/>
              <a:ext cx="20726273" cy="203581"/>
            </a:xfrm>
            <a:custGeom>
              <a:avLst/>
              <a:gdLst/>
              <a:ahLst/>
              <a:cxnLst/>
              <a:rect l="l" t="t" r="r" b="b"/>
              <a:pathLst>
                <a:path w="20726273" h="203581">
                  <a:moveTo>
                    <a:pt x="0" y="0"/>
                  </a:moveTo>
                  <a:lnTo>
                    <a:pt x="20726273" y="0"/>
                  </a:lnTo>
                  <a:lnTo>
                    <a:pt x="20726273" y="203581"/>
                  </a:lnTo>
                  <a:lnTo>
                    <a:pt x="0" y="203581"/>
                  </a:lnTo>
                  <a:lnTo>
                    <a:pt x="0" y="0"/>
                  </a:lnTo>
                  <a:close/>
                </a:path>
              </a:pathLst>
            </a:custGeom>
            <a:blipFill>
              <a:blip r:embed="rId3"/>
              <a:stretch>
                <a:fillRect b="-35745"/>
              </a:stretch>
            </a:blipFill>
          </p:spPr>
        </p:sp>
      </p:grpSp>
      <p:sp>
        <p:nvSpPr>
          <p:cNvPr id="8" name="TextBox 8"/>
          <p:cNvSpPr txBox="1"/>
          <p:nvPr/>
        </p:nvSpPr>
        <p:spPr>
          <a:xfrm>
            <a:off x="302009" y="10021281"/>
            <a:ext cx="2254501" cy="247650"/>
          </a:xfrm>
          <a:prstGeom prst="rect">
            <a:avLst/>
          </a:prstGeom>
        </p:spPr>
        <p:txBody>
          <a:bodyPr lIns="0" tIns="0" rIns="0" bIns="0" rtlCol="0" anchor="t">
            <a:spAutoFit/>
          </a:bodyPr>
          <a:lstStyle/>
          <a:p>
            <a:pPr algn="l">
              <a:lnSpc>
                <a:spcPts val="1800"/>
              </a:lnSpc>
            </a:pPr>
            <a:r>
              <a:rPr lang="en-US" sz="1500">
                <a:solidFill>
                  <a:srgbClr val="0070C0"/>
                </a:solidFill>
                <a:latin typeface="Roboto"/>
                <a:ea typeface="Roboto"/>
                <a:cs typeface="Roboto"/>
                <a:sym typeface="Roboto"/>
              </a:rPr>
              <a:t>https://huit.edu.vn</a:t>
            </a:r>
          </a:p>
        </p:txBody>
      </p:sp>
      <p:grpSp>
        <p:nvGrpSpPr>
          <p:cNvPr id="9" name="Group 9"/>
          <p:cNvGrpSpPr/>
          <p:nvPr/>
        </p:nvGrpSpPr>
        <p:grpSpPr>
          <a:xfrm>
            <a:off x="-15240" y="7567612"/>
            <a:ext cx="18303240" cy="2514600"/>
            <a:chOff x="0" y="0"/>
            <a:chExt cx="24404320" cy="3352800"/>
          </a:xfrm>
        </p:grpSpPr>
        <p:sp>
          <p:nvSpPr>
            <p:cNvPr id="10" name="Freeform 10" descr="A building with trees in the background  Description automatically generated"/>
            <p:cNvSpPr/>
            <p:nvPr/>
          </p:nvSpPr>
          <p:spPr>
            <a:xfrm>
              <a:off x="0" y="0"/>
              <a:ext cx="24404320" cy="3352800"/>
            </a:xfrm>
            <a:custGeom>
              <a:avLst/>
              <a:gdLst/>
              <a:ahLst/>
              <a:cxnLst/>
              <a:rect l="l" t="t" r="r" b="b"/>
              <a:pathLst>
                <a:path w="24404320" h="3352800">
                  <a:moveTo>
                    <a:pt x="0" y="0"/>
                  </a:moveTo>
                  <a:lnTo>
                    <a:pt x="24404320" y="0"/>
                  </a:lnTo>
                  <a:lnTo>
                    <a:pt x="24404320" y="3352800"/>
                  </a:lnTo>
                  <a:lnTo>
                    <a:pt x="0" y="3352800"/>
                  </a:lnTo>
                  <a:lnTo>
                    <a:pt x="0" y="0"/>
                  </a:lnTo>
                  <a:close/>
                </a:path>
              </a:pathLst>
            </a:custGeom>
            <a:blipFill>
              <a:blip r:embed="rId4"/>
              <a:stretch>
                <a:fillRect t="-16633" b="-16633"/>
              </a:stretch>
            </a:blipFill>
          </p:spPr>
        </p:sp>
      </p:grpSp>
      <p:sp>
        <p:nvSpPr>
          <p:cNvPr id="11" name="TextBox 11"/>
          <p:cNvSpPr txBox="1"/>
          <p:nvPr/>
        </p:nvSpPr>
        <p:spPr>
          <a:xfrm>
            <a:off x="3910012" y="84315"/>
            <a:ext cx="10452725" cy="828675"/>
          </a:xfrm>
          <a:prstGeom prst="rect">
            <a:avLst/>
          </a:prstGeom>
        </p:spPr>
        <p:txBody>
          <a:bodyPr lIns="0" tIns="0" rIns="0" bIns="0" rtlCol="0" anchor="t">
            <a:spAutoFit/>
          </a:bodyPr>
          <a:lstStyle/>
          <a:p>
            <a:pPr algn="ctr">
              <a:lnSpc>
                <a:spcPts val="3240"/>
              </a:lnSpc>
            </a:pPr>
            <a:r>
              <a:rPr lang="en-US" sz="2700">
                <a:solidFill>
                  <a:srgbClr val="FFFFFF"/>
                </a:solidFill>
                <a:latin typeface="Roboto"/>
                <a:ea typeface="Roboto"/>
                <a:cs typeface="Roboto"/>
                <a:sym typeface="Roboto"/>
              </a:rPr>
              <a:t>BỘ CÔNG THƯƠNG</a:t>
            </a:r>
          </a:p>
          <a:p>
            <a:pPr algn="ctr">
              <a:lnSpc>
                <a:spcPts val="3240"/>
              </a:lnSpc>
            </a:pPr>
            <a:r>
              <a:rPr lang="en-US" sz="2700" b="1">
                <a:solidFill>
                  <a:srgbClr val="FFFFFF"/>
                </a:solidFill>
                <a:latin typeface="Roboto Bold"/>
                <a:ea typeface="Roboto Bold"/>
                <a:cs typeface="Roboto Bold"/>
                <a:sym typeface="Roboto Bold"/>
              </a:rPr>
              <a:t>TRƯỜNG ĐẠI HỌC CÔNG THƯƠNG THÀNH PHỐ HỒ CHÍ MINH</a:t>
            </a:r>
          </a:p>
        </p:txBody>
      </p:sp>
      <p:grpSp>
        <p:nvGrpSpPr>
          <p:cNvPr id="12" name="Group 12"/>
          <p:cNvGrpSpPr/>
          <p:nvPr/>
        </p:nvGrpSpPr>
        <p:grpSpPr>
          <a:xfrm>
            <a:off x="534200" y="27089"/>
            <a:ext cx="999001" cy="999001"/>
            <a:chOff x="0" y="0"/>
            <a:chExt cx="1332001" cy="1332001"/>
          </a:xfrm>
        </p:grpSpPr>
        <p:sp>
          <p:nvSpPr>
            <p:cNvPr id="13" name="Freeform 13" descr="A white circle with blue and red text and a book with a graduation cap  Description automatically generated"/>
            <p:cNvSpPr/>
            <p:nvPr/>
          </p:nvSpPr>
          <p:spPr>
            <a:xfrm>
              <a:off x="0" y="0"/>
              <a:ext cx="1331976" cy="1331976"/>
            </a:xfrm>
            <a:custGeom>
              <a:avLst/>
              <a:gdLst/>
              <a:ahLst/>
              <a:cxnLst/>
              <a:rect l="l" t="t" r="r" b="b"/>
              <a:pathLst>
                <a:path w="1331976" h="1331976">
                  <a:moveTo>
                    <a:pt x="0" y="0"/>
                  </a:moveTo>
                  <a:lnTo>
                    <a:pt x="1331976" y="0"/>
                  </a:lnTo>
                  <a:lnTo>
                    <a:pt x="1331976" y="1331976"/>
                  </a:lnTo>
                  <a:lnTo>
                    <a:pt x="0" y="1331976"/>
                  </a:lnTo>
                  <a:lnTo>
                    <a:pt x="0" y="0"/>
                  </a:lnTo>
                  <a:close/>
                </a:path>
              </a:pathLst>
            </a:custGeom>
            <a:blipFill>
              <a:blip r:embed="rId5"/>
              <a:stretch>
                <a:fillRect r="-1" b="-1"/>
              </a:stretch>
            </a:blipFill>
          </p:spPr>
        </p:sp>
      </p:grpSp>
      <p:sp>
        <p:nvSpPr>
          <p:cNvPr id="18" name="Course">
            <a:extLst>
              <a:ext uri="{FF2B5EF4-FFF2-40B4-BE49-F238E27FC236}">
                <a16:creationId xmlns:a16="http://schemas.microsoft.com/office/drawing/2014/main" id="{EDA30871-EB05-4656-915C-88A4AE94A5DA}"/>
              </a:ext>
            </a:extLst>
          </p:cNvPr>
          <p:cNvSpPr txBox="1"/>
          <p:nvPr/>
        </p:nvSpPr>
        <p:spPr>
          <a:xfrm>
            <a:off x="1524000" y="1625600"/>
            <a:ext cx="15240000" cy="369332"/>
          </a:xfrm>
          <a:prstGeom prst="rect">
            <a:avLst/>
          </a:prstGeom>
          <a:noFill/>
        </p:spPr>
        <p:txBody>
          <a:bodyPr vert="horz" wrap="square" lIns="0" tIns="0" rIns="0" bIns="0" rtlCol="0">
            <a:noAutofit/>
          </a:bodyPr>
          <a:lstStyle/>
          <a:p>
            <a:pPr algn="ctr"/>
            <a:r>
              <a:rPr lang="en-US" sz="4600" b="1">
                <a:solidFill>
                  <a:srgbClr val="ED1C24"/>
                </a:solidFill>
                <a:latin typeface="Montserrat" pitchFamily="2" charset="0"/>
              </a:rPr>
              <a:t>INTERNET OF THINGS</a:t>
            </a:r>
          </a:p>
        </p:txBody>
      </p:sp>
      <p:sp>
        <p:nvSpPr>
          <p:cNvPr id="19" name="Product">
            <a:extLst>
              <a:ext uri="{FF2B5EF4-FFF2-40B4-BE49-F238E27FC236}">
                <a16:creationId xmlns:a16="http://schemas.microsoft.com/office/drawing/2014/main" id="{65CE2D6E-862E-873A-B387-205CD7947146}"/>
              </a:ext>
            </a:extLst>
          </p:cNvPr>
          <p:cNvSpPr txBox="1"/>
          <p:nvPr/>
        </p:nvSpPr>
        <p:spPr>
          <a:xfrm>
            <a:off x="762000" y="2768600"/>
            <a:ext cx="16764000" cy="369332"/>
          </a:xfrm>
          <a:prstGeom prst="rect">
            <a:avLst/>
          </a:prstGeom>
          <a:noFill/>
        </p:spPr>
        <p:txBody>
          <a:bodyPr vert="horz" wrap="square" lIns="0" tIns="0" rIns="0" bIns="0" rtlCol="0">
            <a:noAutofit/>
          </a:bodyPr>
          <a:lstStyle/>
          <a:p>
            <a:pPr algn="ctr"/>
            <a:r>
              <a:rPr lang="en-US" sz="13800" b="1">
                <a:solidFill>
                  <a:srgbClr val="00529C"/>
                </a:solidFill>
                <a:latin typeface="Montserrat" pitchFamily="2" charset="0"/>
              </a:rPr>
              <a:t>KHOGUARD</a:t>
            </a:r>
          </a:p>
        </p:txBody>
      </p:sp>
      <p:sp>
        <p:nvSpPr>
          <p:cNvPr id="20" name="Tagline">
            <a:extLst>
              <a:ext uri="{FF2B5EF4-FFF2-40B4-BE49-F238E27FC236}">
                <a16:creationId xmlns:a16="http://schemas.microsoft.com/office/drawing/2014/main" id="{3A7D5A60-859A-9AF7-90B8-51D63CFE0FC2}"/>
              </a:ext>
            </a:extLst>
          </p:cNvPr>
          <p:cNvSpPr txBox="1"/>
          <p:nvPr/>
        </p:nvSpPr>
        <p:spPr>
          <a:xfrm>
            <a:off x="1524000" y="4978400"/>
            <a:ext cx="15240000" cy="369332"/>
          </a:xfrm>
          <a:prstGeom prst="rect">
            <a:avLst/>
          </a:prstGeom>
          <a:noFill/>
        </p:spPr>
        <p:txBody>
          <a:bodyPr vert="horz" wrap="square" lIns="0" tIns="0" rIns="0" bIns="0" rtlCol="0">
            <a:noAutofit/>
          </a:bodyPr>
          <a:lstStyle/>
          <a:p>
            <a:pPr algn="ctr"/>
            <a:r>
              <a:rPr lang="en-US" sz="3000" b="1">
                <a:solidFill>
                  <a:srgbClr val="1F2328"/>
                </a:solidFill>
                <a:latin typeface="Montserrat" pitchFamily="2" charset="0"/>
              </a:rPr>
              <a:t>Giám sát kho hàng và an toàn kho lạnh bằng IoT</a:t>
            </a:r>
          </a:p>
        </p:txBody>
      </p:sp>
      <p:sp>
        <p:nvSpPr>
          <p:cNvPr id="21" name="Advisor">
            <a:extLst>
              <a:ext uri="{FF2B5EF4-FFF2-40B4-BE49-F238E27FC236}">
                <a16:creationId xmlns:a16="http://schemas.microsoft.com/office/drawing/2014/main" id="{11201D5F-99EA-4047-41C4-651FB4904314}"/>
              </a:ext>
            </a:extLst>
          </p:cNvPr>
          <p:cNvSpPr txBox="1"/>
          <p:nvPr/>
        </p:nvSpPr>
        <p:spPr>
          <a:xfrm>
            <a:off x="1524000" y="5867400"/>
            <a:ext cx="15240000" cy="369332"/>
          </a:xfrm>
          <a:prstGeom prst="rect">
            <a:avLst/>
          </a:prstGeom>
          <a:noFill/>
        </p:spPr>
        <p:txBody>
          <a:bodyPr vert="horz" wrap="square" lIns="0" tIns="0" rIns="0" bIns="0" rtlCol="0">
            <a:noAutofit/>
          </a:bodyPr>
          <a:lstStyle/>
          <a:p>
            <a:pPr algn="ctr"/>
            <a:r>
              <a:rPr lang="en-US" sz="2600" b="1">
                <a:solidFill>
                  <a:srgbClr val="1F2328"/>
                </a:solidFill>
                <a:latin typeface="Montserrat" pitchFamily="2" charset="0"/>
              </a:rPr>
              <a:t>GVHD: ………………………</a:t>
            </a:r>
          </a:p>
        </p:txBody>
      </p:sp>
      <p:sp>
        <p:nvSpPr>
          <p:cNvPr id="22" name="Members">
            <a:extLst>
              <a:ext uri="{FF2B5EF4-FFF2-40B4-BE49-F238E27FC236}">
                <a16:creationId xmlns:a16="http://schemas.microsoft.com/office/drawing/2014/main" id="{0B456E78-54FC-BC08-E004-C8134A212F89}"/>
              </a:ext>
            </a:extLst>
          </p:cNvPr>
          <p:cNvSpPr txBox="1"/>
          <p:nvPr/>
        </p:nvSpPr>
        <p:spPr>
          <a:xfrm>
            <a:off x="1524000" y="6502400"/>
            <a:ext cx="15240000" cy="369332"/>
          </a:xfrm>
          <a:prstGeom prst="rect">
            <a:avLst/>
          </a:prstGeom>
          <a:noFill/>
        </p:spPr>
        <p:txBody>
          <a:bodyPr vert="horz" wrap="square" lIns="0" tIns="0" rIns="0" bIns="0" rtlCol="0">
            <a:noAutofit/>
          </a:bodyPr>
          <a:lstStyle/>
          <a:p>
            <a:pPr algn="ctr"/>
            <a:r>
              <a:rPr lang="en-US" sz="2600">
                <a:solidFill>
                  <a:srgbClr val="1F2328"/>
                </a:solidFill>
                <a:latin typeface="Montserrat" pitchFamily="2" charset="0"/>
              </a:rPr>
              <a:t>Nhóm 17 · Đề tài 42 — Thành viên: ………………………</a:t>
            </a:r>
          </a:p>
        </p:txBody>
      </p:sp>
    </p:spTree>
    <p:extLst>
      <p:ext uri="{BB962C8B-B14F-4D97-AF65-F5344CB8AC3E}">
        <p14:creationId xmlns:p14="http://schemas.microsoft.com/office/powerpoint/2010/main" val="971070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8" name="TextBox 8"/>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grpSp>
        <p:nvGrpSpPr>
          <p:cNvPr id="9" name="Group 9"/>
          <p:cNvGrpSpPr/>
          <p:nvPr/>
        </p:nvGrpSpPr>
        <p:grpSpPr>
          <a:xfrm>
            <a:off x="1353483" y="3102350"/>
            <a:ext cx="15643796" cy="6586477"/>
            <a:chOff x="0" y="0"/>
            <a:chExt cx="4120177" cy="1734710"/>
          </a:xfrm>
        </p:grpSpPr>
        <p:sp>
          <p:nvSpPr>
            <p:cNvPr id="10" name="Freeform 10"/>
            <p:cNvSpPr/>
            <p:nvPr/>
          </p:nvSpPr>
          <p:spPr>
            <a:xfrm>
              <a:off x="0" y="0"/>
              <a:ext cx="4120177" cy="1734710"/>
            </a:xfrm>
            <a:custGeom>
              <a:avLst/>
              <a:gdLst/>
              <a:ahLst/>
              <a:cxnLst/>
              <a:rect l="l" t="t" r="r" b="b"/>
              <a:pathLst>
                <a:path w="4120177" h="1734710">
                  <a:moveTo>
                    <a:pt x="49489" y="0"/>
                  </a:moveTo>
                  <a:lnTo>
                    <a:pt x="4070688" y="0"/>
                  </a:lnTo>
                  <a:cubicBezTo>
                    <a:pt x="4098020" y="0"/>
                    <a:pt x="4120177" y="22157"/>
                    <a:pt x="4120177" y="49489"/>
                  </a:cubicBezTo>
                  <a:lnTo>
                    <a:pt x="4120177" y="1685221"/>
                  </a:lnTo>
                  <a:cubicBezTo>
                    <a:pt x="4120177" y="1712553"/>
                    <a:pt x="4098020" y="1734710"/>
                    <a:pt x="4070688" y="1734710"/>
                  </a:cubicBezTo>
                  <a:lnTo>
                    <a:pt x="49489" y="1734710"/>
                  </a:lnTo>
                  <a:cubicBezTo>
                    <a:pt x="36364" y="1734710"/>
                    <a:pt x="23776" y="1729496"/>
                    <a:pt x="14495" y="1720215"/>
                  </a:cubicBezTo>
                  <a:cubicBezTo>
                    <a:pt x="5214" y="1710934"/>
                    <a:pt x="0" y="1698347"/>
                    <a:pt x="0" y="1685221"/>
                  </a:cubicBezTo>
                  <a:lnTo>
                    <a:pt x="0" y="49489"/>
                  </a:lnTo>
                  <a:cubicBezTo>
                    <a:pt x="0" y="22157"/>
                    <a:pt x="22157" y="0"/>
                    <a:pt x="49489" y="0"/>
                  </a:cubicBezTo>
                  <a:close/>
                </a:path>
              </a:pathLst>
            </a:custGeom>
            <a:solidFill>
              <a:srgbClr val="D9D9D9"/>
            </a:solidFill>
          </p:spPr>
        </p:sp>
        <p:sp>
          <p:nvSpPr>
            <p:cNvPr id="11" name="TextBox 11"/>
            <p:cNvSpPr txBox="1"/>
            <p:nvPr/>
          </p:nvSpPr>
          <p:spPr>
            <a:xfrm>
              <a:off x="0" y="9525"/>
              <a:ext cx="4120177" cy="1725185"/>
            </a:xfrm>
            <a:prstGeom prst="rect">
              <a:avLst/>
            </a:prstGeom>
          </p:spPr>
          <p:txBody>
            <a:bodyPr lIns="50800" tIns="50800" rIns="50800" bIns="50800" rtlCol="0" anchor="ctr"/>
            <a:lstStyle/>
            <a:p>
              <a:pPr algn="ctr">
                <a:lnSpc>
                  <a:spcPts val="2399"/>
                </a:lnSpc>
              </a:pPr>
              <a:endParaRPr/>
            </a:p>
          </p:txBody>
        </p:sp>
      </p:grpSp>
      <p:grpSp>
        <p:nvGrpSpPr>
          <p:cNvPr id="13" name="Group 13"/>
          <p:cNvGrpSpPr/>
          <p:nvPr/>
        </p:nvGrpSpPr>
        <p:grpSpPr>
          <a:xfrm>
            <a:off x="6029266" y="1413030"/>
            <a:ext cx="6229468" cy="1089245"/>
            <a:chOff x="0" y="0"/>
            <a:chExt cx="884588" cy="154673"/>
          </a:xfrm>
        </p:grpSpPr>
        <p:sp>
          <p:nvSpPr>
            <p:cNvPr id="14" name="Freeform 14"/>
            <p:cNvSpPr/>
            <p:nvPr/>
          </p:nvSpPr>
          <p:spPr>
            <a:xfrm>
              <a:off x="0" y="0"/>
              <a:ext cx="884588" cy="154673"/>
            </a:xfrm>
            <a:custGeom>
              <a:avLst/>
              <a:gdLst/>
              <a:ahLst/>
              <a:cxnLst/>
              <a:rect l="l" t="t" r="r" b="b"/>
              <a:pathLst>
                <a:path w="884588" h="154673">
                  <a:moveTo>
                    <a:pt x="19419" y="0"/>
                  </a:moveTo>
                  <a:lnTo>
                    <a:pt x="865170" y="0"/>
                  </a:lnTo>
                  <a:cubicBezTo>
                    <a:pt x="870320" y="0"/>
                    <a:pt x="875259" y="2046"/>
                    <a:pt x="878901" y="5688"/>
                  </a:cubicBezTo>
                  <a:cubicBezTo>
                    <a:pt x="882542" y="9329"/>
                    <a:pt x="884588" y="14268"/>
                    <a:pt x="884588" y="19419"/>
                  </a:cubicBezTo>
                  <a:lnTo>
                    <a:pt x="884588" y="135255"/>
                  </a:lnTo>
                  <a:cubicBezTo>
                    <a:pt x="884588" y="145979"/>
                    <a:pt x="875894" y="154673"/>
                    <a:pt x="865170" y="154673"/>
                  </a:cubicBezTo>
                  <a:lnTo>
                    <a:pt x="19419" y="154673"/>
                  </a:lnTo>
                  <a:cubicBezTo>
                    <a:pt x="8694" y="154673"/>
                    <a:pt x="0" y="145979"/>
                    <a:pt x="0" y="135255"/>
                  </a:cubicBezTo>
                  <a:lnTo>
                    <a:pt x="0" y="19419"/>
                  </a:lnTo>
                  <a:cubicBezTo>
                    <a:pt x="0" y="8694"/>
                    <a:pt x="8694" y="0"/>
                    <a:pt x="19419" y="0"/>
                  </a:cubicBezTo>
                  <a:close/>
                </a:path>
              </a:pathLst>
            </a:custGeom>
            <a:solidFill>
              <a:srgbClr val="0070C0"/>
            </a:solidFill>
          </p:spPr>
        </p:sp>
        <p:sp>
          <p:nvSpPr>
            <p:cNvPr id="15" name="TextBox 15"/>
            <p:cNvSpPr txBox="1"/>
            <p:nvPr/>
          </p:nvSpPr>
          <p:spPr>
            <a:xfrm>
              <a:off x="0" y="-9525"/>
              <a:ext cx="884588" cy="164198"/>
            </a:xfrm>
            <a:prstGeom prst="rect">
              <a:avLst/>
            </a:prstGeom>
          </p:spPr>
          <p:txBody>
            <a:bodyPr lIns="50800" tIns="50800" rIns="50800" bIns="50800" rtlCol="0" anchor="ctr"/>
            <a:lstStyle/>
            <a:p>
              <a:pPr algn="ctr">
                <a:lnSpc>
                  <a:spcPts val="1800"/>
                </a:lnSpc>
              </a:pPr>
              <a:endParaRPr/>
            </a:p>
          </p:txBody>
        </p:sp>
      </p:grpSp>
      <p:sp>
        <p:nvSpPr>
          <p:cNvPr id="16" name="TextBox 16"/>
          <p:cNvSpPr txBox="1"/>
          <p:nvPr/>
        </p:nvSpPr>
        <p:spPr>
          <a:xfrm>
            <a:off x="6793111" y="1667140"/>
            <a:ext cx="4701778" cy="590550"/>
          </a:xfrm>
          <a:prstGeom prst="rect">
            <a:avLst/>
          </a:prstGeom>
        </p:spPr>
        <p:txBody>
          <a:bodyPr lIns="0" tIns="0" rIns="0" bIns="0" rtlCol="0" anchor="t">
            <a:spAutoFit/>
          </a:bodyPr>
          <a:lstStyle/>
          <a:p>
            <a:pPr algn="ctr">
              <a:lnSpc>
                <a:spcPts val="4799"/>
              </a:lnSpc>
              <a:spcBef>
                <a:spcPct val="0"/>
              </a:spcBef>
            </a:pPr>
            <a:r>
              <a:rPr lang="en-US" sz="3999" b="1">
                <a:solidFill>
                  <a:srgbClr val="FFFFFF"/>
                </a:solidFill>
                <a:latin typeface="Montserrat Ultra-Bold"/>
                <a:ea typeface="Montserrat Ultra-Bold"/>
                <a:cs typeface="Montserrat Ultra-Bold"/>
                <a:sym typeface="Montserrat Ultra-Bold"/>
              </a:rPr>
              <a:t>NỘI DUNG CHÍNH</a:t>
            </a:r>
          </a:p>
        </p:txBody>
      </p:sp>
      <p:sp>
        <p:nvSpPr>
          <p:cNvPr id="24" name="Chapter 1">
            <a:extLst>
              <a:ext uri="{FF2B5EF4-FFF2-40B4-BE49-F238E27FC236}">
                <a16:creationId xmlns:a16="http://schemas.microsoft.com/office/drawing/2014/main" id="{6C91F5A2-94DC-9368-C499-470A3238E01B}"/>
              </a:ext>
            </a:extLst>
          </p:cNvPr>
          <p:cNvSpPr txBox="1"/>
          <p:nvPr/>
        </p:nvSpPr>
        <p:spPr>
          <a:xfrm>
            <a:off x="2133600" y="3632200"/>
            <a:ext cx="10668000" cy="369332"/>
          </a:xfrm>
          <a:prstGeom prst="rect">
            <a:avLst/>
          </a:prstGeom>
          <a:noFill/>
        </p:spPr>
        <p:txBody>
          <a:bodyPr vert="horz" wrap="square" lIns="0" tIns="0" rIns="0" bIns="0" rtlCol="0">
            <a:noAutofit/>
          </a:bodyPr>
          <a:lstStyle/>
          <a:p>
            <a:r>
              <a:rPr lang="en-US" sz="2400" b="1">
                <a:solidFill>
                  <a:srgbClr val="1F2328"/>
                </a:solidFill>
                <a:latin typeface="Montserrat" pitchFamily="2" charset="0"/>
              </a:rPr>
              <a:t>1. Khảo sát và thiết kế hệ thống kho hàng thông minh</a:t>
            </a:r>
          </a:p>
        </p:txBody>
      </p:sp>
      <p:sp>
        <p:nvSpPr>
          <p:cNvPr id="25" name="Chapter 2">
            <a:extLst>
              <a:ext uri="{FF2B5EF4-FFF2-40B4-BE49-F238E27FC236}">
                <a16:creationId xmlns:a16="http://schemas.microsoft.com/office/drawing/2014/main" id="{2E0401A0-80F7-CB8B-EAF8-6DC26E2C03ED}"/>
              </a:ext>
            </a:extLst>
          </p:cNvPr>
          <p:cNvSpPr txBox="1"/>
          <p:nvPr/>
        </p:nvSpPr>
        <p:spPr>
          <a:xfrm>
            <a:off x="2133600" y="4749800"/>
            <a:ext cx="10668000" cy="369332"/>
          </a:xfrm>
          <a:prstGeom prst="rect">
            <a:avLst/>
          </a:prstGeom>
          <a:noFill/>
        </p:spPr>
        <p:txBody>
          <a:bodyPr vert="horz" wrap="square" lIns="0" tIns="0" rIns="0" bIns="0" rtlCol="0">
            <a:noAutofit/>
          </a:bodyPr>
          <a:lstStyle/>
          <a:p>
            <a:r>
              <a:rPr lang="en-US" sz="2400" b="1">
                <a:solidFill>
                  <a:srgbClr val="1F2328"/>
                </a:solidFill>
                <a:latin typeface="Montserrat" pitchFamily="2" charset="0"/>
              </a:rPr>
              <a:t>2. Thiết kế an toàn và vận hành kho lạnh</a:t>
            </a:r>
          </a:p>
        </p:txBody>
      </p:sp>
      <p:sp>
        <p:nvSpPr>
          <p:cNvPr id="26" name="Chapter 3">
            <a:extLst>
              <a:ext uri="{FF2B5EF4-FFF2-40B4-BE49-F238E27FC236}">
                <a16:creationId xmlns:a16="http://schemas.microsoft.com/office/drawing/2014/main" id="{99ABE49C-5D41-63EC-6D94-4AE62D14D02B}"/>
              </a:ext>
            </a:extLst>
          </p:cNvPr>
          <p:cNvSpPr txBox="1"/>
          <p:nvPr/>
        </p:nvSpPr>
        <p:spPr>
          <a:xfrm>
            <a:off x="2133600" y="5867400"/>
            <a:ext cx="10668000" cy="369332"/>
          </a:xfrm>
          <a:prstGeom prst="rect">
            <a:avLst/>
          </a:prstGeom>
          <a:noFill/>
        </p:spPr>
        <p:txBody>
          <a:bodyPr vert="horz" wrap="square" lIns="0" tIns="0" rIns="0" bIns="0" rtlCol="0">
            <a:noAutofit/>
          </a:bodyPr>
          <a:lstStyle/>
          <a:p>
            <a:r>
              <a:rPr lang="en-US" sz="2400" b="1">
                <a:solidFill>
                  <a:srgbClr val="1F2328"/>
                </a:solidFill>
                <a:latin typeface="Montserrat" pitchFamily="2" charset="0"/>
              </a:rPr>
              <a:t>3. Triển khai mô hình KhoGuard</a:t>
            </a:r>
          </a:p>
        </p:txBody>
      </p:sp>
      <p:sp>
        <p:nvSpPr>
          <p:cNvPr id="27" name="Chapter 4">
            <a:extLst>
              <a:ext uri="{FF2B5EF4-FFF2-40B4-BE49-F238E27FC236}">
                <a16:creationId xmlns:a16="http://schemas.microsoft.com/office/drawing/2014/main" id="{E90EC6FA-578E-785E-872C-ACE1B0155AC6}"/>
              </a:ext>
            </a:extLst>
          </p:cNvPr>
          <p:cNvSpPr txBox="1"/>
          <p:nvPr/>
        </p:nvSpPr>
        <p:spPr>
          <a:xfrm>
            <a:off x="2133600" y="6985000"/>
            <a:ext cx="10668000" cy="369332"/>
          </a:xfrm>
          <a:prstGeom prst="rect">
            <a:avLst/>
          </a:prstGeom>
          <a:noFill/>
        </p:spPr>
        <p:txBody>
          <a:bodyPr vert="horz" wrap="square" lIns="0" tIns="0" rIns="0" bIns="0" rtlCol="0">
            <a:noAutofit/>
          </a:bodyPr>
          <a:lstStyle/>
          <a:p>
            <a:r>
              <a:rPr lang="en-US" sz="2400" b="1">
                <a:solidFill>
                  <a:srgbClr val="1F2328"/>
                </a:solidFill>
                <a:latin typeface="Montserrat" pitchFamily="2" charset="0"/>
              </a:rPr>
              <a:t>4. Demo và kết quả kiểm thử</a:t>
            </a:r>
          </a:p>
        </p:txBody>
      </p:sp>
      <p:sp>
        <p:nvSpPr>
          <p:cNvPr id="28" name="Chapter 5">
            <a:extLst>
              <a:ext uri="{FF2B5EF4-FFF2-40B4-BE49-F238E27FC236}">
                <a16:creationId xmlns:a16="http://schemas.microsoft.com/office/drawing/2014/main" id="{51D3443F-EE6A-7B88-BCF2-126D07A3C8E0}"/>
              </a:ext>
            </a:extLst>
          </p:cNvPr>
          <p:cNvSpPr txBox="1"/>
          <p:nvPr/>
        </p:nvSpPr>
        <p:spPr>
          <a:xfrm>
            <a:off x="2133600" y="8102600"/>
            <a:ext cx="10668000" cy="369332"/>
          </a:xfrm>
          <a:prstGeom prst="rect">
            <a:avLst/>
          </a:prstGeom>
          <a:noFill/>
        </p:spPr>
        <p:txBody>
          <a:bodyPr vert="horz" wrap="square" lIns="0" tIns="0" rIns="0" bIns="0" rtlCol="0">
            <a:noAutofit/>
          </a:bodyPr>
          <a:lstStyle/>
          <a:p>
            <a:r>
              <a:rPr lang="vi-VN" sz="2400" b="1">
                <a:solidFill>
                  <a:srgbClr val="1F2328"/>
                </a:solidFill>
                <a:latin typeface="Montserrat" pitchFamily="2" charset="0"/>
              </a:rPr>
              <a:t>5. Kết luận, giới hạn và hướng phát triển</a:t>
            </a:r>
            <a:endParaRPr lang="en-US" sz="2400" b="1">
              <a:solidFill>
                <a:srgbClr val="1F2328"/>
              </a:solidFill>
              <a:latin typeface="Montserrat" pitchFamily="2" charset="0"/>
            </a:endParaRPr>
          </a:p>
        </p:txBody>
      </p:sp>
      <p:sp>
        <p:nvSpPr>
          <p:cNvPr id="29" name="Slide Number">
            <a:extLst>
              <a:ext uri="{FF2B5EF4-FFF2-40B4-BE49-F238E27FC236}">
                <a16:creationId xmlns:a16="http://schemas.microsoft.com/office/drawing/2014/main" id="{0C1B1F45-CB0F-B578-A2E6-DC5C8574D720}"/>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2</a:t>
            </a:r>
          </a:p>
        </p:txBody>
      </p:sp>
    </p:spTree>
    <p:extLst>
      <p:ext uri="{BB962C8B-B14F-4D97-AF65-F5344CB8AC3E}">
        <p14:creationId xmlns:p14="http://schemas.microsoft.com/office/powerpoint/2010/main" val="1525447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grpSp>
        <p:nvGrpSpPr>
          <p:cNvPr id="6" name="Group 6"/>
          <p:cNvGrpSpPr/>
          <p:nvPr/>
        </p:nvGrpSpPr>
        <p:grpSpPr>
          <a:xfrm>
            <a:off x="2743238" y="10108759"/>
            <a:ext cx="15544724" cy="152705"/>
            <a:chOff x="0" y="0"/>
            <a:chExt cx="20726298" cy="203606"/>
          </a:xfrm>
        </p:grpSpPr>
        <p:sp>
          <p:nvSpPr>
            <p:cNvPr id="7" name="Freeform 7"/>
            <p:cNvSpPr/>
            <p:nvPr/>
          </p:nvSpPr>
          <p:spPr>
            <a:xfrm>
              <a:off x="0" y="0"/>
              <a:ext cx="20726273" cy="203581"/>
            </a:xfrm>
            <a:custGeom>
              <a:avLst/>
              <a:gdLst/>
              <a:ahLst/>
              <a:cxnLst/>
              <a:rect l="l" t="t" r="r" b="b"/>
              <a:pathLst>
                <a:path w="20726273" h="203581">
                  <a:moveTo>
                    <a:pt x="0" y="0"/>
                  </a:moveTo>
                  <a:lnTo>
                    <a:pt x="20726273" y="0"/>
                  </a:lnTo>
                  <a:lnTo>
                    <a:pt x="20726273" y="203581"/>
                  </a:lnTo>
                  <a:lnTo>
                    <a:pt x="0" y="203581"/>
                  </a:lnTo>
                  <a:lnTo>
                    <a:pt x="0" y="0"/>
                  </a:lnTo>
                  <a:close/>
                </a:path>
              </a:pathLst>
            </a:custGeom>
            <a:blipFill>
              <a:blip r:embed="rId3"/>
              <a:stretch>
                <a:fillRect b="-35745"/>
              </a:stretch>
            </a:blipFill>
          </p:spPr>
        </p:sp>
      </p:grpSp>
      <p:sp>
        <p:nvSpPr>
          <p:cNvPr id="8" name="TextBox 8"/>
          <p:cNvSpPr txBox="1"/>
          <p:nvPr/>
        </p:nvSpPr>
        <p:spPr>
          <a:xfrm>
            <a:off x="302009" y="10002231"/>
            <a:ext cx="2254501" cy="327536"/>
          </a:xfrm>
          <a:prstGeom prst="rect">
            <a:avLst/>
          </a:prstGeom>
        </p:spPr>
        <p:txBody>
          <a:bodyPr lIns="0" tIns="0" rIns="0" bIns="0" rtlCol="0" anchor="t">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grpSp>
        <p:nvGrpSpPr>
          <p:cNvPr id="9" name="Group 9"/>
          <p:cNvGrpSpPr/>
          <p:nvPr/>
        </p:nvGrpSpPr>
        <p:grpSpPr>
          <a:xfrm>
            <a:off x="-15240" y="7567612"/>
            <a:ext cx="18303240" cy="2514600"/>
            <a:chOff x="0" y="0"/>
            <a:chExt cx="24404320" cy="3352800"/>
          </a:xfrm>
        </p:grpSpPr>
        <p:sp>
          <p:nvSpPr>
            <p:cNvPr id="10" name="Freeform 10" descr="A building with trees in the background  Description automatically generated"/>
            <p:cNvSpPr/>
            <p:nvPr/>
          </p:nvSpPr>
          <p:spPr>
            <a:xfrm>
              <a:off x="0" y="0"/>
              <a:ext cx="24404320" cy="3352800"/>
            </a:xfrm>
            <a:custGeom>
              <a:avLst/>
              <a:gdLst/>
              <a:ahLst/>
              <a:cxnLst/>
              <a:rect l="l" t="t" r="r" b="b"/>
              <a:pathLst>
                <a:path w="24404320" h="3352800">
                  <a:moveTo>
                    <a:pt x="0" y="0"/>
                  </a:moveTo>
                  <a:lnTo>
                    <a:pt x="24404320" y="0"/>
                  </a:lnTo>
                  <a:lnTo>
                    <a:pt x="24404320" y="3352800"/>
                  </a:lnTo>
                  <a:lnTo>
                    <a:pt x="0" y="3352800"/>
                  </a:lnTo>
                  <a:lnTo>
                    <a:pt x="0" y="0"/>
                  </a:lnTo>
                  <a:close/>
                </a:path>
              </a:pathLst>
            </a:custGeom>
            <a:blipFill>
              <a:blip r:embed="rId4"/>
              <a:stretch>
                <a:fillRect t="-16633" b="-16633"/>
              </a:stretch>
            </a:blipFill>
          </p:spPr>
        </p:sp>
      </p:grpSp>
      <p:grpSp>
        <p:nvGrpSpPr>
          <p:cNvPr id="11" name="Group 11"/>
          <p:cNvGrpSpPr/>
          <p:nvPr/>
        </p:nvGrpSpPr>
        <p:grpSpPr>
          <a:xfrm>
            <a:off x="534200" y="27089"/>
            <a:ext cx="999001" cy="999001"/>
            <a:chOff x="0" y="0"/>
            <a:chExt cx="1332001" cy="1332001"/>
          </a:xfrm>
        </p:grpSpPr>
        <p:sp>
          <p:nvSpPr>
            <p:cNvPr id="12" name="Freeform 12" descr="A white circle with blue and red text and a book with a graduation cap  Description automatically generated"/>
            <p:cNvSpPr/>
            <p:nvPr/>
          </p:nvSpPr>
          <p:spPr>
            <a:xfrm>
              <a:off x="0" y="0"/>
              <a:ext cx="1331976" cy="1331976"/>
            </a:xfrm>
            <a:custGeom>
              <a:avLst/>
              <a:gdLst/>
              <a:ahLst/>
              <a:cxnLst/>
              <a:rect l="l" t="t" r="r" b="b"/>
              <a:pathLst>
                <a:path w="1331976" h="1331976">
                  <a:moveTo>
                    <a:pt x="0" y="0"/>
                  </a:moveTo>
                  <a:lnTo>
                    <a:pt x="1331976" y="0"/>
                  </a:lnTo>
                  <a:lnTo>
                    <a:pt x="1331976" y="1331976"/>
                  </a:lnTo>
                  <a:lnTo>
                    <a:pt x="0" y="1331976"/>
                  </a:lnTo>
                  <a:lnTo>
                    <a:pt x="0" y="0"/>
                  </a:lnTo>
                  <a:close/>
                </a:path>
              </a:pathLst>
            </a:custGeom>
            <a:blipFill>
              <a:blip r:embed="rId5"/>
              <a:stretch>
                <a:fillRect r="-1" b="-1"/>
              </a:stretch>
            </a:blipFill>
          </p:spPr>
        </p:sp>
      </p:grpSp>
      <p:sp>
        <p:nvSpPr>
          <p:cNvPr id="13" name="TextBox 13"/>
          <p:cNvSpPr txBox="1"/>
          <p:nvPr/>
        </p:nvSpPr>
        <p:spPr>
          <a:xfrm>
            <a:off x="3910012" y="74790"/>
            <a:ext cx="10452725" cy="897103"/>
          </a:xfrm>
          <a:prstGeom prst="rect">
            <a:avLst/>
          </a:prstGeom>
        </p:spPr>
        <p:txBody>
          <a:bodyPr lIns="0" tIns="0" rIns="0" bIns="0" rtlCol="0" anchor="t">
            <a:spAutoFit/>
          </a:bodyPr>
          <a:lstStyle/>
          <a:p>
            <a:pPr algn="ctr">
              <a:lnSpc>
                <a:spcPts val="3240"/>
              </a:lnSpc>
            </a:pPr>
            <a:r>
              <a:rPr lang="en-US" sz="2700">
                <a:solidFill>
                  <a:srgbClr val="FFFFFF"/>
                </a:solidFill>
                <a:latin typeface="Arial"/>
                <a:ea typeface="Arial"/>
                <a:cs typeface="Arial"/>
                <a:sym typeface="Arial"/>
              </a:rPr>
              <a:t>BỘ CÔNG THƯƠNG</a:t>
            </a:r>
          </a:p>
          <a:p>
            <a:pPr algn="ctr">
              <a:lnSpc>
                <a:spcPts val="3240"/>
              </a:lnSpc>
            </a:pPr>
            <a:r>
              <a:rPr lang="en-US" sz="2700" b="1">
                <a:solidFill>
                  <a:srgbClr val="FFFFFF"/>
                </a:solidFill>
                <a:latin typeface="Arial Bold"/>
                <a:ea typeface="Arial Bold"/>
                <a:cs typeface="Arial Bold"/>
                <a:sym typeface="Arial Bold"/>
              </a:rPr>
              <a:t>TRƯỜNG ĐẠI HỌC CÔNG THƯƠNG THÀNH PHỐ HỒ CHÍ MINH</a:t>
            </a:r>
          </a:p>
        </p:txBody>
      </p:sp>
      <p:sp>
        <p:nvSpPr>
          <p:cNvPr id="16" name="Title">
            <a:extLst>
              <a:ext uri="{FF2B5EF4-FFF2-40B4-BE49-F238E27FC236}">
                <a16:creationId xmlns:a16="http://schemas.microsoft.com/office/drawing/2014/main" id="{CDADF7C3-00F9-A1D2-BD25-3E12C99078A9}"/>
              </a:ext>
            </a:extLst>
          </p:cNvPr>
          <p:cNvSpPr txBox="1"/>
          <p:nvPr/>
        </p:nvSpPr>
        <p:spPr>
          <a:xfrm>
            <a:off x="1397000" y="3429000"/>
            <a:ext cx="15494000" cy="369332"/>
          </a:xfrm>
          <a:prstGeom prst="rect">
            <a:avLst/>
          </a:prstGeom>
          <a:noFill/>
        </p:spPr>
        <p:txBody>
          <a:bodyPr vert="horz" wrap="square" lIns="0" tIns="0" rIns="0" bIns="0" rtlCol="0" anchor="ctr">
            <a:noAutofit/>
          </a:bodyPr>
          <a:lstStyle/>
          <a:p>
            <a:pPr algn="ctr"/>
            <a:r>
              <a:rPr lang="en-US" sz="4400" b="1">
                <a:solidFill>
                  <a:srgbClr val="0070C0"/>
                </a:solidFill>
                <a:latin typeface="Montserrat" pitchFamily="2" charset="0"/>
              </a:rPr>
              <a:t>1. Khảo sát, phân tích và thiết</a:t>
            </a:r>
            <a:br>
              <a:rPr lang="en-US" sz="4400" b="1">
                <a:solidFill>
                  <a:srgbClr val="0070C0"/>
                </a:solidFill>
                <a:latin typeface="Montserrat" pitchFamily="2" charset="0"/>
              </a:rPr>
            </a:br>
            <a:r>
              <a:rPr lang="en-US" sz="4400" b="1">
                <a:solidFill>
                  <a:srgbClr val="0070C0"/>
                </a:solidFill>
                <a:latin typeface="Montserrat" pitchFamily="2" charset="0"/>
              </a:rPr>
              <a:t>kế hệ thống kho hàng thông minh</a:t>
            </a:r>
          </a:p>
        </p:txBody>
      </p:sp>
      <p:sp>
        <p:nvSpPr>
          <p:cNvPr id="17" name="Slide Number">
            <a:extLst>
              <a:ext uri="{FF2B5EF4-FFF2-40B4-BE49-F238E27FC236}">
                <a16:creationId xmlns:a16="http://schemas.microsoft.com/office/drawing/2014/main" id="{5D0AF23E-A438-E6EC-54D4-36659F8DDB90}"/>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1F2328"/>
                </a:solidFill>
                <a:latin typeface="Montserrat" pitchFamily="2" charset="0"/>
              </a:rPr>
              <a:t>3</a:t>
            </a:r>
          </a:p>
        </p:txBody>
      </p:sp>
    </p:spTree>
    <p:extLst>
      <p:ext uri="{BB962C8B-B14F-4D97-AF65-F5344CB8AC3E}">
        <p14:creationId xmlns:p14="http://schemas.microsoft.com/office/powerpoint/2010/main" val="375683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7F9CB44A-2E7E-1249-2FB2-A93497F95551}"/>
              </a:ext>
            </a:extLst>
          </p:cNvPr>
          <p:cNvSpPr txBox="1"/>
          <p:nvPr/>
        </p:nvSpPr>
        <p:spPr>
          <a:xfrm>
            <a:off x="673100" y="1219200"/>
            <a:ext cx="16941800" cy="369332"/>
          </a:xfrm>
          <a:prstGeom prst="rect">
            <a:avLst/>
          </a:prstGeom>
          <a:noFill/>
        </p:spPr>
        <p:txBody>
          <a:bodyPr vert="horz" wrap="square" lIns="0" tIns="0" rIns="0" bIns="0" rtlCol="0">
            <a:noAutofit/>
          </a:bodyPr>
          <a:lstStyle/>
          <a:p>
            <a:r>
              <a:rPr lang="en-US" sz="3400" b="1">
                <a:solidFill>
                  <a:srgbClr val="0070C0"/>
                </a:solidFill>
                <a:latin typeface="Montserrat" pitchFamily="2" charset="0"/>
              </a:rPr>
              <a:t>Vì sao cần giám sát kho hàng bằng IoT?</a:t>
            </a:r>
          </a:p>
        </p:txBody>
      </p:sp>
      <p:sp>
        <p:nvSpPr>
          <p:cNvPr id="26" name="Panel">
            <a:extLst>
              <a:ext uri="{FF2B5EF4-FFF2-40B4-BE49-F238E27FC236}">
                <a16:creationId xmlns:a16="http://schemas.microsoft.com/office/drawing/2014/main" id="{FF2A70EA-75CD-37F3-4083-37FBD1E17BE5}"/>
              </a:ext>
            </a:extLst>
          </p:cNvPr>
          <p:cNvSpPr/>
          <p:nvPr/>
        </p:nvSpPr>
        <p:spPr>
          <a:xfrm>
            <a:off x="673100" y="7402801"/>
            <a:ext cx="8318500" cy="2147599"/>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a:lnSpc>
                <a:spcPct val="110000"/>
              </a:lnSpc>
              <a:spcAft>
                <a:spcPts val="1600"/>
              </a:spcAft>
            </a:pPr>
            <a:r>
              <a:rPr lang="vi-VN" sz="1900">
                <a:solidFill>
                  <a:srgbClr val="1F2328"/>
                </a:solidFill>
                <a:latin typeface="Montserrat" pitchFamily="2" charset="0"/>
              </a:rPr>
              <a:t>Kho nhiều cửa và nhiều khu vực khó theo dõi bằng thao tác thủ công.</a:t>
            </a:r>
          </a:p>
          <a:p>
            <a:pPr>
              <a:lnSpc>
                <a:spcPct val="110000"/>
              </a:lnSpc>
              <a:spcAft>
                <a:spcPts val="1600"/>
              </a:spcAft>
            </a:pPr>
            <a:r>
              <a:rPr lang="vi-VN" sz="1900">
                <a:solidFill>
                  <a:srgbClr val="1F2328"/>
                </a:solidFill>
                <a:latin typeface="Montserrat" pitchFamily="2" charset="0"/>
              </a:rPr>
              <a:t>Cửa mở lâu gây thất thoát nhiệt và ảnh hưởng điều kiện bảo quản.</a:t>
            </a:r>
            <a:endParaRPr lang="en-US" sz="1900">
              <a:solidFill>
                <a:srgbClr val="1F2328"/>
              </a:solidFill>
              <a:latin typeface="Montserrat" pitchFamily="2" charset="0"/>
            </a:endParaRPr>
          </a:p>
        </p:txBody>
      </p:sp>
      <p:sp>
        <p:nvSpPr>
          <p:cNvPr id="27" name="Panel">
            <a:extLst>
              <a:ext uri="{FF2B5EF4-FFF2-40B4-BE49-F238E27FC236}">
                <a16:creationId xmlns:a16="http://schemas.microsoft.com/office/drawing/2014/main" id="{8002C759-9EAF-239D-944E-1C943BF959A5}"/>
              </a:ext>
            </a:extLst>
          </p:cNvPr>
          <p:cNvSpPr/>
          <p:nvPr/>
        </p:nvSpPr>
        <p:spPr>
          <a:xfrm>
            <a:off x="9296400" y="7402801"/>
            <a:ext cx="8318500" cy="2147599"/>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a:lnSpc>
                <a:spcPct val="110000"/>
              </a:lnSpc>
              <a:spcAft>
                <a:spcPts val="1600"/>
              </a:spcAft>
            </a:pPr>
            <a:r>
              <a:rPr lang="vi-VN" sz="1900">
                <a:solidFill>
                  <a:srgbClr val="1F2328"/>
                </a:solidFill>
                <a:latin typeface="Montserrat" pitchFamily="2" charset="0"/>
              </a:rPr>
              <a:t>Thông tin ra/vào, môi trường và sức chứa thường nằm rời rạc.</a:t>
            </a:r>
          </a:p>
          <a:p>
            <a:pPr>
              <a:lnSpc>
                <a:spcPct val="110000"/>
              </a:lnSpc>
              <a:spcAft>
                <a:spcPts val="1600"/>
              </a:spcAft>
            </a:pPr>
            <a:r>
              <a:rPr lang="vi-VN" sz="1900">
                <a:solidFill>
                  <a:srgbClr val="1F2328"/>
                </a:solidFill>
                <a:latin typeface="Montserrat" pitchFamily="2" charset="0"/>
              </a:rPr>
              <a:t>Kho lạnh cần phát hiện người còn bên trong và hỗ trợ xử lý khẩn cấp.</a:t>
            </a:r>
            <a:endParaRPr lang="en-US" sz="1900">
              <a:solidFill>
                <a:srgbClr val="1F2328"/>
              </a:solidFill>
              <a:latin typeface="Montserrat" pitchFamily="2" charset="0"/>
            </a:endParaRPr>
          </a:p>
        </p:txBody>
      </p:sp>
      <p:pic>
        <p:nvPicPr>
          <p:cNvPr id="29" name="Picture" descr="Các khu cần giám sát trong mô hình">
            <a:extLst>
              <a:ext uri="{FF2B5EF4-FFF2-40B4-BE49-F238E27FC236}">
                <a16:creationId xmlns:a16="http://schemas.microsoft.com/office/drawing/2014/main" id="{71A05CA4-E58B-52CB-1B67-36B0F760BAF1}"/>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3174149" y="2133600"/>
            <a:ext cx="11939702" cy="4964401"/>
          </a:xfrm>
          <a:prstGeom prst="rect">
            <a:avLst/>
          </a:prstGeom>
        </p:spPr>
      </p:pic>
      <p:sp>
        <p:nvSpPr>
          <p:cNvPr id="30" name="Slide Number">
            <a:extLst>
              <a:ext uri="{FF2B5EF4-FFF2-40B4-BE49-F238E27FC236}">
                <a16:creationId xmlns:a16="http://schemas.microsoft.com/office/drawing/2014/main" id="{CE4D3270-5888-615E-EAE0-1F528A1D8475}"/>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4</a:t>
            </a:r>
          </a:p>
        </p:txBody>
      </p:sp>
    </p:spTree>
    <p:extLst>
      <p:ext uri="{BB962C8B-B14F-4D97-AF65-F5344CB8AC3E}">
        <p14:creationId xmlns:p14="http://schemas.microsoft.com/office/powerpoint/2010/main" val="1879146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E17C0167-5AA5-17C6-0B79-E73036C137B5}"/>
              </a:ext>
            </a:extLst>
          </p:cNvPr>
          <p:cNvSpPr txBox="1"/>
          <p:nvPr/>
        </p:nvSpPr>
        <p:spPr>
          <a:xfrm>
            <a:off x="673100" y="1219200"/>
            <a:ext cx="16941800" cy="369332"/>
          </a:xfrm>
          <a:prstGeom prst="rect">
            <a:avLst/>
          </a:prstGeom>
          <a:noFill/>
        </p:spPr>
        <p:txBody>
          <a:bodyPr vert="horz" wrap="square" lIns="0" tIns="0" rIns="0" bIns="0" rtlCol="0">
            <a:noAutofit/>
          </a:bodyPr>
          <a:lstStyle/>
          <a:p>
            <a:r>
              <a:rPr lang="en-US" sz="3400" b="1">
                <a:solidFill>
                  <a:srgbClr val="0070C0"/>
                </a:solidFill>
                <a:latin typeface="Montserrat" pitchFamily="2" charset="0"/>
              </a:rPr>
              <a:t>Mục tiêu và các nhóm chức năng</a:t>
            </a:r>
          </a:p>
        </p:txBody>
      </p:sp>
      <p:pic>
        <p:nvPicPr>
          <p:cNvPr id="27" name="Picture" descr="Giao diện giám sát cửa và chỉ số toàn kho">
            <a:extLst>
              <a:ext uri="{FF2B5EF4-FFF2-40B4-BE49-F238E27FC236}">
                <a16:creationId xmlns:a16="http://schemas.microsoft.com/office/drawing/2014/main" id="{98C40C5B-31D2-26DA-A6AE-26FEAA7C06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82100" y="2133600"/>
            <a:ext cx="8432800" cy="7195714"/>
          </a:xfrm>
          <a:prstGeom prst="rect">
            <a:avLst/>
          </a:prstGeom>
          <a:ln w="9525">
            <a:solidFill>
              <a:srgbClr val="D0D5DA"/>
            </a:solidFill>
          </a:ln>
        </p:spPr>
      </p:pic>
      <p:sp>
        <p:nvSpPr>
          <p:cNvPr id="28" name="Panel">
            <a:extLst>
              <a:ext uri="{FF2B5EF4-FFF2-40B4-BE49-F238E27FC236}">
                <a16:creationId xmlns:a16="http://schemas.microsoft.com/office/drawing/2014/main" id="{A269831B-48B9-1A58-E830-6A4D05585828}"/>
              </a:ext>
            </a:extLst>
          </p:cNvPr>
          <p:cNvSpPr/>
          <p:nvPr/>
        </p:nvSpPr>
        <p:spPr>
          <a:xfrm>
            <a:off x="673100" y="2133599"/>
            <a:ext cx="8204200" cy="7195714"/>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ctr">
            <a:noAutofit/>
          </a:bodyPr>
          <a:lstStyle/>
          <a:p>
            <a:pPr>
              <a:lnSpc>
                <a:spcPct val="110000"/>
              </a:lnSpc>
              <a:spcAft>
                <a:spcPts val="1700"/>
              </a:spcAft>
            </a:pPr>
            <a:r>
              <a:rPr lang="vi-VN" sz="2000">
                <a:solidFill>
                  <a:srgbClr val="1F2328"/>
                </a:solidFill>
                <a:latin typeface="Montserrat" pitchFamily="2" charset="0"/>
              </a:rPr>
              <a:t>Giám sát trạng thái cửa, nhiệt độ, độ ẩm và số người theo khu vực.</a:t>
            </a:r>
          </a:p>
          <a:p>
            <a:pPr>
              <a:lnSpc>
                <a:spcPct val="110000"/>
              </a:lnSpc>
              <a:spcAft>
                <a:spcPts val="1700"/>
              </a:spcAft>
            </a:pPr>
            <a:r>
              <a:rPr lang="vi-VN" sz="2000">
                <a:solidFill>
                  <a:srgbClr val="1F2328"/>
                </a:solidFill>
                <a:latin typeface="Montserrat" pitchFamily="2" charset="0"/>
              </a:rPr>
              <a:t>Kiểm soát ra/vào bằng RFID, đối chiếu với lịch ca.</a:t>
            </a:r>
          </a:p>
          <a:p>
            <a:pPr>
              <a:lnSpc>
                <a:spcPct val="110000"/>
              </a:lnSpc>
              <a:spcAft>
                <a:spcPts val="1700"/>
              </a:spcAft>
            </a:pPr>
            <a:r>
              <a:rPr lang="vi-VN" sz="2000">
                <a:solidFill>
                  <a:srgbClr val="1F2328"/>
                </a:solidFill>
                <a:latin typeface="Montserrat" pitchFamily="2" charset="0"/>
              </a:rPr>
              <a:t>Chặn đóng cửa khi còn người, có vật cản hoặc tín hiệu chưa rõ.</a:t>
            </a:r>
          </a:p>
          <a:p>
            <a:pPr>
              <a:lnSpc>
                <a:spcPct val="110000"/>
              </a:lnSpc>
              <a:spcAft>
                <a:spcPts val="1700"/>
              </a:spcAft>
            </a:pPr>
            <a:r>
              <a:rPr lang="vi-VN" sz="2000">
                <a:solidFill>
                  <a:srgbClr val="1F2328"/>
                </a:solidFill>
                <a:latin typeface="Montserrat" pitchFamily="2" charset="0"/>
              </a:rPr>
              <a:t>Cảnh báo sự cố; lưu lịch sử và xuất báo cáo.</a:t>
            </a:r>
          </a:p>
          <a:p>
            <a:pPr>
              <a:lnSpc>
                <a:spcPct val="110000"/>
              </a:lnSpc>
              <a:spcAft>
                <a:spcPts val="1700"/>
              </a:spcAft>
            </a:pPr>
            <a:r>
              <a:rPr lang="vi-VN" sz="2000">
                <a:solidFill>
                  <a:srgbClr val="1F2328"/>
                </a:solidFill>
                <a:latin typeface="Montserrat" pitchFamily="2" charset="0"/>
              </a:rPr>
              <a:t>Kiểm tra sức chứa và giữ vị trí trước khi nhận hàng.</a:t>
            </a:r>
            <a:endParaRPr lang="en-US" sz="2000">
              <a:solidFill>
                <a:srgbClr val="1F2328"/>
              </a:solidFill>
              <a:latin typeface="Montserrat" pitchFamily="2" charset="0"/>
            </a:endParaRPr>
          </a:p>
        </p:txBody>
      </p:sp>
      <p:sp>
        <p:nvSpPr>
          <p:cNvPr id="29" name="Slide Number">
            <a:extLst>
              <a:ext uri="{FF2B5EF4-FFF2-40B4-BE49-F238E27FC236}">
                <a16:creationId xmlns:a16="http://schemas.microsoft.com/office/drawing/2014/main" id="{A8AF616A-EBAF-B3A1-74AB-CBAFCAC822AC}"/>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5</a:t>
            </a:r>
          </a:p>
        </p:txBody>
      </p:sp>
    </p:spTree>
    <p:extLst>
      <p:ext uri="{BB962C8B-B14F-4D97-AF65-F5344CB8AC3E}">
        <p14:creationId xmlns:p14="http://schemas.microsoft.com/office/powerpoint/2010/main" val="3189473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EC9D1596-FA2F-85D7-9A7B-F4AD0E767E2E}"/>
              </a:ext>
            </a:extLst>
          </p:cNvPr>
          <p:cNvSpPr txBox="1"/>
          <p:nvPr/>
        </p:nvSpPr>
        <p:spPr>
          <a:xfrm>
            <a:off x="673100" y="1219200"/>
            <a:ext cx="16941800" cy="369332"/>
          </a:xfrm>
          <a:prstGeom prst="rect">
            <a:avLst/>
          </a:prstGeom>
          <a:noFill/>
        </p:spPr>
        <p:txBody>
          <a:bodyPr vert="horz" wrap="square" lIns="0" tIns="0" rIns="0" bIns="0" rtlCol="0">
            <a:noAutofit/>
          </a:bodyPr>
          <a:lstStyle/>
          <a:p>
            <a:r>
              <a:rPr lang="en-US" sz="3400" b="1">
                <a:solidFill>
                  <a:srgbClr val="0070C0"/>
                </a:solidFill>
                <a:latin typeface="Montserrat" pitchFamily="2" charset="0"/>
              </a:rPr>
              <a:t>Phạm vi mô hình: 4 khu, 12 cửa</a:t>
            </a:r>
          </a:p>
        </p:txBody>
      </p:sp>
      <p:graphicFrame>
        <p:nvGraphicFramePr>
          <p:cNvPr id="26" name="Table">
            <a:extLst>
              <a:ext uri="{FF2B5EF4-FFF2-40B4-BE49-F238E27FC236}">
                <a16:creationId xmlns:a16="http://schemas.microsoft.com/office/drawing/2014/main" id="{2CB59F1C-99AC-B12E-3E88-996CA0356F33}"/>
              </a:ext>
            </a:extLst>
          </p:cNvPr>
          <p:cNvGraphicFramePr>
            <a:graphicFrameLocks noGrp="1"/>
          </p:cNvGraphicFramePr>
          <p:nvPr>
            <p:extLst>
              <p:ext uri="{D42A27DB-BD31-4B8C-83A1-F6EECF244321}">
                <p14:modId xmlns:p14="http://schemas.microsoft.com/office/powerpoint/2010/main" val="1727063720"/>
              </p:ext>
            </p:extLst>
          </p:nvPr>
        </p:nvGraphicFramePr>
        <p:xfrm>
          <a:off x="673100" y="2133600"/>
          <a:ext cx="16941800" cy="2540000"/>
        </p:xfrm>
        <a:graphic>
          <a:graphicData uri="http://schemas.openxmlformats.org/drawingml/2006/table">
            <a:tbl>
              <a:tblPr firstRow="1" bandRow="1">
                <a:tableStyleId>{5C22544A-7EE6-4342-B048-85BDC9FD1C3A}</a:tableStyleId>
              </a:tblPr>
              <a:tblGrid>
                <a:gridCol w="3649003">
                  <a:extLst>
                    <a:ext uri="{9D8B030D-6E8A-4147-A177-3AD203B41FA5}">
                      <a16:colId xmlns:a16="http://schemas.microsoft.com/office/drawing/2014/main" val="1227494462"/>
                    </a:ext>
                  </a:extLst>
                </a:gridCol>
                <a:gridCol w="5994791">
                  <a:extLst>
                    <a:ext uri="{9D8B030D-6E8A-4147-A177-3AD203B41FA5}">
                      <a16:colId xmlns:a16="http://schemas.microsoft.com/office/drawing/2014/main" val="3035252732"/>
                    </a:ext>
                  </a:extLst>
                </a:gridCol>
                <a:gridCol w="2606431">
                  <a:extLst>
                    <a:ext uri="{9D8B030D-6E8A-4147-A177-3AD203B41FA5}">
                      <a16:colId xmlns:a16="http://schemas.microsoft.com/office/drawing/2014/main" val="2836968761"/>
                    </a:ext>
                  </a:extLst>
                </a:gridCol>
                <a:gridCol w="4691576">
                  <a:extLst>
                    <a:ext uri="{9D8B030D-6E8A-4147-A177-3AD203B41FA5}">
                      <a16:colId xmlns:a16="http://schemas.microsoft.com/office/drawing/2014/main" val="1767236088"/>
                    </a:ext>
                  </a:extLst>
                </a:gridCol>
              </a:tblGrid>
              <a:tr h="381000">
                <a:tc>
                  <a:txBody>
                    <a:bodyPr/>
                    <a:lstStyle/>
                    <a:p>
                      <a:r>
                        <a:rPr lang="en-US" sz="1800" b="1">
                          <a:solidFill>
                            <a:srgbClr val="FFFFFF"/>
                          </a:solidFill>
                          <a:latin typeface="Montserrat" pitchFamily="2" charset="0"/>
                        </a:rPr>
                        <a:t>Khu vực</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tc>
                  <a:txBody>
                    <a:bodyPr/>
                    <a:lstStyle/>
                    <a:p>
                      <a:r>
                        <a:rPr lang="en-US" sz="1800" b="1">
                          <a:solidFill>
                            <a:srgbClr val="FFFFFF"/>
                          </a:solidFill>
                          <a:latin typeface="Montserrat" pitchFamily="2" charset="0"/>
                        </a:rPr>
                        <a:t>Điều kiện nhiệt độ demo</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tc>
                  <a:txBody>
                    <a:bodyPr/>
                    <a:lstStyle/>
                    <a:p>
                      <a:r>
                        <a:rPr lang="en-US" sz="1800" b="1">
                          <a:solidFill>
                            <a:srgbClr val="FFFFFF"/>
                          </a:solidFill>
                          <a:latin typeface="Montserrat" pitchFamily="2" charset="0"/>
                        </a:rPr>
                        <a:t>Cửa</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tc>
                  <a:txBody>
                    <a:bodyPr/>
                    <a:lstStyle/>
                    <a:p>
                      <a:r>
                        <a:rPr lang="en-US" sz="1800" b="1">
                          <a:solidFill>
                            <a:srgbClr val="FFFFFF"/>
                          </a:solidFill>
                          <a:latin typeface="Montserrat" pitchFamily="2" charset="0"/>
                        </a:rPr>
                        <a:t>Nguồn dữ liệu</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extLst>
                  <a:ext uri="{0D108BD9-81ED-4DB2-BD59-A6C34878D82A}">
                    <a16:rowId xmlns:a16="http://schemas.microsoft.com/office/drawing/2014/main" val="2777237053"/>
                  </a:ext>
                </a:extLst>
              </a:tr>
              <a:tr h="381000">
                <a:tc>
                  <a:txBody>
                    <a:bodyPr/>
                    <a:lstStyle/>
                    <a:p>
                      <a:r>
                        <a:rPr lang="vi-VN" sz="1800" b="0">
                          <a:solidFill>
                            <a:srgbClr val="1F2328"/>
                          </a:solidFill>
                          <a:latin typeface="Montserrat" pitchFamily="2" charset="0"/>
                        </a:rPr>
                        <a:t>A — Kho thường</a:t>
                      </a:r>
                      <a:endParaRPr lang="en-US" sz="1800" b="0">
                        <a:solidFill>
                          <a:srgbClr val="1F2328"/>
                        </a:solidFill>
                        <a:latin typeface="Montserrat" pitchFamily="2" charset="0"/>
                      </a:endParaRP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Montserrat" pitchFamily="2" charset="0"/>
                        </a:rPr>
                        <a:t>18 đến 30 °C</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Montserrat" pitchFamily="2" charset="0"/>
                        </a:rPr>
                        <a:t>D01–D03</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Montserrat" pitchFamily="2" charset="0"/>
                        </a:rPr>
                        <a:t>SIM-A01</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3092468729"/>
                  </a:ext>
                </a:extLst>
              </a:tr>
              <a:tr h="381000">
                <a:tc>
                  <a:txBody>
                    <a:bodyPr/>
                    <a:lstStyle/>
                    <a:p>
                      <a:r>
                        <a:rPr lang="en-US" sz="1800" b="0">
                          <a:solidFill>
                            <a:srgbClr val="1F2328"/>
                          </a:solidFill>
                          <a:latin typeface="Montserrat" pitchFamily="2" charset="0"/>
                        </a:rPr>
                        <a:t>B — Kho mát</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Montserrat" pitchFamily="2" charset="0"/>
                        </a:rPr>
                        <a:t>2 đến 8 °C</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Montserrat" pitchFamily="2" charset="0"/>
                        </a:rPr>
                        <a:t>D04–D06</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Montserrat" pitchFamily="2" charset="0"/>
                        </a:rPr>
                        <a:t>SIM-B01</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extLst>
                  <a:ext uri="{0D108BD9-81ED-4DB2-BD59-A6C34878D82A}">
                    <a16:rowId xmlns:a16="http://schemas.microsoft.com/office/drawing/2014/main" val="3094651451"/>
                  </a:ext>
                </a:extLst>
              </a:tr>
              <a:tr h="381000">
                <a:tc>
                  <a:txBody>
                    <a:bodyPr/>
                    <a:lstStyle/>
                    <a:p>
                      <a:r>
                        <a:rPr lang="en-US" sz="1800" b="0">
                          <a:solidFill>
                            <a:srgbClr val="1F2328"/>
                          </a:solidFill>
                          <a:latin typeface="Montserrat" pitchFamily="2" charset="0"/>
                        </a:rPr>
                        <a:t>C — Kho lạnh</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Montserrat" pitchFamily="2" charset="0"/>
                        </a:rPr>
                        <a:t>−22 đến −16 °C</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Montserrat" pitchFamily="2" charset="0"/>
                        </a:rPr>
                        <a:t>D07–D09</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Montserrat" pitchFamily="2" charset="0"/>
                        </a:rPr>
                        <a:t>ESP-C01 và SIM-C02</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3339831068"/>
                  </a:ext>
                </a:extLst>
              </a:tr>
              <a:tr h="381000">
                <a:tc>
                  <a:txBody>
                    <a:bodyPr/>
                    <a:lstStyle/>
                    <a:p>
                      <a:r>
                        <a:rPr lang="en-US" sz="1800" b="0">
                          <a:solidFill>
                            <a:srgbClr val="1F2328"/>
                          </a:solidFill>
                          <a:latin typeface="Montserrat" pitchFamily="2" charset="0"/>
                        </a:rPr>
                        <a:t>D — Khu đệm</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Montserrat" pitchFamily="2" charset="0"/>
                        </a:rPr>
                        <a:t>18 đến 28 °C</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Montserrat" pitchFamily="2" charset="0"/>
                        </a:rPr>
                        <a:t>D10–D12</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Montserrat" pitchFamily="2" charset="0"/>
                        </a:rPr>
                        <a:t>SIM-D01</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extLst>
                  <a:ext uri="{0D108BD9-81ED-4DB2-BD59-A6C34878D82A}">
                    <a16:rowId xmlns:a16="http://schemas.microsoft.com/office/drawing/2014/main" val="2180370923"/>
                  </a:ext>
                </a:extLst>
              </a:tr>
            </a:tbl>
          </a:graphicData>
        </a:graphic>
      </p:graphicFrame>
      <p:pic>
        <p:nvPicPr>
          <p:cNvPr id="28" name="Picture" descr="Phạm vi thiết bị và cửa theo từng khu">
            <a:extLst>
              <a:ext uri="{FF2B5EF4-FFF2-40B4-BE49-F238E27FC236}">
                <a16:creationId xmlns:a16="http://schemas.microsoft.com/office/drawing/2014/main" id="{089C21BE-54B2-A272-3EEA-42DDD61AE0C6}"/>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3462758" y="4826000"/>
            <a:ext cx="11362485" cy="4724400"/>
          </a:xfrm>
          <a:prstGeom prst="rect">
            <a:avLst/>
          </a:prstGeom>
        </p:spPr>
      </p:pic>
      <p:sp>
        <p:nvSpPr>
          <p:cNvPr id="29" name="Slide Number">
            <a:extLst>
              <a:ext uri="{FF2B5EF4-FFF2-40B4-BE49-F238E27FC236}">
                <a16:creationId xmlns:a16="http://schemas.microsoft.com/office/drawing/2014/main" id="{B993D34C-619C-E49A-1BE0-81EBC8175827}"/>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6</a:t>
            </a:r>
          </a:p>
        </p:txBody>
      </p:sp>
    </p:spTree>
    <p:extLst>
      <p:ext uri="{BB962C8B-B14F-4D97-AF65-F5344CB8AC3E}">
        <p14:creationId xmlns:p14="http://schemas.microsoft.com/office/powerpoint/2010/main" val="675272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1EC86291-FA6C-C7FC-DCA2-700076855687}"/>
              </a:ext>
            </a:extLst>
          </p:cNvPr>
          <p:cNvSpPr txBox="1"/>
          <p:nvPr/>
        </p:nvSpPr>
        <p:spPr>
          <a:xfrm>
            <a:off x="673100" y="1219200"/>
            <a:ext cx="16941800" cy="369332"/>
          </a:xfrm>
          <a:prstGeom prst="rect">
            <a:avLst/>
          </a:prstGeom>
          <a:noFill/>
        </p:spPr>
        <p:txBody>
          <a:bodyPr vert="horz" wrap="square" lIns="0" tIns="0" rIns="0" bIns="0" rtlCol="0">
            <a:noAutofit/>
          </a:bodyPr>
          <a:lstStyle/>
          <a:p>
            <a:r>
              <a:rPr lang="en-US" sz="3400" b="1">
                <a:solidFill>
                  <a:srgbClr val="0070C0"/>
                </a:solidFill>
                <a:latin typeface="Montserrat" pitchFamily="2" charset="0"/>
              </a:rPr>
              <a:t>Thiết kế theo kiến trúc IoT 4 tầng</a:t>
            </a:r>
          </a:p>
        </p:txBody>
      </p:sp>
      <p:pic>
        <p:nvPicPr>
          <p:cNvPr id="27" name="Picture" descr="Bốn tầng chức năng của hệ thống">
            <a:extLst>
              <a:ext uri="{FF2B5EF4-FFF2-40B4-BE49-F238E27FC236}">
                <a16:creationId xmlns:a16="http://schemas.microsoft.com/office/drawing/2014/main" id="{D190A99F-C79E-827B-DC3C-8D231E5001B7}"/>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3340581" y="2133600"/>
            <a:ext cx="11606839" cy="4826000"/>
          </a:xfrm>
          <a:prstGeom prst="rect">
            <a:avLst/>
          </a:prstGeom>
        </p:spPr>
      </p:pic>
      <p:sp>
        <p:nvSpPr>
          <p:cNvPr id="28" name="Tier">
            <a:extLst>
              <a:ext uri="{FF2B5EF4-FFF2-40B4-BE49-F238E27FC236}">
                <a16:creationId xmlns:a16="http://schemas.microsoft.com/office/drawing/2014/main" id="{35B9FCF6-240E-9247-C987-CDFEAD2460E4}"/>
              </a:ext>
            </a:extLst>
          </p:cNvPr>
          <p:cNvSpPr/>
          <p:nvPr/>
        </p:nvSpPr>
        <p:spPr>
          <a:xfrm>
            <a:off x="673100" y="7213600"/>
            <a:ext cx="4006850" cy="2336800"/>
          </a:xfrm>
          <a:prstGeom prst="roundRect">
            <a:avLst>
              <a:gd name="adj" fmla="val 6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228600" tIns="203200" rIns="228600" bIns="177800" rtlCol="0" anchor="t"/>
          <a:lstStyle/>
          <a:p>
            <a:pPr>
              <a:spcAft>
                <a:spcPts val="600"/>
              </a:spcAft>
            </a:pPr>
            <a:r>
              <a:rPr lang="en-US" sz="2000" b="1">
                <a:solidFill>
                  <a:srgbClr val="F27121"/>
                </a:solidFill>
                <a:latin typeface="Montserrat" pitchFamily="2" charset="0"/>
              </a:rPr>
              <a:t>Thu thập và chấp hành</a:t>
            </a:r>
          </a:p>
          <a:p>
            <a:r>
              <a:rPr lang="en-US" sz="1700">
                <a:solidFill>
                  <a:srgbClr val="1F2328"/>
                </a:solidFill>
                <a:latin typeface="Montserrat" pitchFamily="2" charset="0"/>
              </a:rPr>
              <a:t>cảm biến, RFID, trạng thái cửa và đầu ra cảnh báo.</a:t>
            </a:r>
          </a:p>
        </p:txBody>
      </p:sp>
      <p:sp>
        <p:nvSpPr>
          <p:cNvPr id="29" name="Tier">
            <a:extLst>
              <a:ext uri="{FF2B5EF4-FFF2-40B4-BE49-F238E27FC236}">
                <a16:creationId xmlns:a16="http://schemas.microsoft.com/office/drawing/2014/main" id="{4CA6E634-33EA-5D7C-2F34-A516069911A4}"/>
              </a:ext>
            </a:extLst>
          </p:cNvPr>
          <p:cNvSpPr/>
          <p:nvPr/>
        </p:nvSpPr>
        <p:spPr>
          <a:xfrm>
            <a:off x="4984750" y="7213600"/>
            <a:ext cx="4006850" cy="2336800"/>
          </a:xfrm>
          <a:prstGeom prst="roundRect">
            <a:avLst>
              <a:gd name="adj" fmla="val 6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228600" tIns="203200" rIns="228600" bIns="177800" rtlCol="0" anchor="t"/>
          <a:lstStyle/>
          <a:p>
            <a:pPr>
              <a:spcAft>
                <a:spcPts val="600"/>
              </a:spcAft>
            </a:pPr>
            <a:r>
              <a:rPr lang="en-US" sz="2000" b="1">
                <a:solidFill>
                  <a:srgbClr val="F27121"/>
                </a:solidFill>
                <a:latin typeface="Montserrat" pitchFamily="2" charset="0"/>
              </a:rPr>
              <a:t>Mạng</a:t>
            </a:r>
          </a:p>
          <a:p>
            <a:r>
              <a:rPr lang="en-US" sz="1700">
                <a:solidFill>
                  <a:srgbClr val="1F2328"/>
                </a:solidFill>
                <a:latin typeface="Montserrat" pitchFamily="2" charset="0"/>
              </a:rPr>
              <a:t>gateway và truyền bản tin MQTT/TLS.</a:t>
            </a:r>
          </a:p>
        </p:txBody>
      </p:sp>
      <p:sp>
        <p:nvSpPr>
          <p:cNvPr id="30" name="Tier">
            <a:extLst>
              <a:ext uri="{FF2B5EF4-FFF2-40B4-BE49-F238E27FC236}">
                <a16:creationId xmlns:a16="http://schemas.microsoft.com/office/drawing/2014/main" id="{FDA7B90B-E6C4-EEF5-74F0-C2A1E43E978E}"/>
              </a:ext>
            </a:extLst>
          </p:cNvPr>
          <p:cNvSpPr/>
          <p:nvPr/>
        </p:nvSpPr>
        <p:spPr>
          <a:xfrm>
            <a:off x="9296400" y="7213600"/>
            <a:ext cx="4006850" cy="2336800"/>
          </a:xfrm>
          <a:prstGeom prst="roundRect">
            <a:avLst>
              <a:gd name="adj" fmla="val 6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228600" tIns="203200" rIns="228600" bIns="177800" rtlCol="0" anchor="t"/>
          <a:lstStyle/>
          <a:p>
            <a:pPr>
              <a:spcAft>
                <a:spcPts val="600"/>
              </a:spcAft>
            </a:pPr>
            <a:r>
              <a:rPr lang="en-US" sz="2000" b="1">
                <a:solidFill>
                  <a:srgbClr val="F27121"/>
                </a:solidFill>
                <a:latin typeface="Montserrat" pitchFamily="2" charset="0"/>
              </a:rPr>
              <a:t>Máy chủ</a:t>
            </a:r>
          </a:p>
          <a:p>
            <a:r>
              <a:rPr lang="en-US" sz="1700">
                <a:solidFill>
                  <a:srgbClr val="1F2328"/>
                </a:solidFill>
                <a:latin typeface="Montserrat" pitchFamily="2" charset="0"/>
              </a:rPr>
              <a:t>broker, backend xử lý nghiệp vụ và MySQL.</a:t>
            </a:r>
          </a:p>
        </p:txBody>
      </p:sp>
      <p:sp>
        <p:nvSpPr>
          <p:cNvPr id="31" name="Tier">
            <a:extLst>
              <a:ext uri="{FF2B5EF4-FFF2-40B4-BE49-F238E27FC236}">
                <a16:creationId xmlns:a16="http://schemas.microsoft.com/office/drawing/2014/main" id="{58E4989C-4AA8-BAD0-2DBD-2BCE780376E5}"/>
              </a:ext>
            </a:extLst>
          </p:cNvPr>
          <p:cNvSpPr/>
          <p:nvPr/>
        </p:nvSpPr>
        <p:spPr>
          <a:xfrm>
            <a:off x="13608050" y="7213600"/>
            <a:ext cx="4006850" cy="2336800"/>
          </a:xfrm>
          <a:prstGeom prst="roundRect">
            <a:avLst>
              <a:gd name="adj" fmla="val 6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228600" tIns="203200" rIns="228600" bIns="177800" rtlCol="0" anchor="t"/>
          <a:lstStyle/>
          <a:p>
            <a:pPr>
              <a:spcAft>
                <a:spcPts val="600"/>
              </a:spcAft>
            </a:pPr>
            <a:r>
              <a:rPr lang="en-US" sz="2000" b="1">
                <a:solidFill>
                  <a:srgbClr val="F27121"/>
                </a:solidFill>
                <a:latin typeface="Montserrat" pitchFamily="2" charset="0"/>
              </a:rPr>
              <a:t>Ứng dụng</a:t>
            </a:r>
          </a:p>
          <a:p>
            <a:r>
              <a:rPr lang="en-US" sz="1700">
                <a:solidFill>
                  <a:srgbClr val="1F2328"/>
                </a:solidFill>
                <a:latin typeface="Montserrat" pitchFamily="2" charset="0"/>
              </a:rPr>
              <a:t>dashboard giám sát, điều khiển, lịch sử và báo cáo.</a:t>
            </a:r>
          </a:p>
        </p:txBody>
      </p:sp>
      <p:sp>
        <p:nvSpPr>
          <p:cNvPr id="32" name="Slide Number">
            <a:extLst>
              <a:ext uri="{FF2B5EF4-FFF2-40B4-BE49-F238E27FC236}">
                <a16:creationId xmlns:a16="http://schemas.microsoft.com/office/drawing/2014/main" id="{E858BC8F-8EE0-1CC4-993D-5E2DA95DF50E}"/>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7</a:t>
            </a:r>
          </a:p>
        </p:txBody>
      </p:sp>
    </p:spTree>
    <p:extLst>
      <p:ext uri="{BB962C8B-B14F-4D97-AF65-F5344CB8AC3E}">
        <p14:creationId xmlns:p14="http://schemas.microsoft.com/office/powerpoint/2010/main" val="3510504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grpSp>
        <p:nvGrpSpPr>
          <p:cNvPr id="6" name="Group 6"/>
          <p:cNvGrpSpPr/>
          <p:nvPr/>
        </p:nvGrpSpPr>
        <p:grpSpPr>
          <a:xfrm>
            <a:off x="2743238" y="10108759"/>
            <a:ext cx="15544724" cy="152705"/>
            <a:chOff x="0" y="0"/>
            <a:chExt cx="20726298" cy="203606"/>
          </a:xfrm>
        </p:grpSpPr>
        <p:sp>
          <p:nvSpPr>
            <p:cNvPr id="7" name="Freeform 7"/>
            <p:cNvSpPr/>
            <p:nvPr/>
          </p:nvSpPr>
          <p:spPr>
            <a:xfrm>
              <a:off x="0" y="0"/>
              <a:ext cx="20726273" cy="203581"/>
            </a:xfrm>
            <a:custGeom>
              <a:avLst/>
              <a:gdLst/>
              <a:ahLst/>
              <a:cxnLst/>
              <a:rect l="l" t="t" r="r" b="b"/>
              <a:pathLst>
                <a:path w="20726273" h="203581">
                  <a:moveTo>
                    <a:pt x="0" y="0"/>
                  </a:moveTo>
                  <a:lnTo>
                    <a:pt x="20726273" y="0"/>
                  </a:lnTo>
                  <a:lnTo>
                    <a:pt x="20726273" y="203581"/>
                  </a:lnTo>
                  <a:lnTo>
                    <a:pt x="0" y="203581"/>
                  </a:lnTo>
                  <a:lnTo>
                    <a:pt x="0" y="0"/>
                  </a:lnTo>
                  <a:close/>
                </a:path>
              </a:pathLst>
            </a:custGeom>
            <a:blipFill>
              <a:blip r:embed="rId3"/>
              <a:stretch>
                <a:fillRect b="-35745"/>
              </a:stretch>
            </a:blipFill>
          </p:spPr>
        </p:sp>
      </p:grpSp>
      <p:sp>
        <p:nvSpPr>
          <p:cNvPr id="8" name="TextBox 8"/>
          <p:cNvSpPr txBox="1"/>
          <p:nvPr/>
        </p:nvSpPr>
        <p:spPr>
          <a:xfrm>
            <a:off x="302009" y="10002231"/>
            <a:ext cx="2254501" cy="327536"/>
          </a:xfrm>
          <a:prstGeom prst="rect">
            <a:avLst/>
          </a:prstGeom>
        </p:spPr>
        <p:txBody>
          <a:bodyPr lIns="0" tIns="0" rIns="0" bIns="0" rtlCol="0" anchor="t">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grpSp>
        <p:nvGrpSpPr>
          <p:cNvPr id="9" name="Group 9"/>
          <p:cNvGrpSpPr/>
          <p:nvPr/>
        </p:nvGrpSpPr>
        <p:grpSpPr>
          <a:xfrm>
            <a:off x="-15240" y="7567612"/>
            <a:ext cx="18303240" cy="2514600"/>
            <a:chOff x="0" y="0"/>
            <a:chExt cx="24404320" cy="3352800"/>
          </a:xfrm>
        </p:grpSpPr>
        <p:sp>
          <p:nvSpPr>
            <p:cNvPr id="10" name="Freeform 10" descr="A building with trees in the background  Description automatically generated"/>
            <p:cNvSpPr/>
            <p:nvPr/>
          </p:nvSpPr>
          <p:spPr>
            <a:xfrm>
              <a:off x="0" y="0"/>
              <a:ext cx="24404320" cy="3352800"/>
            </a:xfrm>
            <a:custGeom>
              <a:avLst/>
              <a:gdLst/>
              <a:ahLst/>
              <a:cxnLst/>
              <a:rect l="l" t="t" r="r" b="b"/>
              <a:pathLst>
                <a:path w="24404320" h="3352800">
                  <a:moveTo>
                    <a:pt x="0" y="0"/>
                  </a:moveTo>
                  <a:lnTo>
                    <a:pt x="24404320" y="0"/>
                  </a:lnTo>
                  <a:lnTo>
                    <a:pt x="24404320" y="3352800"/>
                  </a:lnTo>
                  <a:lnTo>
                    <a:pt x="0" y="3352800"/>
                  </a:lnTo>
                  <a:lnTo>
                    <a:pt x="0" y="0"/>
                  </a:lnTo>
                  <a:close/>
                </a:path>
              </a:pathLst>
            </a:custGeom>
            <a:blipFill>
              <a:blip r:embed="rId4"/>
              <a:stretch>
                <a:fillRect t="-16633" b="-16633"/>
              </a:stretch>
            </a:blipFill>
          </p:spPr>
        </p:sp>
      </p:grpSp>
      <p:grpSp>
        <p:nvGrpSpPr>
          <p:cNvPr id="11" name="Group 11"/>
          <p:cNvGrpSpPr/>
          <p:nvPr/>
        </p:nvGrpSpPr>
        <p:grpSpPr>
          <a:xfrm>
            <a:off x="534200" y="27089"/>
            <a:ext cx="999001" cy="999001"/>
            <a:chOff x="0" y="0"/>
            <a:chExt cx="1332001" cy="1332001"/>
          </a:xfrm>
        </p:grpSpPr>
        <p:sp>
          <p:nvSpPr>
            <p:cNvPr id="12" name="Freeform 12" descr="A white circle with blue and red text and a book with a graduation cap  Description automatically generated"/>
            <p:cNvSpPr/>
            <p:nvPr/>
          </p:nvSpPr>
          <p:spPr>
            <a:xfrm>
              <a:off x="0" y="0"/>
              <a:ext cx="1331976" cy="1331976"/>
            </a:xfrm>
            <a:custGeom>
              <a:avLst/>
              <a:gdLst/>
              <a:ahLst/>
              <a:cxnLst/>
              <a:rect l="l" t="t" r="r" b="b"/>
              <a:pathLst>
                <a:path w="1331976" h="1331976">
                  <a:moveTo>
                    <a:pt x="0" y="0"/>
                  </a:moveTo>
                  <a:lnTo>
                    <a:pt x="1331976" y="0"/>
                  </a:lnTo>
                  <a:lnTo>
                    <a:pt x="1331976" y="1331976"/>
                  </a:lnTo>
                  <a:lnTo>
                    <a:pt x="0" y="1331976"/>
                  </a:lnTo>
                  <a:lnTo>
                    <a:pt x="0" y="0"/>
                  </a:lnTo>
                  <a:close/>
                </a:path>
              </a:pathLst>
            </a:custGeom>
            <a:blipFill>
              <a:blip r:embed="rId5"/>
              <a:stretch>
                <a:fillRect r="-1" b="-1"/>
              </a:stretch>
            </a:blipFill>
          </p:spPr>
        </p:sp>
      </p:grpSp>
      <p:sp>
        <p:nvSpPr>
          <p:cNvPr id="13" name="TextBox 13"/>
          <p:cNvSpPr txBox="1"/>
          <p:nvPr/>
        </p:nvSpPr>
        <p:spPr>
          <a:xfrm>
            <a:off x="3910012" y="74790"/>
            <a:ext cx="10452725" cy="897103"/>
          </a:xfrm>
          <a:prstGeom prst="rect">
            <a:avLst/>
          </a:prstGeom>
        </p:spPr>
        <p:txBody>
          <a:bodyPr lIns="0" tIns="0" rIns="0" bIns="0" rtlCol="0" anchor="t">
            <a:spAutoFit/>
          </a:bodyPr>
          <a:lstStyle/>
          <a:p>
            <a:pPr algn="ctr">
              <a:lnSpc>
                <a:spcPts val="3240"/>
              </a:lnSpc>
            </a:pPr>
            <a:r>
              <a:rPr lang="en-US" sz="2700">
                <a:solidFill>
                  <a:srgbClr val="FFFFFF"/>
                </a:solidFill>
                <a:latin typeface="Arial"/>
                <a:ea typeface="Arial"/>
                <a:cs typeface="Arial"/>
                <a:sym typeface="Arial"/>
              </a:rPr>
              <a:t>BỘ CÔNG THƯƠNG</a:t>
            </a:r>
          </a:p>
          <a:p>
            <a:pPr algn="ctr">
              <a:lnSpc>
                <a:spcPts val="3240"/>
              </a:lnSpc>
            </a:pPr>
            <a:r>
              <a:rPr lang="en-US" sz="2700" b="1">
                <a:solidFill>
                  <a:srgbClr val="FFFFFF"/>
                </a:solidFill>
                <a:latin typeface="Arial Bold"/>
                <a:ea typeface="Arial Bold"/>
                <a:cs typeface="Arial Bold"/>
                <a:sym typeface="Arial Bold"/>
              </a:rPr>
              <a:t>TRƯỜNG ĐẠI HỌC CÔNG THƯƠNG THÀNH PHỐ HỒ CHÍ MINH</a:t>
            </a:r>
          </a:p>
        </p:txBody>
      </p:sp>
      <p:sp>
        <p:nvSpPr>
          <p:cNvPr id="16" name="Title">
            <a:extLst>
              <a:ext uri="{FF2B5EF4-FFF2-40B4-BE49-F238E27FC236}">
                <a16:creationId xmlns:a16="http://schemas.microsoft.com/office/drawing/2014/main" id="{334471CE-1B1A-7A0C-C0A1-F74C7062077B}"/>
              </a:ext>
            </a:extLst>
          </p:cNvPr>
          <p:cNvSpPr txBox="1"/>
          <p:nvPr/>
        </p:nvSpPr>
        <p:spPr>
          <a:xfrm>
            <a:off x="1397000" y="3429000"/>
            <a:ext cx="15494000" cy="369332"/>
          </a:xfrm>
          <a:prstGeom prst="rect">
            <a:avLst/>
          </a:prstGeom>
          <a:noFill/>
        </p:spPr>
        <p:txBody>
          <a:bodyPr vert="horz" wrap="square" lIns="0" tIns="0" rIns="0" bIns="0" rtlCol="0" anchor="ctr">
            <a:noAutofit/>
          </a:bodyPr>
          <a:lstStyle/>
          <a:p>
            <a:pPr algn="ctr"/>
            <a:r>
              <a:rPr lang="en-US" sz="4400" b="1">
                <a:solidFill>
                  <a:srgbClr val="0070C0"/>
                </a:solidFill>
                <a:latin typeface="Montserrat" pitchFamily="2" charset="0"/>
              </a:rPr>
              <a:t>2. Thiết kế an toàn và</a:t>
            </a:r>
            <a:br>
              <a:rPr lang="en-US" sz="4400" b="1">
                <a:solidFill>
                  <a:srgbClr val="0070C0"/>
                </a:solidFill>
                <a:latin typeface="Montserrat" pitchFamily="2" charset="0"/>
              </a:rPr>
            </a:br>
            <a:r>
              <a:rPr lang="en-US" sz="4400" b="1">
                <a:solidFill>
                  <a:srgbClr val="0070C0"/>
                </a:solidFill>
                <a:latin typeface="Montserrat" pitchFamily="2" charset="0"/>
              </a:rPr>
              <a:t>vận hành phân hệ kho lạnh</a:t>
            </a:r>
          </a:p>
        </p:txBody>
      </p:sp>
      <p:sp>
        <p:nvSpPr>
          <p:cNvPr id="17" name="Slide Number">
            <a:extLst>
              <a:ext uri="{FF2B5EF4-FFF2-40B4-BE49-F238E27FC236}">
                <a16:creationId xmlns:a16="http://schemas.microsoft.com/office/drawing/2014/main" id="{E4DA3A7D-8F6B-DC0B-DB05-ED9CFF1AD0F9}"/>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1F2328"/>
                </a:solidFill>
                <a:latin typeface="Montserrat" pitchFamily="2" charset="0"/>
              </a:rPr>
              <a:t>8</a:t>
            </a:r>
          </a:p>
        </p:txBody>
      </p:sp>
    </p:spTree>
    <p:extLst>
      <p:ext uri="{BB962C8B-B14F-4D97-AF65-F5344CB8AC3E}">
        <p14:creationId xmlns:p14="http://schemas.microsoft.com/office/powerpoint/2010/main" val="1581250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CF7CA20C-9B8D-2A9B-ADB8-AA991C5AA902}"/>
              </a:ext>
            </a:extLst>
          </p:cNvPr>
          <p:cNvSpPr txBox="1"/>
          <p:nvPr/>
        </p:nvSpPr>
        <p:spPr>
          <a:xfrm>
            <a:off x="673100" y="1219200"/>
            <a:ext cx="16941800" cy="369332"/>
          </a:xfrm>
          <a:prstGeom prst="rect">
            <a:avLst/>
          </a:prstGeom>
          <a:noFill/>
        </p:spPr>
        <p:txBody>
          <a:bodyPr vert="horz" wrap="square" lIns="0" tIns="0" rIns="0" bIns="0" rtlCol="0">
            <a:noAutofit/>
          </a:bodyPr>
          <a:lstStyle/>
          <a:p>
            <a:r>
              <a:rPr lang="en-US" sz="3400" b="1">
                <a:solidFill>
                  <a:srgbClr val="0070C0"/>
                </a:solidFill>
                <a:latin typeface="Montserrat" pitchFamily="2" charset="0"/>
              </a:rPr>
              <a:t>Các tín hiệu cần theo dõi tại kho lạnh</a:t>
            </a:r>
          </a:p>
        </p:txBody>
      </p:sp>
      <p:graphicFrame>
        <p:nvGraphicFramePr>
          <p:cNvPr id="26" name="Table">
            <a:extLst>
              <a:ext uri="{FF2B5EF4-FFF2-40B4-BE49-F238E27FC236}">
                <a16:creationId xmlns:a16="http://schemas.microsoft.com/office/drawing/2014/main" id="{FB85A429-5FD4-3965-1BCD-FD9424D46E9B}"/>
              </a:ext>
            </a:extLst>
          </p:cNvPr>
          <p:cNvGraphicFramePr>
            <a:graphicFrameLocks noGrp="1"/>
          </p:cNvGraphicFramePr>
          <p:nvPr>
            <p:extLst>
              <p:ext uri="{D42A27DB-BD31-4B8C-83A1-F6EECF244321}">
                <p14:modId xmlns:p14="http://schemas.microsoft.com/office/powerpoint/2010/main" val="4214468868"/>
              </p:ext>
            </p:extLst>
          </p:nvPr>
        </p:nvGraphicFramePr>
        <p:xfrm>
          <a:off x="673100" y="2133600"/>
          <a:ext cx="16941800" cy="3556000"/>
        </p:xfrm>
        <a:graphic>
          <a:graphicData uri="http://schemas.openxmlformats.org/drawingml/2006/table">
            <a:tbl>
              <a:tblPr firstRow="1" bandRow="1">
                <a:tableStyleId>{5C22544A-7EE6-4342-B048-85BDC9FD1C3A}</a:tableStyleId>
              </a:tblPr>
              <a:tblGrid>
                <a:gridCol w="4235450">
                  <a:extLst>
                    <a:ext uri="{9D8B030D-6E8A-4147-A177-3AD203B41FA5}">
                      <a16:colId xmlns:a16="http://schemas.microsoft.com/office/drawing/2014/main" val="481351550"/>
                    </a:ext>
                  </a:extLst>
                </a:gridCol>
                <a:gridCol w="8188537">
                  <a:extLst>
                    <a:ext uri="{9D8B030D-6E8A-4147-A177-3AD203B41FA5}">
                      <a16:colId xmlns:a16="http://schemas.microsoft.com/office/drawing/2014/main" val="1455567418"/>
                    </a:ext>
                  </a:extLst>
                </a:gridCol>
                <a:gridCol w="4517814">
                  <a:extLst>
                    <a:ext uri="{9D8B030D-6E8A-4147-A177-3AD203B41FA5}">
                      <a16:colId xmlns:a16="http://schemas.microsoft.com/office/drawing/2014/main" val="1077009654"/>
                    </a:ext>
                  </a:extLst>
                </a:gridCol>
              </a:tblGrid>
              <a:tr h="381000">
                <a:tc>
                  <a:txBody>
                    <a:bodyPr/>
                    <a:lstStyle/>
                    <a:p>
                      <a:r>
                        <a:rPr lang="en-US" sz="1800" b="1">
                          <a:solidFill>
                            <a:srgbClr val="FFFFFF"/>
                          </a:solidFill>
                          <a:latin typeface="Montserrat" pitchFamily="2" charset="0"/>
                        </a:rPr>
                        <a:t>Tín hiệu</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tc>
                  <a:txBody>
                    <a:bodyPr/>
                    <a:lstStyle/>
                    <a:p>
                      <a:r>
                        <a:rPr lang="en-US" sz="1800" b="1">
                          <a:solidFill>
                            <a:srgbClr val="FFFFFF"/>
                          </a:solidFill>
                          <a:latin typeface="Montserrat" pitchFamily="2" charset="0"/>
                        </a:rPr>
                        <a:t>Vai trò</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tc>
                  <a:txBody>
                    <a:bodyPr/>
                    <a:lstStyle/>
                    <a:p>
                      <a:r>
                        <a:rPr lang="en-US" sz="1800" b="1">
                          <a:solidFill>
                            <a:srgbClr val="FFFFFF"/>
                          </a:solidFill>
                          <a:latin typeface="Montserrat" pitchFamily="2" charset="0"/>
                        </a:rPr>
                        <a:t>Cách mô phỏng</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extLst>
                  <a:ext uri="{0D108BD9-81ED-4DB2-BD59-A6C34878D82A}">
                    <a16:rowId xmlns:a16="http://schemas.microsoft.com/office/drawing/2014/main" val="1933951844"/>
                  </a:ext>
                </a:extLst>
              </a:tr>
              <a:tr h="381000">
                <a:tc>
                  <a:txBody>
                    <a:bodyPr/>
                    <a:lstStyle/>
                    <a:p>
                      <a:r>
                        <a:rPr lang="en-US" sz="1800" b="0">
                          <a:solidFill>
                            <a:srgbClr val="1F2328"/>
                          </a:solidFill>
                          <a:latin typeface="Montserrat" pitchFamily="2" charset="0"/>
                        </a:rPr>
                        <a:t>RFID IN/OUT</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vi-VN" sz="1800" b="0">
                          <a:solidFill>
                            <a:srgbClr val="1F2328"/>
                          </a:solidFill>
                          <a:latin typeface="Montserrat" pitchFamily="2" charset="0"/>
                        </a:rPr>
                        <a:t>Theo dõi người ra/vào</a:t>
                      </a:r>
                      <a:endParaRPr lang="en-US" sz="1800" b="0">
                        <a:solidFill>
                          <a:srgbClr val="1F2328"/>
                        </a:solidFill>
                        <a:latin typeface="Montserrat" pitchFamily="2" charset="0"/>
                      </a:endParaRP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Montserrat" pitchFamily="2" charset="0"/>
                        </a:rPr>
                        <a:t>Dòng lệnh Serial</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986683310"/>
                  </a:ext>
                </a:extLst>
              </a:tr>
              <a:tr h="381000">
                <a:tc>
                  <a:txBody>
                    <a:bodyPr/>
                    <a:lstStyle/>
                    <a:p>
                      <a:r>
                        <a:rPr lang="en-US" sz="1800" b="0">
                          <a:solidFill>
                            <a:srgbClr val="1F2328"/>
                          </a:solidFill>
                          <a:latin typeface="Montserrat" pitchFamily="2" charset="0"/>
                        </a:rPr>
                        <a:t>Presence/mmWave</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vi-VN" sz="1800" b="0">
                          <a:solidFill>
                            <a:srgbClr val="1F2328"/>
                          </a:solidFill>
                          <a:latin typeface="Montserrat" pitchFamily="2" charset="0"/>
                        </a:rPr>
                        <a:t>Đối chiếu người còn trong kho</a:t>
                      </a:r>
                      <a:endParaRPr lang="en-US" sz="1800" b="0">
                        <a:solidFill>
                          <a:srgbClr val="1F2328"/>
                        </a:solidFill>
                        <a:latin typeface="Montserrat" pitchFamily="2" charset="0"/>
                      </a:endParaRP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Montserrat" pitchFamily="2" charset="0"/>
                        </a:rPr>
                        <a:t>Công tắc</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extLst>
                  <a:ext uri="{0D108BD9-81ED-4DB2-BD59-A6C34878D82A}">
                    <a16:rowId xmlns:a16="http://schemas.microsoft.com/office/drawing/2014/main" val="3477091322"/>
                  </a:ext>
                </a:extLst>
              </a:tr>
              <a:tr h="381000">
                <a:tc>
                  <a:txBody>
                    <a:bodyPr/>
                    <a:lstStyle/>
                    <a:p>
                      <a:r>
                        <a:rPr lang="en-US" sz="1800" b="0">
                          <a:solidFill>
                            <a:srgbClr val="1F2328"/>
                          </a:solidFill>
                          <a:latin typeface="Montserrat" pitchFamily="2" charset="0"/>
                        </a:rPr>
                        <a:t>Contact</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Montserrat" pitchFamily="2" charset="0"/>
                        </a:rPr>
                        <a:t>Xác định trạng thái cửa</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Montserrat" pitchFamily="2" charset="0"/>
                        </a:rPr>
                        <a:t>Công tắc</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3767020277"/>
                  </a:ext>
                </a:extLst>
              </a:tr>
              <a:tr h="381000">
                <a:tc>
                  <a:txBody>
                    <a:bodyPr/>
                    <a:lstStyle/>
                    <a:p>
                      <a:r>
                        <a:rPr lang="en-US" sz="1800" b="0">
                          <a:solidFill>
                            <a:srgbClr val="1F2328"/>
                          </a:solidFill>
                          <a:latin typeface="Montserrat" pitchFamily="2" charset="0"/>
                        </a:rPr>
                        <a:t>Rèm quang</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Montserrat" pitchFamily="2" charset="0"/>
                        </a:rPr>
                        <a:t>Phát hiện vật cản tại cửa</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Montserrat" pitchFamily="2" charset="0"/>
                        </a:rPr>
                        <a:t>Công tắc</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extLst>
                  <a:ext uri="{0D108BD9-81ED-4DB2-BD59-A6C34878D82A}">
                    <a16:rowId xmlns:a16="http://schemas.microsoft.com/office/drawing/2014/main" val="2497760557"/>
                  </a:ext>
                </a:extLst>
              </a:tr>
              <a:tr h="381000">
                <a:tc>
                  <a:txBody>
                    <a:bodyPr/>
                    <a:lstStyle/>
                    <a:p>
                      <a:r>
                        <a:rPr lang="en-US" sz="1800" b="0">
                          <a:solidFill>
                            <a:srgbClr val="1F2328"/>
                          </a:solidFill>
                          <a:latin typeface="Montserrat" pitchFamily="2" charset="0"/>
                        </a:rPr>
                        <a:t>Panic</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Montserrat" pitchFamily="2" charset="0"/>
                        </a:rPr>
                        <a:t>Yêu cầu xử lý khẩn cấp</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Montserrat" pitchFamily="2" charset="0"/>
                        </a:rPr>
                        <a:t>Nút nhấn</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1608541218"/>
                  </a:ext>
                </a:extLst>
              </a:tr>
              <a:tr h="381000">
                <a:tc>
                  <a:txBody>
                    <a:bodyPr/>
                    <a:lstStyle/>
                    <a:p>
                      <a:r>
                        <a:rPr lang="en-US" sz="1800" b="0">
                          <a:solidFill>
                            <a:srgbClr val="1F2328"/>
                          </a:solidFill>
                          <a:latin typeface="Montserrat" pitchFamily="2" charset="0"/>
                        </a:rPr>
                        <a:t>Nhiệt độ/độ ẩm</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vi-VN" sz="1800" b="0">
                          <a:solidFill>
                            <a:srgbClr val="1F2328"/>
                          </a:solidFill>
                          <a:latin typeface="Montserrat" pitchFamily="2" charset="0"/>
                        </a:rPr>
                        <a:t>Theo dõi môi trường</a:t>
                      </a:r>
                      <a:endParaRPr lang="en-US" sz="1800" b="0">
                        <a:solidFill>
                          <a:srgbClr val="1F2328"/>
                        </a:solidFill>
                        <a:latin typeface="Montserrat" pitchFamily="2" charset="0"/>
                      </a:endParaRP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Montserrat" pitchFamily="2" charset="0"/>
                        </a:rPr>
                        <a:t>DHT22 trên Wokwi</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extLst>
                  <a:ext uri="{0D108BD9-81ED-4DB2-BD59-A6C34878D82A}">
                    <a16:rowId xmlns:a16="http://schemas.microsoft.com/office/drawing/2014/main" val="880067830"/>
                  </a:ext>
                </a:extLst>
              </a:tr>
            </a:tbl>
          </a:graphicData>
        </a:graphic>
      </p:graphicFrame>
      <p:pic>
        <p:nvPicPr>
          <p:cNvPr id="28" name="Picture" descr="Đầu vào và đầu ra của mô hình ESP32">
            <a:extLst>
              <a:ext uri="{FF2B5EF4-FFF2-40B4-BE49-F238E27FC236}">
                <a16:creationId xmlns:a16="http://schemas.microsoft.com/office/drawing/2014/main" id="{F31520C2-3CE8-60A0-124F-5219C0AD8E01}"/>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4611224" y="5781040"/>
            <a:ext cx="9065552" cy="3769360"/>
          </a:xfrm>
          <a:prstGeom prst="rect">
            <a:avLst/>
          </a:prstGeom>
        </p:spPr>
      </p:pic>
      <p:sp>
        <p:nvSpPr>
          <p:cNvPr id="29" name="Slide Number">
            <a:extLst>
              <a:ext uri="{FF2B5EF4-FFF2-40B4-BE49-F238E27FC236}">
                <a16:creationId xmlns:a16="http://schemas.microsoft.com/office/drawing/2014/main" id="{9B876E6F-0054-E8A3-CD71-9D8BD5A89730}"/>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9</a:t>
            </a:r>
          </a:p>
        </p:txBody>
      </p:sp>
    </p:spTree>
    <p:extLst>
      <p:ext uri="{BB962C8B-B14F-4D97-AF65-F5344CB8AC3E}">
        <p14:creationId xmlns:p14="http://schemas.microsoft.com/office/powerpoint/2010/main" val="2742253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92727209-D03C-212B-C21C-ADA72806CD80}"/>
              </a:ext>
            </a:extLst>
          </p:cNvPr>
          <p:cNvSpPr txBox="1"/>
          <p:nvPr/>
        </p:nvSpPr>
        <p:spPr>
          <a:xfrm>
            <a:off x="673100" y="1219200"/>
            <a:ext cx="16941800" cy="369332"/>
          </a:xfrm>
          <a:prstGeom prst="rect">
            <a:avLst/>
          </a:prstGeom>
          <a:noFill/>
        </p:spPr>
        <p:txBody>
          <a:bodyPr vert="horz" wrap="square" lIns="0" tIns="0" rIns="0" bIns="0" rtlCol="0">
            <a:noAutofit/>
          </a:bodyPr>
          <a:lstStyle/>
          <a:p>
            <a:r>
              <a:rPr lang="en-US" sz="3400" b="1">
                <a:solidFill>
                  <a:srgbClr val="0070C0"/>
                </a:solidFill>
                <a:latin typeface="Montserrat" pitchFamily="2" charset="0"/>
              </a:rPr>
              <a:t>Chỉ đóng cửa khi mọi điều kiện đều an toàn</a:t>
            </a:r>
          </a:p>
        </p:txBody>
      </p:sp>
      <p:sp>
        <p:nvSpPr>
          <p:cNvPr id="26" name="Panel">
            <a:extLst>
              <a:ext uri="{FF2B5EF4-FFF2-40B4-BE49-F238E27FC236}">
                <a16:creationId xmlns:a16="http://schemas.microsoft.com/office/drawing/2014/main" id="{52FDA0D2-AEFF-2854-60C8-48B254D52300}"/>
              </a:ext>
            </a:extLst>
          </p:cNvPr>
          <p:cNvSpPr/>
          <p:nvPr/>
        </p:nvSpPr>
        <p:spPr>
          <a:xfrm>
            <a:off x="673100" y="7733759"/>
            <a:ext cx="8318500" cy="1816641"/>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a:lnSpc>
                <a:spcPct val="110000"/>
              </a:lnSpc>
              <a:spcAft>
                <a:spcPts val="1600"/>
              </a:spcAft>
            </a:pPr>
            <a:r>
              <a:rPr lang="vi-VN" sz="1900">
                <a:solidFill>
                  <a:srgbClr val="1F2328"/>
                </a:solidFill>
                <a:latin typeface="Montserrat" pitchFamily="2" charset="0"/>
              </a:rPr>
              <a:t>Số người đã xác minh và bằng 0.</a:t>
            </a:r>
          </a:p>
          <a:p>
            <a:pPr>
              <a:lnSpc>
                <a:spcPct val="110000"/>
              </a:lnSpc>
              <a:spcAft>
                <a:spcPts val="1600"/>
              </a:spcAft>
            </a:pPr>
            <a:r>
              <a:rPr lang="vi-VN" sz="1900">
                <a:solidFill>
                  <a:srgbClr val="1F2328"/>
                </a:solidFill>
                <a:latin typeface="Montserrat" pitchFamily="2" charset="0"/>
              </a:rPr>
              <a:t>Không phát hiện hiện diện; rèm quang không bị che chắn.</a:t>
            </a:r>
            <a:endParaRPr lang="en-US" sz="1900">
              <a:solidFill>
                <a:srgbClr val="1F2328"/>
              </a:solidFill>
              <a:latin typeface="Montserrat" pitchFamily="2" charset="0"/>
            </a:endParaRPr>
          </a:p>
        </p:txBody>
      </p:sp>
      <p:sp>
        <p:nvSpPr>
          <p:cNvPr id="27" name="Panel">
            <a:extLst>
              <a:ext uri="{FF2B5EF4-FFF2-40B4-BE49-F238E27FC236}">
                <a16:creationId xmlns:a16="http://schemas.microsoft.com/office/drawing/2014/main" id="{7EA0AAEA-2439-A478-F8D5-A6697FB22F98}"/>
              </a:ext>
            </a:extLst>
          </p:cNvPr>
          <p:cNvSpPr/>
          <p:nvPr/>
        </p:nvSpPr>
        <p:spPr>
          <a:xfrm>
            <a:off x="9296400" y="7733759"/>
            <a:ext cx="8318500" cy="1816641"/>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a:lnSpc>
                <a:spcPct val="110000"/>
              </a:lnSpc>
              <a:spcAft>
                <a:spcPts val="1600"/>
              </a:spcAft>
            </a:pPr>
            <a:r>
              <a:rPr lang="vi-VN" sz="1900">
                <a:solidFill>
                  <a:srgbClr val="1F2328"/>
                </a:solidFill>
                <a:latin typeface="Montserrat" pitchFamily="2" charset="0"/>
              </a:rPr>
              <a:t>Đầu vào đã xác nhận, không có panic và thỏa điều kiện liên động.</a:t>
            </a:r>
          </a:p>
          <a:p>
            <a:pPr>
              <a:lnSpc>
                <a:spcPct val="110000"/>
              </a:lnSpc>
              <a:spcAft>
                <a:spcPts val="1600"/>
              </a:spcAft>
            </a:pPr>
            <a:r>
              <a:rPr lang="vi-VN" sz="1900">
                <a:solidFill>
                  <a:srgbClr val="1F2328"/>
                </a:solidFill>
                <a:latin typeface="Montserrat" pitchFamily="2" charset="0"/>
              </a:rPr>
              <a:t>Firmware tự kiểm tra lệnh; tín hiệu chưa rõ phải chặn đóng.</a:t>
            </a:r>
            <a:endParaRPr lang="en-US" sz="1900">
              <a:solidFill>
                <a:srgbClr val="1F2328"/>
              </a:solidFill>
              <a:latin typeface="Montserrat" pitchFamily="2" charset="0"/>
            </a:endParaRPr>
          </a:p>
        </p:txBody>
      </p:sp>
      <p:pic>
        <p:nvPicPr>
          <p:cNvPr id="29" name="Picture" descr="Các điều kiện đồng thời để cho phép đóng cửa">
            <a:extLst>
              <a:ext uri="{FF2B5EF4-FFF2-40B4-BE49-F238E27FC236}">
                <a16:creationId xmlns:a16="http://schemas.microsoft.com/office/drawing/2014/main" id="{855A91A2-64D6-6850-9FDE-79284A8D5ED1}"/>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2776161" y="2133600"/>
            <a:ext cx="12735678" cy="5295359"/>
          </a:xfrm>
          <a:prstGeom prst="rect">
            <a:avLst/>
          </a:prstGeom>
        </p:spPr>
      </p:pic>
      <p:sp>
        <p:nvSpPr>
          <p:cNvPr id="30" name="Slide Number">
            <a:extLst>
              <a:ext uri="{FF2B5EF4-FFF2-40B4-BE49-F238E27FC236}">
                <a16:creationId xmlns:a16="http://schemas.microsoft.com/office/drawing/2014/main" id="{D565A74C-9936-B46A-A914-80262302FF80}"/>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10</a:t>
            </a:r>
          </a:p>
        </p:txBody>
      </p:sp>
    </p:spTree>
    <p:extLst>
      <p:ext uri="{BB962C8B-B14F-4D97-AF65-F5344CB8AC3E}">
        <p14:creationId xmlns:p14="http://schemas.microsoft.com/office/powerpoint/2010/main" val="2774229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A5552607-6858-66DA-8674-A790EBD31180}"/>
              </a:ext>
            </a:extLst>
          </p:cNvPr>
          <p:cNvSpPr txBox="1"/>
          <p:nvPr/>
        </p:nvSpPr>
        <p:spPr>
          <a:xfrm>
            <a:off x="673100" y="1219200"/>
            <a:ext cx="16941800" cy="369332"/>
          </a:xfrm>
          <a:prstGeom prst="rect">
            <a:avLst/>
          </a:prstGeom>
          <a:noFill/>
        </p:spPr>
        <p:txBody>
          <a:bodyPr vert="horz" wrap="square" lIns="0" tIns="0" rIns="0" bIns="0" rtlCol="0">
            <a:noAutofit/>
          </a:bodyPr>
          <a:lstStyle/>
          <a:p>
            <a:r>
              <a:rPr lang="vi-VN" sz="3400" b="1">
                <a:solidFill>
                  <a:srgbClr val="0070C0"/>
                </a:solidFill>
                <a:latin typeface="Montserrat" pitchFamily="2" charset="0"/>
              </a:rPr>
              <a:t>RFID và hiện diện kiểm tra chéo số người</a:t>
            </a:r>
            <a:endParaRPr lang="en-US" sz="3400" b="1">
              <a:solidFill>
                <a:srgbClr val="0070C0"/>
              </a:solidFill>
              <a:latin typeface="Montserrat" pitchFamily="2" charset="0"/>
            </a:endParaRPr>
          </a:p>
        </p:txBody>
      </p:sp>
      <p:pic>
        <p:nvPicPr>
          <p:cNvPr id="27" name="Picture" descr="Nhật ký RFID và kiểm tra người trong khu lạnh">
            <a:extLst>
              <a:ext uri="{FF2B5EF4-FFF2-40B4-BE49-F238E27FC236}">
                <a16:creationId xmlns:a16="http://schemas.microsoft.com/office/drawing/2014/main" id="{DBA703BE-AB4F-5760-E39B-D88B20138F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82100" y="2133600"/>
            <a:ext cx="8432800" cy="5856111"/>
          </a:xfrm>
          <a:prstGeom prst="rect">
            <a:avLst/>
          </a:prstGeom>
          <a:ln w="9525">
            <a:solidFill>
              <a:srgbClr val="D0D5DA"/>
            </a:solidFill>
          </a:ln>
        </p:spPr>
      </p:pic>
      <p:sp>
        <p:nvSpPr>
          <p:cNvPr id="28" name="Panel">
            <a:extLst>
              <a:ext uri="{FF2B5EF4-FFF2-40B4-BE49-F238E27FC236}">
                <a16:creationId xmlns:a16="http://schemas.microsoft.com/office/drawing/2014/main" id="{41CD1F7C-E2B6-A975-AC03-DBDBC4C2F6D9}"/>
              </a:ext>
            </a:extLst>
          </p:cNvPr>
          <p:cNvSpPr/>
          <p:nvPr/>
        </p:nvSpPr>
        <p:spPr>
          <a:xfrm>
            <a:off x="673100" y="2133600"/>
            <a:ext cx="8204200" cy="5856111"/>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ctr">
            <a:noAutofit/>
          </a:bodyPr>
          <a:lstStyle/>
          <a:p>
            <a:pPr>
              <a:lnSpc>
                <a:spcPct val="110000"/>
              </a:lnSpc>
              <a:spcAft>
                <a:spcPts val="1700"/>
              </a:spcAft>
            </a:pPr>
            <a:r>
              <a:rPr lang="vi-VN" sz="2000">
                <a:solidFill>
                  <a:srgbClr val="1F2328"/>
                </a:solidFill>
                <a:latin typeface="Montserrat" pitchFamily="2" charset="0"/>
              </a:rPr>
              <a:t>Thẻ hợp lệ quét vào/ra làm thay đổi số người trong kho.</a:t>
            </a:r>
          </a:p>
          <a:p>
            <a:pPr>
              <a:lnSpc>
                <a:spcPct val="110000"/>
              </a:lnSpc>
              <a:spcAft>
                <a:spcPts val="1700"/>
              </a:spcAft>
            </a:pPr>
            <a:r>
              <a:rPr lang="vi-VN" sz="2000">
                <a:solidFill>
                  <a:srgbClr val="1F2328"/>
                </a:solidFill>
                <a:latin typeface="Montserrat" pitchFamily="2" charset="0"/>
              </a:rPr>
              <a:t>Đọc lặp không tăng số người; thẻ bị thu hồi hoặc không hợp lệ bị từ chối.</a:t>
            </a:r>
          </a:p>
          <a:p>
            <a:pPr>
              <a:lnSpc>
                <a:spcPct val="110000"/>
              </a:lnSpc>
              <a:spcAft>
                <a:spcPts val="1700"/>
              </a:spcAft>
            </a:pPr>
            <a:r>
              <a:rPr lang="vi-VN" sz="2000">
                <a:solidFill>
                  <a:srgbClr val="1F2328"/>
                </a:solidFill>
                <a:latin typeface="Montserrat" pitchFamily="2" charset="0"/>
              </a:rPr>
              <a:t>Count bằng 0 nhưng presence vẫn có người: tiếp tục chặn đóng.</a:t>
            </a:r>
          </a:p>
          <a:p>
            <a:pPr>
              <a:lnSpc>
                <a:spcPct val="110000"/>
              </a:lnSpc>
              <a:spcAft>
                <a:spcPts val="1700"/>
              </a:spcAft>
            </a:pPr>
            <a:r>
              <a:rPr lang="vi-VN" sz="2000">
                <a:solidFill>
                  <a:srgbClr val="1F2328"/>
                </a:solidFill>
                <a:latin typeface="Montserrat" pitchFamily="2" charset="0"/>
              </a:rPr>
              <a:t>Sau reboot, count chưa xác minh được hiển thị là chưa rõ.</a:t>
            </a:r>
            <a:endParaRPr lang="en-US" sz="2000">
              <a:solidFill>
                <a:srgbClr val="1F2328"/>
              </a:solidFill>
              <a:latin typeface="Montserrat" pitchFamily="2" charset="0"/>
            </a:endParaRPr>
          </a:p>
        </p:txBody>
      </p:sp>
      <p:sp>
        <p:nvSpPr>
          <p:cNvPr id="29" name="Slide Number">
            <a:extLst>
              <a:ext uri="{FF2B5EF4-FFF2-40B4-BE49-F238E27FC236}">
                <a16:creationId xmlns:a16="http://schemas.microsoft.com/office/drawing/2014/main" id="{29BD7DEE-E873-4C94-6644-965AD2996EBB}"/>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11</a:t>
            </a:r>
          </a:p>
        </p:txBody>
      </p:sp>
    </p:spTree>
    <p:extLst>
      <p:ext uri="{BB962C8B-B14F-4D97-AF65-F5344CB8AC3E}">
        <p14:creationId xmlns:p14="http://schemas.microsoft.com/office/powerpoint/2010/main" val="3498278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7BA59D28-A3F5-CAD5-D024-5110BED29980}"/>
              </a:ext>
            </a:extLst>
          </p:cNvPr>
          <p:cNvSpPr txBox="1"/>
          <p:nvPr/>
        </p:nvSpPr>
        <p:spPr>
          <a:xfrm>
            <a:off x="673100" y="1219200"/>
            <a:ext cx="16941800" cy="369332"/>
          </a:xfrm>
          <a:prstGeom prst="rect">
            <a:avLst/>
          </a:prstGeom>
          <a:noFill/>
        </p:spPr>
        <p:txBody>
          <a:bodyPr vert="horz" wrap="square" lIns="0" tIns="0" rIns="0" bIns="0" rtlCol="0">
            <a:noAutofit/>
          </a:bodyPr>
          <a:lstStyle/>
          <a:p>
            <a:r>
              <a:rPr lang="en-US" sz="3400" b="1">
                <a:solidFill>
                  <a:srgbClr val="0070C0"/>
                </a:solidFill>
                <a:latin typeface="Montserrat" pitchFamily="2" charset="0"/>
              </a:rPr>
              <a:t>Liên động hai cửa và cảnh báo mở lâu</a:t>
            </a:r>
          </a:p>
        </p:txBody>
      </p:sp>
      <p:pic>
        <p:nvPicPr>
          <p:cNvPr id="27" name="Picture" descr="Hai cửa D07 và D08 trên giao diện điều khiển">
            <a:extLst>
              <a:ext uri="{FF2B5EF4-FFF2-40B4-BE49-F238E27FC236}">
                <a16:creationId xmlns:a16="http://schemas.microsoft.com/office/drawing/2014/main" id="{9F857B43-D750-5C49-F369-20A3B12D9E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3100" y="2133600"/>
            <a:ext cx="8432800" cy="7195714"/>
          </a:xfrm>
          <a:prstGeom prst="rect">
            <a:avLst/>
          </a:prstGeom>
          <a:ln w="9525">
            <a:solidFill>
              <a:srgbClr val="D0D5DA"/>
            </a:solidFill>
          </a:ln>
        </p:spPr>
      </p:pic>
      <p:sp>
        <p:nvSpPr>
          <p:cNvPr id="28" name="Panel">
            <a:extLst>
              <a:ext uri="{FF2B5EF4-FFF2-40B4-BE49-F238E27FC236}">
                <a16:creationId xmlns:a16="http://schemas.microsoft.com/office/drawing/2014/main" id="{E573B911-9018-45AE-F199-074D499B0B73}"/>
              </a:ext>
            </a:extLst>
          </p:cNvPr>
          <p:cNvSpPr/>
          <p:nvPr/>
        </p:nvSpPr>
        <p:spPr>
          <a:xfrm>
            <a:off x="9410700" y="2133600"/>
            <a:ext cx="8204200" cy="7195714"/>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ctr">
            <a:noAutofit/>
          </a:bodyPr>
          <a:lstStyle/>
          <a:p>
            <a:pPr>
              <a:lnSpc>
                <a:spcPct val="110000"/>
              </a:lnSpc>
              <a:spcAft>
                <a:spcPts val="1700"/>
              </a:spcAft>
            </a:pPr>
            <a:r>
              <a:rPr lang="vi-VN" sz="2000">
                <a:solidFill>
                  <a:srgbClr val="1F2328"/>
                </a:solidFill>
                <a:latin typeface="Montserrat" pitchFamily="2" charset="0"/>
              </a:rPr>
              <a:t>D07/D08 mô phỏng hai cửa của khu lạnh; chế độ bình thường có kiểm tra liên động.</a:t>
            </a:r>
          </a:p>
          <a:p>
            <a:pPr>
              <a:lnSpc>
                <a:spcPct val="110000"/>
              </a:lnSpc>
              <a:spcAft>
                <a:spcPts val="1700"/>
              </a:spcAft>
            </a:pPr>
            <a:r>
              <a:rPr lang="vi-VN" sz="2000">
                <a:solidFill>
                  <a:srgbClr val="1F2328"/>
                </a:solidFill>
                <a:latin typeface="Montserrat" pitchFamily="2" charset="0"/>
              </a:rPr>
              <a:t>Rèm quang bị chắn trong lúc đóng: firmware yêu cầu đảo chiều mở.</a:t>
            </a:r>
          </a:p>
          <a:p>
            <a:pPr>
              <a:lnSpc>
                <a:spcPct val="110000"/>
              </a:lnSpc>
              <a:spcAft>
                <a:spcPts val="1700"/>
              </a:spcAft>
            </a:pPr>
            <a:r>
              <a:rPr lang="vi-VN" sz="2000">
                <a:solidFill>
                  <a:srgbClr val="1F2328"/>
                </a:solidFill>
                <a:latin typeface="Montserrat" pitchFamily="2" charset="0"/>
              </a:rPr>
              <a:t>Cửa mở từ 30 giây: cảnh báo tại chỗ.</a:t>
            </a:r>
          </a:p>
          <a:p>
            <a:pPr>
              <a:lnSpc>
                <a:spcPct val="110000"/>
              </a:lnSpc>
              <a:spcAft>
                <a:spcPts val="1700"/>
              </a:spcAft>
            </a:pPr>
            <a:r>
              <a:rPr lang="vi-VN" sz="2000">
                <a:solidFill>
                  <a:srgbClr val="1F2328"/>
                </a:solidFill>
                <a:latin typeface="Montserrat" pitchFamily="2" charset="0"/>
              </a:rPr>
              <a:t>Cửa mở quá 60 giây: nâng mức cảnh báo.</a:t>
            </a:r>
          </a:p>
          <a:p>
            <a:pPr>
              <a:lnSpc>
                <a:spcPct val="110000"/>
              </a:lnSpc>
              <a:spcAft>
                <a:spcPts val="1700"/>
              </a:spcAft>
            </a:pPr>
            <a:r>
              <a:rPr lang="vi-VN" sz="2000">
                <a:solidFill>
                  <a:srgbClr val="1F2328"/>
                </a:solidFill>
                <a:latin typeface="Montserrat" pitchFamily="2" charset="0"/>
              </a:rPr>
              <a:t>Panic ưu tiên thoát hiểm, có thể vượt điều kiện liên động bình thường.</a:t>
            </a:r>
            <a:endParaRPr lang="en-US" sz="2000">
              <a:solidFill>
                <a:srgbClr val="1F2328"/>
              </a:solidFill>
              <a:latin typeface="Montserrat" pitchFamily="2" charset="0"/>
            </a:endParaRPr>
          </a:p>
        </p:txBody>
      </p:sp>
      <p:sp>
        <p:nvSpPr>
          <p:cNvPr id="29" name="Slide Number">
            <a:extLst>
              <a:ext uri="{FF2B5EF4-FFF2-40B4-BE49-F238E27FC236}">
                <a16:creationId xmlns:a16="http://schemas.microsoft.com/office/drawing/2014/main" id="{EBABAB12-E43D-F019-7E71-8FD9CF2864F4}"/>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12</a:t>
            </a:r>
          </a:p>
        </p:txBody>
      </p:sp>
    </p:spTree>
    <p:extLst>
      <p:ext uri="{BB962C8B-B14F-4D97-AF65-F5344CB8AC3E}">
        <p14:creationId xmlns:p14="http://schemas.microsoft.com/office/powerpoint/2010/main" val="412640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BB704B54-D965-51C9-5B05-506875221F41}"/>
              </a:ext>
            </a:extLst>
          </p:cNvPr>
          <p:cNvSpPr txBox="1"/>
          <p:nvPr/>
        </p:nvSpPr>
        <p:spPr>
          <a:xfrm>
            <a:off x="673100" y="1219200"/>
            <a:ext cx="16941800" cy="369332"/>
          </a:xfrm>
          <a:prstGeom prst="rect">
            <a:avLst/>
          </a:prstGeom>
          <a:noFill/>
        </p:spPr>
        <p:txBody>
          <a:bodyPr vert="horz" wrap="square" lIns="0" tIns="0" rIns="0" bIns="0" rtlCol="0">
            <a:noAutofit/>
          </a:bodyPr>
          <a:lstStyle/>
          <a:p>
            <a:r>
              <a:rPr lang="en-US" sz="3400" b="1">
                <a:solidFill>
                  <a:srgbClr val="0070C0"/>
                </a:solidFill>
                <a:latin typeface="Montserrat" pitchFamily="2" charset="0"/>
              </a:rPr>
              <a:t>Xử lý khẩn cấp tại thiết bị</a:t>
            </a:r>
          </a:p>
        </p:txBody>
      </p:sp>
      <p:sp>
        <p:nvSpPr>
          <p:cNvPr id="26" name="Panel">
            <a:extLst>
              <a:ext uri="{FF2B5EF4-FFF2-40B4-BE49-F238E27FC236}">
                <a16:creationId xmlns:a16="http://schemas.microsoft.com/office/drawing/2014/main" id="{982BF956-F4F3-9FF4-F763-C49A93BA8A14}"/>
              </a:ext>
            </a:extLst>
          </p:cNvPr>
          <p:cNvSpPr/>
          <p:nvPr/>
        </p:nvSpPr>
        <p:spPr>
          <a:xfrm>
            <a:off x="673100" y="7733759"/>
            <a:ext cx="8318500" cy="1816641"/>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a:lnSpc>
                <a:spcPct val="110000"/>
              </a:lnSpc>
              <a:spcAft>
                <a:spcPts val="1600"/>
              </a:spcAft>
            </a:pPr>
            <a:r>
              <a:rPr lang="vi-VN" sz="1900">
                <a:solidFill>
                  <a:srgbClr val="1F2328"/>
                </a:solidFill>
                <a:latin typeface="Montserrat" pitchFamily="2" charset="0"/>
              </a:rPr>
              <a:t>Panic: nhả khóa, yêu cầu mở cửa, bật đầu ra cảnh báo.</a:t>
            </a:r>
          </a:p>
          <a:p>
            <a:pPr>
              <a:lnSpc>
                <a:spcPct val="110000"/>
              </a:lnSpc>
              <a:spcAft>
                <a:spcPts val="1600"/>
              </a:spcAft>
            </a:pPr>
            <a:r>
              <a:rPr lang="vi-VN" sz="1900">
                <a:solidFill>
                  <a:srgbClr val="1F2328"/>
                </a:solidFill>
                <a:latin typeface="Montserrat" pitchFamily="2" charset="0"/>
              </a:rPr>
              <a:t>Trạng thái khẩn cấp được chốt; nhả nút không tự xóa panic.</a:t>
            </a:r>
            <a:endParaRPr lang="en-US" sz="1900">
              <a:solidFill>
                <a:srgbClr val="1F2328"/>
              </a:solidFill>
              <a:latin typeface="Montserrat" pitchFamily="2" charset="0"/>
            </a:endParaRPr>
          </a:p>
        </p:txBody>
      </p:sp>
      <p:sp>
        <p:nvSpPr>
          <p:cNvPr id="27" name="Panel">
            <a:extLst>
              <a:ext uri="{FF2B5EF4-FFF2-40B4-BE49-F238E27FC236}">
                <a16:creationId xmlns:a16="http://schemas.microsoft.com/office/drawing/2014/main" id="{FCD2A08C-4027-4B3A-B784-E658D678936E}"/>
              </a:ext>
            </a:extLst>
          </p:cNvPr>
          <p:cNvSpPr/>
          <p:nvPr/>
        </p:nvSpPr>
        <p:spPr>
          <a:xfrm>
            <a:off x="9296400" y="7733759"/>
            <a:ext cx="8318500" cy="1816641"/>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a:lnSpc>
                <a:spcPct val="110000"/>
              </a:lnSpc>
              <a:spcAft>
                <a:spcPts val="1600"/>
              </a:spcAft>
            </a:pPr>
            <a:r>
              <a:rPr lang="vi-VN" sz="1900">
                <a:solidFill>
                  <a:srgbClr val="1F2328"/>
                </a:solidFill>
                <a:latin typeface="Montserrat" pitchFamily="2" charset="0"/>
              </a:rPr>
              <a:t>Presence kéo dài khi hai cửa đóng quá 5 phút: cảnh báo nguy cơ mắc kẹt.</a:t>
            </a:r>
          </a:p>
          <a:p>
            <a:pPr>
              <a:lnSpc>
                <a:spcPct val="110000"/>
              </a:lnSpc>
              <a:spcAft>
                <a:spcPts val="1600"/>
              </a:spcAft>
            </a:pPr>
            <a:r>
              <a:rPr lang="vi-VN" sz="1900">
                <a:solidFill>
                  <a:srgbClr val="1F2328"/>
                </a:solidFill>
                <a:latin typeface="Montserrat" pitchFamily="2" charset="0"/>
              </a:rPr>
              <a:t>Phản ứng cục bộ vẫn chạy khi broker mất kết nối.</a:t>
            </a:r>
            <a:endParaRPr lang="en-US" sz="1900">
              <a:solidFill>
                <a:srgbClr val="1F2328"/>
              </a:solidFill>
              <a:latin typeface="Montserrat" pitchFamily="2" charset="0"/>
            </a:endParaRPr>
          </a:p>
        </p:txBody>
      </p:sp>
      <p:pic>
        <p:nvPicPr>
          <p:cNvPr id="29" name="Picture" descr="Chuỗi phản ứng khi nhấn nút khẩn cấp">
            <a:extLst>
              <a:ext uri="{FF2B5EF4-FFF2-40B4-BE49-F238E27FC236}">
                <a16:creationId xmlns:a16="http://schemas.microsoft.com/office/drawing/2014/main" id="{77899144-7077-5402-4780-1E78B72D05F8}"/>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2776161" y="2133600"/>
            <a:ext cx="12735678" cy="5295359"/>
          </a:xfrm>
          <a:prstGeom prst="rect">
            <a:avLst/>
          </a:prstGeom>
        </p:spPr>
      </p:pic>
      <p:sp>
        <p:nvSpPr>
          <p:cNvPr id="30" name="Slide Number">
            <a:extLst>
              <a:ext uri="{FF2B5EF4-FFF2-40B4-BE49-F238E27FC236}">
                <a16:creationId xmlns:a16="http://schemas.microsoft.com/office/drawing/2014/main" id="{77FABFF8-EDF9-3BC9-48AB-F351D30DA026}"/>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13</a:t>
            </a:r>
          </a:p>
        </p:txBody>
      </p:sp>
    </p:spTree>
    <p:extLst>
      <p:ext uri="{BB962C8B-B14F-4D97-AF65-F5344CB8AC3E}">
        <p14:creationId xmlns:p14="http://schemas.microsoft.com/office/powerpoint/2010/main" val="3240617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0F450434-1289-4660-D055-D9A3927BD432}"/>
              </a:ext>
            </a:extLst>
          </p:cNvPr>
          <p:cNvSpPr txBox="1"/>
          <p:nvPr/>
        </p:nvSpPr>
        <p:spPr>
          <a:xfrm>
            <a:off x="673100" y="1219200"/>
            <a:ext cx="16941800" cy="369332"/>
          </a:xfrm>
          <a:prstGeom prst="rect">
            <a:avLst/>
          </a:prstGeom>
          <a:noFill/>
        </p:spPr>
        <p:txBody>
          <a:bodyPr vert="horz" wrap="square" lIns="0" tIns="0" rIns="0" bIns="0" rtlCol="0">
            <a:noAutofit/>
          </a:bodyPr>
          <a:lstStyle/>
          <a:p>
            <a:r>
              <a:rPr lang="vi-VN" sz="3400" b="1">
                <a:solidFill>
                  <a:srgbClr val="0070C0"/>
                </a:solidFill>
                <a:latin typeface="Montserrat" pitchFamily="2" charset="0"/>
              </a:rPr>
              <a:t>Kiểm soát sức chứa trước khi nhận hàng</a:t>
            </a:r>
            <a:endParaRPr lang="en-US" sz="3400" b="1">
              <a:solidFill>
                <a:srgbClr val="0070C0"/>
              </a:solidFill>
              <a:latin typeface="Montserrat" pitchFamily="2" charset="0"/>
            </a:endParaRPr>
          </a:p>
        </p:txBody>
      </p:sp>
      <p:pic>
        <p:nvPicPr>
          <p:cNvPr id="27" name="Picture" descr="Chức năng nhận hàng và giữ vị trí">
            <a:extLst>
              <a:ext uri="{FF2B5EF4-FFF2-40B4-BE49-F238E27FC236}">
                <a16:creationId xmlns:a16="http://schemas.microsoft.com/office/drawing/2014/main" id="{E2B1A1D9-F9D9-8272-152B-FFBB37049A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82100" y="2133600"/>
            <a:ext cx="8432800" cy="5856111"/>
          </a:xfrm>
          <a:prstGeom prst="rect">
            <a:avLst/>
          </a:prstGeom>
          <a:ln w="9525">
            <a:solidFill>
              <a:srgbClr val="D0D5DA"/>
            </a:solidFill>
          </a:ln>
        </p:spPr>
      </p:pic>
      <p:sp>
        <p:nvSpPr>
          <p:cNvPr id="28" name="Panel">
            <a:extLst>
              <a:ext uri="{FF2B5EF4-FFF2-40B4-BE49-F238E27FC236}">
                <a16:creationId xmlns:a16="http://schemas.microsoft.com/office/drawing/2014/main" id="{5A09AB9C-E274-7B58-47DC-224ACD9FEEF3}"/>
              </a:ext>
            </a:extLst>
          </p:cNvPr>
          <p:cNvSpPr/>
          <p:nvPr/>
        </p:nvSpPr>
        <p:spPr>
          <a:xfrm>
            <a:off x="673100" y="2133600"/>
            <a:ext cx="8204200" cy="5856111"/>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ctr">
            <a:noAutofit/>
          </a:bodyPr>
          <a:lstStyle/>
          <a:p>
            <a:pPr>
              <a:lnSpc>
                <a:spcPct val="110000"/>
              </a:lnSpc>
              <a:spcAft>
                <a:spcPts val="1700"/>
              </a:spcAft>
            </a:pPr>
            <a:r>
              <a:rPr lang="vi-VN" sz="2000">
                <a:solidFill>
                  <a:srgbClr val="1F2328"/>
                </a:solidFill>
                <a:latin typeface="Montserrat" pitchFamily="2" charset="0"/>
              </a:rPr>
              <a:t>Chọn vị trí phù hợp nhiệt độ, kích thước và tải trọng.</a:t>
            </a:r>
          </a:p>
          <a:p>
            <a:pPr>
              <a:lnSpc>
                <a:spcPct val="110000"/>
              </a:lnSpc>
              <a:spcAft>
                <a:spcPts val="1700"/>
              </a:spcAft>
            </a:pPr>
            <a:r>
              <a:rPr lang="vi-VN" sz="2000">
                <a:solidFill>
                  <a:srgbClr val="1F2328"/>
                </a:solidFill>
                <a:latin typeface="Montserrat" pitchFamily="2" charset="0"/>
              </a:rPr>
              <a:t>Tính sức chứa bằng vị trí đang chứa cộng vị trí đang giữ.</a:t>
            </a:r>
          </a:p>
          <a:p>
            <a:pPr>
              <a:lnSpc>
                <a:spcPct val="110000"/>
              </a:lnSpc>
              <a:spcAft>
                <a:spcPts val="1700"/>
              </a:spcAft>
            </a:pPr>
            <a:r>
              <a:rPr lang="vi-VN" sz="2000">
                <a:solidFill>
                  <a:srgbClr val="1F2328"/>
                </a:solidFill>
                <a:latin typeface="Montserrat" pitchFamily="2" charset="0"/>
              </a:rPr>
              <a:t>Từ 85%: cảnh báo; giữ thêm làm vượt 95%: từ chối.</a:t>
            </a:r>
          </a:p>
          <a:p>
            <a:pPr>
              <a:lnSpc>
                <a:spcPct val="110000"/>
              </a:lnSpc>
              <a:spcAft>
                <a:spcPts val="1700"/>
              </a:spcAft>
            </a:pPr>
            <a:r>
              <a:rPr lang="vi-VN" sz="2000">
                <a:solidFill>
                  <a:srgbClr val="1F2328"/>
                </a:solidFill>
                <a:latin typeface="Montserrat" pitchFamily="2" charset="0"/>
              </a:rPr>
              <a:t>Khu đệm đạt từ 95%: dừng nhận hàng dù kho còn chỗ.</a:t>
            </a:r>
          </a:p>
          <a:p>
            <a:pPr>
              <a:lnSpc>
                <a:spcPct val="110000"/>
              </a:lnSpc>
              <a:spcAft>
                <a:spcPts val="1700"/>
              </a:spcAft>
            </a:pPr>
            <a:r>
              <a:rPr lang="vi-VN" sz="2000">
                <a:solidFill>
                  <a:srgbClr val="1F2328"/>
                </a:solidFill>
                <a:latin typeface="Montserrat" pitchFamily="2" charset="0"/>
              </a:rPr>
              <a:t>Giữ vị trí trong 15 phút, ngăn hai yêu cầu giữ cùng một ô.</a:t>
            </a:r>
            <a:endParaRPr lang="en-US" sz="2000">
              <a:solidFill>
                <a:srgbClr val="1F2328"/>
              </a:solidFill>
              <a:latin typeface="Montserrat" pitchFamily="2" charset="0"/>
            </a:endParaRPr>
          </a:p>
        </p:txBody>
      </p:sp>
      <p:sp>
        <p:nvSpPr>
          <p:cNvPr id="29" name="Slide Number">
            <a:extLst>
              <a:ext uri="{FF2B5EF4-FFF2-40B4-BE49-F238E27FC236}">
                <a16:creationId xmlns:a16="http://schemas.microsoft.com/office/drawing/2014/main" id="{B8A7409C-A0B6-B90D-83A0-FC8FDDEE2EFE}"/>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14</a:t>
            </a:r>
          </a:p>
        </p:txBody>
      </p:sp>
    </p:spTree>
    <p:extLst>
      <p:ext uri="{BB962C8B-B14F-4D97-AF65-F5344CB8AC3E}">
        <p14:creationId xmlns:p14="http://schemas.microsoft.com/office/powerpoint/2010/main" val="1191570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grpSp>
        <p:nvGrpSpPr>
          <p:cNvPr id="6" name="Group 6"/>
          <p:cNvGrpSpPr/>
          <p:nvPr/>
        </p:nvGrpSpPr>
        <p:grpSpPr>
          <a:xfrm>
            <a:off x="2743238" y="10108759"/>
            <a:ext cx="15544724" cy="152705"/>
            <a:chOff x="0" y="0"/>
            <a:chExt cx="20726298" cy="203606"/>
          </a:xfrm>
        </p:grpSpPr>
        <p:sp>
          <p:nvSpPr>
            <p:cNvPr id="7" name="Freeform 7"/>
            <p:cNvSpPr/>
            <p:nvPr/>
          </p:nvSpPr>
          <p:spPr>
            <a:xfrm>
              <a:off x="0" y="0"/>
              <a:ext cx="20726273" cy="203581"/>
            </a:xfrm>
            <a:custGeom>
              <a:avLst/>
              <a:gdLst/>
              <a:ahLst/>
              <a:cxnLst/>
              <a:rect l="l" t="t" r="r" b="b"/>
              <a:pathLst>
                <a:path w="20726273" h="203581">
                  <a:moveTo>
                    <a:pt x="0" y="0"/>
                  </a:moveTo>
                  <a:lnTo>
                    <a:pt x="20726273" y="0"/>
                  </a:lnTo>
                  <a:lnTo>
                    <a:pt x="20726273" y="203581"/>
                  </a:lnTo>
                  <a:lnTo>
                    <a:pt x="0" y="203581"/>
                  </a:lnTo>
                  <a:lnTo>
                    <a:pt x="0" y="0"/>
                  </a:lnTo>
                  <a:close/>
                </a:path>
              </a:pathLst>
            </a:custGeom>
            <a:blipFill>
              <a:blip r:embed="rId3"/>
              <a:stretch>
                <a:fillRect b="-35745"/>
              </a:stretch>
            </a:blipFill>
          </p:spPr>
        </p:sp>
      </p:grpSp>
      <p:sp>
        <p:nvSpPr>
          <p:cNvPr id="8" name="TextBox 8"/>
          <p:cNvSpPr txBox="1"/>
          <p:nvPr/>
        </p:nvSpPr>
        <p:spPr>
          <a:xfrm>
            <a:off x="302009" y="10002231"/>
            <a:ext cx="2254501" cy="327536"/>
          </a:xfrm>
          <a:prstGeom prst="rect">
            <a:avLst/>
          </a:prstGeom>
        </p:spPr>
        <p:txBody>
          <a:bodyPr lIns="0" tIns="0" rIns="0" bIns="0" rtlCol="0" anchor="t">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grpSp>
        <p:nvGrpSpPr>
          <p:cNvPr id="9" name="Group 9"/>
          <p:cNvGrpSpPr/>
          <p:nvPr/>
        </p:nvGrpSpPr>
        <p:grpSpPr>
          <a:xfrm>
            <a:off x="-15240" y="7567612"/>
            <a:ext cx="18303240" cy="2514600"/>
            <a:chOff x="0" y="0"/>
            <a:chExt cx="24404320" cy="3352800"/>
          </a:xfrm>
        </p:grpSpPr>
        <p:sp>
          <p:nvSpPr>
            <p:cNvPr id="10" name="Freeform 10" descr="A building with trees in the background  Description automatically generated"/>
            <p:cNvSpPr/>
            <p:nvPr/>
          </p:nvSpPr>
          <p:spPr>
            <a:xfrm>
              <a:off x="0" y="0"/>
              <a:ext cx="24404320" cy="3352800"/>
            </a:xfrm>
            <a:custGeom>
              <a:avLst/>
              <a:gdLst/>
              <a:ahLst/>
              <a:cxnLst/>
              <a:rect l="l" t="t" r="r" b="b"/>
              <a:pathLst>
                <a:path w="24404320" h="3352800">
                  <a:moveTo>
                    <a:pt x="0" y="0"/>
                  </a:moveTo>
                  <a:lnTo>
                    <a:pt x="24404320" y="0"/>
                  </a:lnTo>
                  <a:lnTo>
                    <a:pt x="24404320" y="3352800"/>
                  </a:lnTo>
                  <a:lnTo>
                    <a:pt x="0" y="3352800"/>
                  </a:lnTo>
                  <a:lnTo>
                    <a:pt x="0" y="0"/>
                  </a:lnTo>
                  <a:close/>
                </a:path>
              </a:pathLst>
            </a:custGeom>
            <a:blipFill>
              <a:blip r:embed="rId4"/>
              <a:stretch>
                <a:fillRect t="-16633" b="-16633"/>
              </a:stretch>
            </a:blipFill>
          </p:spPr>
        </p:sp>
      </p:grpSp>
      <p:grpSp>
        <p:nvGrpSpPr>
          <p:cNvPr id="11" name="Group 11"/>
          <p:cNvGrpSpPr/>
          <p:nvPr/>
        </p:nvGrpSpPr>
        <p:grpSpPr>
          <a:xfrm>
            <a:off x="534200" y="27089"/>
            <a:ext cx="999001" cy="999001"/>
            <a:chOff x="0" y="0"/>
            <a:chExt cx="1332001" cy="1332001"/>
          </a:xfrm>
        </p:grpSpPr>
        <p:sp>
          <p:nvSpPr>
            <p:cNvPr id="12" name="Freeform 12" descr="A white circle with blue and red text and a book with a graduation cap  Description automatically generated"/>
            <p:cNvSpPr/>
            <p:nvPr/>
          </p:nvSpPr>
          <p:spPr>
            <a:xfrm>
              <a:off x="0" y="0"/>
              <a:ext cx="1331976" cy="1331976"/>
            </a:xfrm>
            <a:custGeom>
              <a:avLst/>
              <a:gdLst/>
              <a:ahLst/>
              <a:cxnLst/>
              <a:rect l="l" t="t" r="r" b="b"/>
              <a:pathLst>
                <a:path w="1331976" h="1331976">
                  <a:moveTo>
                    <a:pt x="0" y="0"/>
                  </a:moveTo>
                  <a:lnTo>
                    <a:pt x="1331976" y="0"/>
                  </a:lnTo>
                  <a:lnTo>
                    <a:pt x="1331976" y="1331976"/>
                  </a:lnTo>
                  <a:lnTo>
                    <a:pt x="0" y="1331976"/>
                  </a:lnTo>
                  <a:lnTo>
                    <a:pt x="0" y="0"/>
                  </a:lnTo>
                  <a:close/>
                </a:path>
              </a:pathLst>
            </a:custGeom>
            <a:blipFill>
              <a:blip r:embed="rId5"/>
              <a:stretch>
                <a:fillRect r="-1" b="-1"/>
              </a:stretch>
            </a:blipFill>
          </p:spPr>
        </p:sp>
      </p:grpSp>
      <p:sp>
        <p:nvSpPr>
          <p:cNvPr id="13" name="TextBox 13"/>
          <p:cNvSpPr txBox="1"/>
          <p:nvPr/>
        </p:nvSpPr>
        <p:spPr>
          <a:xfrm>
            <a:off x="3910012" y="74790"/>
            <a:ext cx="10452725" cy="897103"/>
          </a:xfrm>
          <a:prstGeom prst="rect">
            <a:avLst/>
          </a:prstGeom>
        </p:spPr>
        <p:txBody>
          <a:bodyPr lIns="0" tIns="0" rIns="0" bIns="0" rtlCol="0" anchor="t">
            <a:spAutoFit/>
          </a:bodyPr>
          <a:lstStyle/>
          <a:p>
            <a:pPr algn="ctr">
              <a:lnSpc>
                <a:spcPts val="3240"/>
              </a:lnSpc>
            </a:pPr>
            <a:r>
              <a:rPr lang="en-US" sz="2700">
                <a:solidFill>
                  <a:srgbClr val="FFFFFF"/>
                </a:solidFill>
                <a:latin typeface="Arial"/>
                <a:ea typeface="Arial"/>
                <a:cs typeface="Arial"/>
                <a:sym typeface="Arial"/>
              </a:rPr>
              <a:t>BỘ CÔNG THƯƠNG</a:t>
            </a:r>
          </a:p>
          <a:p>
            <a:pPr algn="ctr">
              <a:lnSpc>
                <a:spcPts val="3240"/>
              </a:lnSpc>
            </a:pPr>
            <a:r>
              <a:rPr lang="en-US" sz="2700" b="1">
                <a:solidFill>
                  <a:srgbClr val="FFFFFF"/>
                </a:solidFill>
                <a:latin typeface="Arial Bold"/>
                <a:ea typeface="Arial Bold"/>
                <a:cs typeface="Arial Bold"/>
                <a:sym typeface="Arial Bold"/>
              </a:rPr>
              <a:t>TRƯỜNG ĐẠI HỌC CÔNG THƯƠNG THÀNH PHỐ HỒ CHÍ MINH</a:t>
            </a:r>
          </a:p>
        </p:txBody>
      </p:sp>
      <p:sp>
        <p:nvSpPr>
          <p:cNvPr id="16" name="Title">
            <a:extLst>
              <a:ext uri="{FF2B5EF4-FFF2-40B4-BE49-F238E27FC236}">
                <a16:creationId xmlns:a16="http://schemas.microsoft.com/office/drawing/2014/main" id="{166D2809-5777-E5D5-BE14-759C5EEF1315}"/>
              </a:ext>
            </a:extLst>
          </p:cNvPr>
          <p:cNvSpPr txBox="1"/>
          <p:nvPr/>
        </p:nvSpPr>
        <p:spPr>
          <a:xfrm>
            <a:off x="1397000" y="3429000"/>
            <a:ext cx="15494000" cy="369332"/>
          </a:xfrm>
          <a:prstGeom prst="rect">
            <a:avLst/>
          </a:prstGeom>
          <a:noFill/>
        </p:spPr>
        <p:txBody>
          <a:bodyPr vert="horz" wrap="square" lIns="0" tIns="0" rIns="0" bIns="0" rtlCol="0" anchor="ctr">
            <a:noAutofit/>
          </a:bodyPr>
          <a:lstStyle/>
          <a:p>
            <a:pPr algn="ctr"/>
            <a:r>
              <a:rPr lang="en-US" sz="4400" b="1">
                <a:solidFill>
                  <a:srgbClr val="0070C0"/>
                </a:solidFill>
                <a:latin typeface="Montserrat" pitchFamily="2" charset="0"/>
              </a:rPr>
              <a:t>3. Triển khai mô hình KhoGuard</a:t>
            </a:r>
          </a:p>
        </p:txBody>
      </p:sp>
      <p:sp>
        <p:nvSpPr>
          <p:cNvPr id="17" name="Slide Number">
            <a:extLst>
              <a:ext uri="{FF2B5EF4-FFF2-40B4-BE49-F238E27FC236}">
                <a16:creationId xmlns:a16="http://schemas.microsoft.com/office/drawing/2014/main" id="{7F85234F-8656-8BF2-9A49-EC09165CF3FD}"/>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1F2328"/>
                </a:solidFill>
                <a:latin typeface="Montserrat" pitchFamily="2" charset="0"/>
              </a:rPr>
              <a:t>15</a:t>
            </a:r>
          </a:p>
        </p:txBody>
      </p:sp>
    </p:spTree>
    <p:extLst>
      <p:ext uri="{BB962C8B-B14F-4D97-AF65-F5344CB8AC3E}">
        <p14:creationId xmlns:p14="http://schemas.microsoft.com/office/powerpoint/2010/main" val="3701726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6F7A4502-51B0-8996-A8C1-9B7E04BA4104}"/>
              </a:ext>
            </a:extLst>
          </p:cNvPr>
          <p:cNvSpPr txBox="1"/>
          <p:nvPr/>
        </p:nvSpPr>
        <p:spPr>
          <a:xfrm>
            <a:off x="673100" y="1219200"/>
            <a:ext cx="16941800" cy="369332"/>
          </a:xfrm>
          <a:prstGeom prst="rect">
            <a:avLst/>
          </a:prstGeom>
          <a:noFill/>
        </p:spPr>
        <p:txBody>
          <a:bodyPr vert="horz" wrap="square" lIns="0" tIns="0" rIns="0" bIns="0" rtlCol="0">
            <a:noAutofit/>
          </a:bodyPr>
          <a:lstStyle/>
          <a:p>
            <a:r>
              <a:rPr lang="en-US" sz="3400" b="1">
                <a:solidFill>
                  <a:srgbClr val="0070C0"/>
                </a:solidFill>
                <a:latin typeface="Montserrat" pitchFamily="2" charset="0"/>
              </a:rPr>
              <a:t>Công cụ và công nghệ sử dụng</a:t>
            </a:r>
          </a:p>
        </p:txBody>
      </p:sp>
      <p:graphicFrame>
        <p:nvGraphicFramePr>
          <p:cNvPr id="26" name="Table">
            <a:extLst>
              <a:ext uri="{FF2B5EF4-FFF2-40B4-BE49-F238E27FC236}">
                <a16:creationId xmlns:a16="http://schemas.microsoft.com/office/drawing/2014/main" id="{E3ECFE91-6A34-4134-8E36-A3A799D117EE}"/>
              </a:ext>
            </a:extLst>
          </p:cNvPr>
          <p:cNvGraphicFramePr>
            <a:graphicFrameLocks noGrp="1"/>
          </p:cNvGraphicFramePr>
          <p:nvPr>
            <p:extLst>
              <p:ext uri="{D42A27DB-BD31-4B8C-83A1-F6EECF244321}">
                <p14:modId xmlns:p14="http://schemas.microsoft.com/office/powerpoint/2010/main" val="3160944017"/>
              </p:ext>
            </p:extLst>
          </p:nvPr>
        </p:nvGraphicFramePr>
        <p:xfrm>
          <a:off x="673100" y="2133600"/>
          <a:ext cx="10033000" cy="3556000"/>
        </p:xfrm>
        <a:graphic>
          <a:graphicData uri="http://schemas.openxmlformats.org/drawingml/2006/table">
            <a:tbl>
              <a:tblPr firstRow="1" bandRow="1">
                <a:tableStyleId>{5C22544A-7EE6-4342-B048-85BDC9FD1C3A}</a:tableStyleId>
              </a:tblPr>
              <a:tblGrid>
                <a:gridCol w="1811514">
                  <a:extLst>
                    <a:ext uri="{9D8B030D-6E8A-4147-A177-3AD203B41FA5}">
                      <a16:colId xmlns:a16="http://schemas.microsoft.com/office/drawing/2014/main" val="4176156712"/>
                    </a:ext>
                  </a:extLst>
                </a:gridCol>
                <a:gridCol w="3065639">
                  <a:extLst>
                    <a:ext uri="{9D8B030D-6E8A-4147-A177-3AD203B41FA5}">
                      <a16:colId xmlns:a16="http://schemas.microsoft.com/office/drawing/2014/main" val="3054206398"/>
                    </a:ext>
                  </a:extLst>
                </a:gridCol>
                <a:gridCol w="5155848">
                  <a:extLst>
                    <a:ext uri="{9D8B030D-6E8A-4147-A177-3AD203B41FA5}">
                      <a16:colId xmlns:a16="http://schemas.microsoft.com/office/drawing/2014/main" val="3525645391"/>
                    </a:ext>
                  </a:extLst>
                </a:gridCol>
              </a:tblGrid>
              <a:tr h="381000">
                <a:tc>
                  <a:txBody>
                    <a:bodyPr/>
                    <a:lstStyle/>
                    <a:p>
                      <a:r>
                        <a:rPr lang="en-US" sz="1800" b="1">
                          <a:solidFill>
                            <a:srgbClr val="FFFFFF"/>
                          </a:solidFill>
                          <a:latin typeface="Montserrat" pitchFamily="2" charset="0"/>
                        </a:rPr>
                        <a:t>Thành phần</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tc>
                  <a:txBody>
                    <a:bodyPr/>
                    <a:lstStyle/>
                    <a:p>
                      <a:r>
                        <a:rPr lang="en-US" sz="1800" b="1">
                          <a:solidFill>
                            <a:srgbClr val="FFFFFF"/>
                          </a:solidFill>
                          <a:latin typeface="Montserrat" pitchFamily="2" charset="0"/>
                        </a:rPr>
                        <a:t>Công cụ/công nghệ</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tc>
                  <a:txBody>
                    <a:bodyPr/>
                    <a:lstStyle/>
                    <a:p>
                      <a:r>
                        <a:rPr lang="en-US" sz="1800" b="1">
                          <a:solidFill>
                            <a:srgbClr val="FFFFFF"/>
                          </a:solidFill>
                          <a:latin typeface="Montserrat" pitchFamily="2" charset="0"/>
                        </a:rPr>
                        <a:t>Vai trò</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extLst>
                  <a:ext uri="{0D108BD9-81ED-4DB2-BD59-A6C34878D82A}">
                    <a16:rowId xmlns:a16="http://schemas.microsoft.com/office/drawing/2014/main" val="9028459"/>
                  </a:ext>
                </a:extLst>
              </a:tr>
              <a:tr h="381000">
                <a:tc>
                  <a:txBody>
                    <a:bodyPr/>
                    <a:lstStyle/>
                    <a:p>
                      <a:r>
                        <a:rPr lang="en-US" sz="1800" b="0">
                          <a:solidFill>
                            <a:srgbClr val="1F2328"/>
                          </a:solidFill>
                          <a:latin typeface="Montserrat" pitchFamily="2" charset="0"/>
                        </a:rPr>
                        <a:t>Firmware</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Montserrat" pitchFamily="2" charset="0"/>
                        </a:rPr>
                        <a:t>ESP32, C++, PlatformIO</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Montserrat" pitchFamily="2" charset="0"/>
                        </a:rPr>
                        <a:t>Đọc tín hiệu và xử lý quy tắc cục bộ</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2819360942"/>
                  </a:ext>
                </a:extLst>
              </a:tr>
              <a:tr h="381000">
                <a:tc>
                  <a:txBody>
                    <a:bodyPr/>
                    <a:lstStyle/>
                    <a:p>
                      <a:r>
                        <a:rPr lang="en-US" sz="1800" b="0">
                          <a:solidFill>
                            <a:srgbClr val="1F2328"/>
                          </a:solidFill>
                          <a:latin typeface="Montserrat" pitchFamily="2" charset="0"/>
                        </a:rPr>
                        <a:t>Mô phỏng</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Montserrat" pitchFamily="2" charset="0"/>
                        </a:rPr>
                        <a:t>Wokwi, script Node</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Montserrat" pitchFamily="2" charset="0"/>
                        </a:rPr>
                        <a:t>Thực thi ESP32 và tạo dữ liệu các khu</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extLst>
                  <a:ext uri="{0D108BD9-81ED-4DB2-BD59-A6C34878D82A}">
                    <a16:rowId xmlns:a16="http://schemas.microsoft.com/office/drawing/2014/main" val="3622829512"/>
                  </a:ext>
                </a:extLst>
              </a:tr>
              <a:tr h="381000">
                <a:tc>
                  <a:txBody>
                    <a:bodyPr/>
                    <a:lstStyle/>
                    <a:p>
                      <a:r>
                        <a:rPr lang="en-US" sz="1800" b="0">
                          <a:solidFill>
                            <a:srgbClr val="1F2328"/>
                          </a:solidFill>
                          <a:latin typeface="Montserrat" pitchFamily="2" charset="0"/>
                        </a:rPr>
                        <a:t>Truyền thông</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Montserrat" pitchFamily="2" charset="0"/>
                        </a:rPr>
                        <a:t>Mosquitto, MQTT/TLS</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Montserrat" pitchFamily="2" charset="0"/>
                        </a:rPr>
                        <a:t>Trao đổi telemetry, sự kiện và lệnh</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4022007210"/>
                  </a:ext>
                </a:extLst>
              </a:tr>
              <a:tr h="381000">
                <a:tc>
                  <a:txBody>
                    <a:bodyPr/>
                    <a:lstStyle/>
                    <a:p>
                      <a:r>
                        <a:rPr lang="en-US" sz="1800" b="0">
                          <a:solidFill>
                            <a:srgbClr val="1F2328"/>
                          </a:solidFill>
                          <a:latin typeface="Montserrat" pitchFamily="2" charset="0"/>
                        </a:rPr>
                        <a:t>Máy chủ</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Montserrat" pitchFamily="2" charset="0"/>
                        </a:rPr>
                        <a:t>Node.js</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vi-VN" sz="1800" b="0">
                          <a:solidFill>
                            <a:srgbClr val="1F2328"/>
                          </a:solidFill>
                          <a:latin typeface="Montserrat" pitchFamily="2" charset="0"/>
                        </a:rPr>
                        <a:t>API, lưu dữ liệu và WebSocket</a:t>
                      </a:r>
                      <a:endParaRPr lang="en-US" sz="1800" b="0">
                        <a:solidFill>
                          <a:srgbClr val="1F2328"/>
                        </a:solidFill>
                        <a:latin typeface="Montserrat" pitchFamily="2" charset="0"/>
                      </a:endParaRP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extLst>
                  <a:ext uri="{0D108BD9-81ED-4DB2-BD59-A6C34878D82A}">
                    <a16:rowId xmlns:a16="http://schemas.microsoft.com/office/drawing/2014/main" val="375909983"/>
                  </a:ext>
                </a:extLst>
              </a:tr>
              <a:tr h="381000">
                <a:tc>
                  <a:txBody>
                    <a:bodyPr/>
                    <a:lstStyle/>
                    <a:p>
                      <a:r>
                        <a:rPr lang="vi-VN" sz="1800" b="0">
                          <a:solidFill>
                            <a:srgbClr val="1F2328"/>
                          </a:solidFill>
                          <a:latin typeface="Montserrat" pitchFamily="2" charset="0"/>
                        </a:rPr>
                        <a:t>Cơ sở dữ liệu</a:t>
                      </a:r>
                      <a:endParaRPr lang="en-US" sz="1800" b="0">
                        <a:solidFill>
                          <a:srgbClr val="1F2328"/>
                        </a:solidFill>
                        <a:latin typeface="Montserrat" pitchFamily="2" charset="0"/>
                      </a:endParaRP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Montserrat" pitchFamily="2" charset="0"/>
                        </a:rPr>
                        <a:t>MySQL</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Montserrat" pitchFamily="2" charset="0"/>
                        </a:rPr>
                        <a:t>Dữ liệu vận hành và nghiệp vụ</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1203114570"/>
                  </a:ext>
                </a:extLst>
              </a:tr>
              <a:tr h="381000">
                <a:tc>
                  <a:txBody>
                    <a:bodyPr/>
                    <a:lstStyle/>
                    <a:p>
                      <a:r>
                        <a:rPr lang="en-US" sz="1800" b="0">
                          <a:solidFill>
                            <a:srgbClr val="1F2328"/>
                          </a:solidFill>
                          <a:latin typeface="Montserrat" pitchFamily="2" charset="0"/>
                        </a:rPr>
                        <a:t>Giao diện</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Montserrat" pitchFamily="2" charset="0"/>
                        </a:rPr>
                        <a:t>React, Vite</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Montserrat" pitchFamily="2" charset="0"/>
                        </a:rPr>
                        <a:t>Dashboard tiếng Việt, nền trắng</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extLst>
                  <a:ext uri="{0D108BD9-81ED-4DB2-BD59-A6C34878D82A}">
                    <a16:rowId xmlns:a16="http://schemas.microsoft.com/office/drawing/2014/main" val="3063360768"/>
                  </a:ext>
                </a:extLst>
              </a:tr>
            </a:tbl>
          </a:graphicData>
        </a:graphic>
      </p:graphicFrame>
      <p:pic>
        <p:nvPicPr>
          <p:cNvPr id="28" name="Picture" descr="Các thành phần được triển khai trong KhoGuard">
            <a:extLst>
              <a:ext uri="{FF2B5EF4-FFF2-40B4-BE49-F238E27FC236}">
                <a16:creationId xmlns:a16="http://schemas.microsoft.com/office/drawing/2014/main" id="{7DF83B2C-9E0C-8DC0-5D7D-11EECFD917F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87100" y="2133600"/>
            <a:ext cx="6527800" cy="5172026"/>
          </a:xfrm>
          <a:prstGeom prst="rect">
            <a:avLst/>
          </a:prstGeom>
          <a:ln w="9525">
            <a:solidFill>
              <a:srgbClr val="D0D5DA"/>
            </a:solidFill>
          </a:ln>
        </p:spPr>
      </p:pic>
      <p:sp>
        <p:nvSpPr>
          <p:cNvPr id="29" name="Slide Number">
            <a:extLst>
              <a:ext uri="{FF2B5EF4-FFF2-40B4-BE49-F238E27FC236}">
                <a16:creationId xmlns:a16="http://schemas.microsoft.com/office/drawing/2014/main" id="{C65EC5BC-B3BB-49F2-DD7A-A5FF65B0BD6B}"/>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16</a:t>
            </a:r>
          </a:p>
        </p:txBody>
      </p:sp>
    </p:spTree>
    <p:extLst>
      <p:ext uri="{BB962C8B-B14F-4D97-AF65-F5344CB8AC3E}">
        <p14:creationId xmlns:p14="http://schemas.microsoft.com/office/powerpoint/2010/main" val="764328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ED20F499-8125-1F7B-12AB-28ED21B181D7}"/>
              </a:ext>
            </a:extLst>
          </p:cNvPr>
          <p:cNvSpPr txBox="1"/>
          <p:nvPr/>
        </p:nvSpPr>
        <p:spPr>
          <a:xfrm>
            <a:off x="673100" y="1219200"/>
            <a:ext cx="16941800" cy="369332"/>
          </a:xfrm>
          <a:prstGeom prst="rect">
            <a:avLst/>
          </a:prstGeom>
          <a:noFill/>
        </p:spPr>
        <p:txBody>
          <a:bodyPr vert="horz" wrap="square" lIns="0" tIns="0" rIns="0" bIns="0" rtlCol="0">
            <a:noAutofit/>
          </a:bodyPr>
          <a:lstStyle/>
          <a:p>
            <a:r>
              <a:rPr lang="en-US" sz="3400" b="1">
                <a:solidFill>
                  <a:srgbClr val="0070C0"/>
                </a:solidFill>
                <a:latin typeface="Montserrat" pitchFamily="2" charset="0"/>
              </a:rPr>
              <a:t>Luồng dữ liệu và điều khiển</a:t>
            </a:r>
          </a:p>
        </p:txBody>
      </p:sp>
      <p:pic>
        <p:nvPicPr>
          <p:cNvPr id="27" name="Picture" descr="Luồng một yêu cầu điều khiển cửa và ACK">
            <a:extLst>
              <a:ext uri="{FF2B5EF4-FFF2-40B4-BE49-F238E27FC236}">
                <a16:creationId xmlns:a16="http://schemas.microsoft.com/office/drawing/2014/main" id="{A6A36982-8A99-B7D8-8C45-EA2F39AC75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70999" y="2133600"/>
            <a:ext cx="8055004" cy="7416800"/>
          </a:xfrm>
          <a:prstGeom prst="rect">
            <a:avLst/>
          </a:prstGeom>
          <a:ln w="9525">
            <a:solidFill>
              <a:srgbClr val="D0D5DA"/>
            </a:solidFill>
          </a:ln>
        </p:spPr>
      </p:pic>
      <p:sp>
        <p:nvSpPr>
          <p:cNvPr id="28" name="Panel">
            <a:extLst>
              <a:ext uri="{FF2B5EF4-FFF2-40B4-BE49-F238E27FC236}">
                <a16:creationId xmlns:a16="http://schemas.microsoft.com/office/drawing/2014/main" id="{2940DA5E-3C12-C901-4E51-77918A476876}"/>
              </a:ext>
            </a:extLst>
          </p:cNvPr>
          <p:cNvSpPr/>
          <p:nvPr/>
        </p:nvSpPr>
        <p:spPr>
          <a:xfrm>
            <a:off x="673100" y="2133599"/>
            <a:ext cx="8204200" cy="7416800"/>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ctr">
            <a:noAutofit/>
          </a:bodyPr>
          <a:lstStyle/>
          <a:p>
            <a:pPr>
              <a:lnSpc>
                <a:spcPct val="110000"/>
              </a:lnSpc>
              <a:spcAft>
                <a:spcPts val="1700"/>
              </a:spcAft>
            </a:pPr>
            <a:r>
              <a:rPr lang="vi-VN" sz="2000">
                <a:solidFill>
                  <a:srgbClr val="1F2328"/>
                </a:solidFill>
                <a:latin typeface="Montserrat" pitchFamily="2" charset="0"/>
              </a:rPr>
              <a:t>ESP32/script → MQTT/TLS → Mosquitto.</a:t>
            </a:r>
          </a:p>
          <a:p>
            <a:pPr>
              <a:lnSpc>
                <a:spcPct val="110000"/>
              </a:lnSpc>
              <a:spcAft>
                <a:spcPts val="1700"/>
              </a:spcAft>
            </a:pPr>
            <a:r>
              <a:rPr lang="vi-VN" sz="2000">
                <a:solidFill>
                  <a:srgbClr val="1F2328"/>
                </a:solidFill>
                <a:latin typeface="Montserrat" pitchFamily="2" charset="0"/>
              </a:rPr>
              <a:t>Backend kiểm tra hợp đồng dữ liệu và lưu vào MySQL.</a:t>
            </a:r>
          </a:p>
          <a:p>
            <a:pPr>
              <a:lnSpc>
                <a:spcPct val="110000"/>
              </a:lnSpc>
              <a:spcAft>
                <a:spcPts val="1700"/>
              </a:spcAft>
            </a:pPr>
            <a:r>
              <a:rPr lang="vi-VN" sz="2000">
                <a:solidFill>
                  <a:srgbClr val="1F2328"/>
                </a:solidFill>
                <a:latin typeface="Montserrat" pitchFamily="2" charset="0"/>
              </a:rPr>
              <a:t>REST lấy dữ liệu ban đầu; WebSocket cập nhật giao diện.</a:t>
            </a:r>
          </a:p>
          <a:p>
            <a:pPr>
              <a:lnSpc>
                <a:spcPct val="110000"/>
              </a:lnSpc>
              <a:spcAft>
                <a:spcPts val="1700"/>
              </a:spcAft>
            </a:pPr>
            <a:r>
              <a:rPr lang="vi-VN" sz="2000">
                <a:solidFill>
                  <a:srgbClr val="1F2328"/>
                </a:solidFill>
                <a:latin typeface="Montserrat" pitchFamily="2" charset="0"/>
              </a:rPr>
              <a:t>Lệnh cửa đi từ dashboard tới ESP32; thiết bị trả ACK áp dụng hoặc từ chối.</a:t>
            </a:r>
          </a:p>
          <a:p>
            <a:pPr>
              <a:lnSpc>
                <a:spcPct val="110000"/>
              </a:lnSpc>
              <a:spcAft>
                <a:spcPts val="1700"/>
              </a:spcAft>
            </a:pPr>
            <a:r>
              <a:rPr lang="vi-VN" sz="2000">
                <a:solidFill>
                  <a:srgbClr val="1F2328"/>
                </a:solidFill>
                <a:latin typeface="Montserrat" pitchFamily="2" charset="0"/>
              </a:rPr>
              <a:t>Giao diện cập nhật trạng thái cửa theo dữ liệu thiết bị.</a:t>
            </a:r>
            <a:endParaRPr lang="en-US" sz="2000">
              <a:solidFill>
                <a:srgbClr val="1F2328"/>
              </a:solidFill>
              <a:latin typeface="Montserrat" pitchFamily="2" charset="0"/>
            </a:endParaRPr>
          </a:p>
        </p:txBody>
      </p:sp>
      <p:sp>
        <p:nvSpPr>
          <p:cNvPr id="29" name="Slide Number">
            <a:extLst>
              <a:ext uri="{FF2B5EF4-FFF2-40B4-BE49-F238E27FC236}">
                <a16:creationId xmlns:a16="http://schemas.microsoft.com/office/drawing/2014/main" id="{DD4AC48C-5C85-47B2-61FC-DEA3B57D508D}"/>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17</a:t>
            </a:r>
          </a:p>
        </p:txBody>
      </p:sp>
    </p:spTree>
    <p:extLst>
      <p:ext uri="{BB962C8B-B14F-4D97-AF65-F5344CB8AC3E}">
        <p14:creationId xmlns:p14="http://schemas.microsoft.com/office/powerpoint/2010/main" val="2570713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8D3409F6-204A-FE7E-DECC-7BE0A5466AD1}"/>
              </a:ext>
            </a:extLst>
          </p:cNvPr>
          <p:cNvSpPr txBox="1"/>
          <p:nvPr/>
        </p:nvSpPr>
        <p:spPr>
          <a:xfrm>
            <a:off x="673100" y="1219200"/>
            <a:ext cx="16941800" cy="369332"/>
          </a:xfrm>
          <a:prstGeom prst="rect">
            <a:avLst/>
          </a:prstGeom>
          <a:noFill/>
        </p:spPr>
        <p:txBody>
          <a:bodyPr vert="horz" wrap="square" lIns="0" tIns="0" rIns="0" bIns="0" rtlCol="0">
            <a:noAutofit/>
          </a:bodyPr>
          <a:lstStyle/>
          <a:p>
            <a:r>
              <a:rPr lang="vi-VN" sz="3400" b="1">
                <a:solidFill>
                  <a:srgbClr val="0070C0"/>
                </a:solidFill>
                <a:latin typeface="Montserrat" pitchFamily="2" charset="0"/>
              </a:rPr>
              <a:t>MySQL lưu lịch sử và bảo vệ nghiệp vụ</a:t>
            </a:r>
            <a:endParaRPr lang="en-US" sz="3400" b="1">
              <a:solidFill>
                <a:srgbClr val="0070C0"/>
              </a:solidFill>
              <a:latin typeface="Montserrat" pitchFamily="2" charset="0"/>
            </a:endParaRPr>
          </a:p>
        </p:txBody>
      </p:sp>
      <p:sp>
        <p:nvSpPr>
          <p:cNvPr id="26" name="Panel">
            <a:extLst>
              <a:ext uri="{FF2B5EF4-FFF2-40B4-BE49-F238E27FC236}">
                <a16:creationId xmlns:a16="http://schemas.microsoft.com/office/drawing/2014/main" id="{27A9ABC5-D6BD-A355-471F-36B68F42232E}"/>
              </a:ext>
            </a:extLst>
          </p:cNvPr>
          <p:cNvSpPr/>
          <p:nvPr/>
        </p:nvSpPr>
        <p:spPr>
          <a:xfrm>
            <a:off x="673100" y="7191664"/>
            <a:ext cx="8318500" cy="2358736"/>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a:lnSpc>
                <a:spcPct val="110000"/>
              </a:lnSpc>
              <a:spcAft>
                <a:spcPts val="1600"/>
              </a:spcAft>
            </a:pPr>
            <a:r>
              <a:rPr lang="vi-VN" sz="1900">
                <a:solidFill>
                  <a:srgbClr val="1F2328"/>
                </a:solidFill>
                <a:latin typeface="Montserrat" pitchFamily="2" charset="0"/>
              </a:rPr>
              <a:t>Lưu cấu trúc kho, thiết bị, trạng thái hiện tại và lịch sử telemetry.</a:t>
            </a:r>
          </a:p>
          <a:p>
            <a:pPr>
              <a:lnSpc>
                <a:spcPct val="110000"/>
              </a:lnSpc>
              <a:spcAft>
                <a:spcPts val="1600"/>
              </a:spcAft>
            </a:pPr>
            <a:r>
              <a:rPr lang="vi-VN" sz="1900">
                <a:solidFill>
                  <a:srgbClr val="1F2328"/>
                </a:solidFill>
                <a:latin typeface="Montserrat" pitchFamily="2" charset="0"/>
              </a:rPr>
              <a:t>Ghi sự kiện RFID, cảnh báo và kết quả từng lệnh cửa.</a:t>
            </a:r>
          </a:p>
          <a:p>
            <a:pPr>
              <a:lnSpc>
                <a:spcPct val="110000"/>
              </a:lnSpc>
              <a:spcAft>
                <a:spcPts val="1600"/>
              </a:spcAft>
            </a:pPr>
            <a:r>
              <a:rPr lang="vi-VN" sz="1900">
                <a:solidFill>
                  <a:srgbClr val="1F2328"/>
                </a:solidFill>
                <a:latin typeface="Montserrat" pitchFamily="2" charset="0"/>
              </a:rPr>
              <a:t>Lưu tài khoản, phiên đăng nhập, ca ra/vào và giữ chỗ.</a:t>
            </a:r>
            <a:endParaRPr lang="en-US" sz="1900">
              <a:solidFill>
                <a:srgbClr val="1F2328"/>
              </a:solidFill>
              <a:latin typeface="Montserrat" pitchFamily="2" charset="0"/>
            </a:endParaRPr>
          </a:p>
        </p:txBody>
      </p:sp>
      <p:sp>
        <p:nvSpPr>
          <p:cNvPr id="27" name="Panel">
            <a:extLst>
              <a:ext uri="{FF2B5EF4-FFF2-40B4-BE49-F238E27FC236}">
                <a16:creationId xmlns:a16="http://schemas.microsoft.com/office/drawing/2014/main" id="{26F5B985-B542-CCF5-2BBA-658900D50EA8}"/>
              </a:ext>
            </a:extLst>
          </p:cNvPr>
          <p:cNvSpPr/>
          <p:nvPr/>
        </p:nvSpPr>
        <p:spPr>
          <a:xfrm>
            <a:off x="9296400" y="7191664"/>
            <a:ext cx="8318500" cy="2358736"/>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a:lnSpc>
                <a:spcPct val="110000"/>
              </a:lnSpc>
              <a:spcAft>
                <a:spcPts val="1600"/>
              </a:spcAft>
            </a:pPr>
            <a:r>
              <a:rPr lang="vi-VN" sz="1900">
                <a:solidFill>
                  <a:srgbClr val="1F2328"/>
                </a:solidFill>
                <a:latin typeface="Montserrat" pitchFamily="2" charset="0"/>
              </a:rPr>
              <a:t>Transaction và ràng buộc duy nhất ngăn lưu trùng, giữ trùng vị trí.</a:t>
            </a:r>
          </a:p>
          <a:p>
            <a:pPr>
              <a:lnSpc>
                <a:spcPct val="110000"/>
              </a:lnSpc>
              <a:spcAft>
                <a:spcPts val="1600"/>
              </a:spcAft>
            </a:pPr>
            <a:r>
              <a:rPr lang="vi-VN" sz="1900">
                <a:solidFill>
                  <a:srgbClr val="1F2328"/>
                </a:solidFill>
                <a:latin typeface="Montserrat" pitchFamily="2" charset="0"/>
              </a:rPr>
              <a:t>Dữ liệu còn sau khi tải lại trang hoặc khởi động lại backend.</a:t>
            </a:r>
            <a:endParaRPr lang="en-US" sz="1900">
              <a:solidFill>
                <a:srgbClr val="1F2328"/>
              </a:solidFill>
              <a:latin typeface="Montserrat" pitchFamily="2" charset="0"/>
            </a:endParaRPr>
          </a:p>
        </p:txBody>
      </p:sp>
      <p:pic>
        <p:nvPicPr>
          <p:cNvPr id="29" name="Picture" descr="Các nhóm bảng dữ liệu chính của KhoGuard">
            <a:extLst>
              <a:ext uri="{FF2B5EF4-FFF2-40B4-BE49-F238E27FC236}">
                <a16:creationId xmlns:a16="http://schemas.microsoft.com/office/drawing/2014/main" id="{14E97394-1A87-88A9-C1C1-AAB8C95AF40E}"/>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3428047" y="2133600"/>
            <a:ext cx="11431905" cy="4753264"/>
          </a:xfrm>
          <a:prstGeom prst="rect">
            <a:avLst/>
          </a:prstGeom>
        </p:spPr>
      </p:pic>
      <p:sp>
        <p:nvSpPr>
          <p:cNvPr id="30" name="Slide Number">
            <a:extLst>
              <a:ext uri="{FF2B5EF4-FFF2-40B4-BE49-F238E27FC236}">
                <a16:creationId xmlns:a16="http://schemas.microsoft.com/office/drawing/2014/main" id="{DE39261D-0557-4357-399A-D27DD7A08964}"/>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18</a:t>
            </a:r>
          </a:p>
        </p:txBody>
      </p:sp>
    </p:spTree>
    <p:extLst>
      <p:ext uri="{BB962C8B-B14F-4D97-AF65-F5344CB8AC3E}">
        <p14:creationId xmlns:p14="http://schemas.microsoft.com/office/powerpoint/2010/main" val="3145303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50F5BE2C-4469-589A-551A-E5C3B7D8740E}"/>
              </a:ext>
            </a:extLst>
          </p:cNvPr>
          <p:cNvSpPr txBox="1"/>
          <p:nvPr/>
        </p:nvSpPr>
        <p:spPr>
          <a:xfrm>
            <a:off x="673100" y="1219200"/>
            <a:ext cx="16941800" cy="369332"/>
          </a:xfrm>
          <a:prstGeom prst="rect">
            <a:avLst/>
          </a:prstGeom>
          <a:noFill/>
        </p:spPr>
        <p:txBody>
          <a:bodyPr vert="horz" wrap="square" lIns="0" tIns="0" rIns="0" bIns="0" rtlCol="0">
            <a:noAutofit/>
          </a:bodyPr>
          <a:lstStyle/>
          <a:p>
            <a:r>
              <a:rPr lang="en-US" sz="3400" b="1">
                <a:solidFill>
                  <a:srgbClr val="0070C0"/>
                </a:solidFill>
                <a:latin typeface="Montserrat" pitchFamily="2" charset="0"/>
              </a:rPr>
              <a:t>Dashboard giám sát toàn kho</a:t>
            </a:r>
          </a:p>
        </p:txBody>
      </p:sp>
      <p:pic>
        <p:nvPicPr>
          <p:cNvPr id="27" name="Picture" descr="Dashboard KhoGuard nền trắng">
            <a:extLst>
              <a:ext uri="{FF2B5EF4-FFF2-40B4-BE49-F238E27FC236}">
                <a16:creationId xmlns:a16="http://schemas.microsoft.com/office/drawing/2014/main" id="{345065B4-6396-4CCA-ABE3-BC3326604D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82100" y="2133600"/>
            <a:ext cx="8432800" cy="7195714"/>
          </a:xfrm>
          <a:prstGeom prst="rect">
            <a:avLst/>
          </a:prstGeom>
          <a:ln w="9525">
            <a:solidFill>
              <a:srgbClr val="D0D5DA"/>
            </a:solidFill>
          </a:ln>
        </p:spPr>
      </p:pic>
      <p:sp>
        <p:nvSpPr>
          <p:cNvPr id="28" name="Panel">
            <a:extLst>
              <a:ext uri="{FF2B5EF4-FFF2-40B4-BE49-F238E27FC236}">
                <a16:creationId xmlns:a16="http://schemas.microsoft.com/office/drawing/2014/main" id="{6D148FEA-924B-3951-AA63-9A3858AA5B15}"/>
              </a:ext>
            </a:extLst>
          </p:cNvPr>
          <p:cNvSpPr/>
          <p:nvPr/>
        </p:nvSpPr>
        <p:spPr>
          <a:xfrm>
            <a:off x="673100" y="2133599"/>
            <a:ext cx="8204200" cy="7195714"/>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ctr">
            <a:noAutofit/>
          </a:bodyPr>
          <a:lstStyle/>
          <a:p>
            <a:pPr>
              <a:lnSpc>
                <a:spcPct val="110000"/>
              </a:lnSpc>
              <a:spcAft>
                <a:spcPts val="1700"/>
              </a:spcAft>
            </a:pPr>
            <a:r>
              <a:rPr lang="vi-VN" sz="2000">
                <a:solidFill>
                  <a:srgbClr val="1F2328"/>
                </a:solidFill>
                <a:latin typeface="Montserrat" pitchFamily="2" charset="0"/>
              </a:rPr>
              <a:t>Các trang: Tổng quan, Sơ đồ kho, Giám sát cửa, Môi trường, Nhận hàng, Nhật ký.</a:t>
            </a:r>
          </a:p>
          <a:p>
            <a:pPr>
              <a:lnSpc>
                <a:spcPct val="110000"/>
              </a:lnSpc>
              <a:spcAft>
                <a:spcPts val="1700"/>
              </a:spcAft>
            </a:pPr>
            <a:r>
              <a:rPr lang="vi-VN" sz="2000">
                <a:solidFill>
                  <a:srgbClr val="1F2328"/>
                </a:solidFill>
                <a:latin typeface="Montserrat" pitchFamily="2" charset="0"/>
              </a:rPr>
              <a:t>Hiển thị vị trí, trạng thái cửa và các chỉ số theo khu vực.</a:t>
            </a:r>
          </a:p>
          <a:p>
            <a:pPr>
              <a:lnSpc>
                <a:spcPct val="110000"/>
              </a:lnSpc>
              <a:spcAft>
                <a:spcPts val="1700"/>
              </a:spcAft>
            </a:pPr>
            <a:r>
              <a:rPr lang="vi-VN" sz="2000">
                <a:solidFill>
                  <a:srgbClr val="1F2328"/>
                </a:solidFill>
                <a:latin typeface="Montserrat" pitchFamily="2" charset="0"/>
              </a:rPr>
              <a:t>Ghi rõ nguồn Wokwi/script và dữ liệu mới, cũ hoặc chưa rõ.</a:t>
            </a:r>
          </a:p>
          <a:p>
            <a:pPr>
              <a:lnSpc>
                <a:spcPct val="110000"/>
              </a:lnSpc>
              <a:spcAft>
                <a:spcPts val="1700"/>
              </a:spcAft>
            </a:pPr>
            <a:r>
              <a:rPr lang="vi-VN" sz="2000">
                <a:solidFill>
                  <a:srgbClr val="1F2328"/>
                </a:solidFill>
                <a:latin typeface="Montserrat" pitchFamily="2" charset="0"/>
              </a:rPr>
              <a:t>Điều khiển D07/D08 hiển thị trạng thái chờ, áp dụng, từ chối hoặc hết hạn.</a:t>
            </a:r>
          </a:p>
          <a:p>
            <a:pPr>
              <a:lnSpc>
                <a:spcPct val="110000"/>
              </a:lnSpc>
              <a:spcAft>
                <a:spcPts val="1700"/>
              </a:spcAft>
            </a:pPr>
            <a:r>
              <a:rPr lang="vi-VN" sz="2000">
                <a:solidFill>
                  <a:srgbClr val="1F2328"/>
                </a:solidFill>
                <a:latin typeface="Montserrat" pitchFamily="2" charset="0"/>
              </a:rPr>
              <a:t>Giao diện tiếng Việt, nền trắng, hỗ trợ màn hình nhỏ.</a:t>
            </a:r>
            <a:endParaRPr lang="en-US" sz="2000">
              <a:solidFill>
                <a:srgbClr val="1F2328"/>
              </a:solidFill>
              <a:latin typeface="Montserrat" pitchFamily="2" charset="0"/>
            </a:endParaRPr>
          </a:p>
        </p:txBody>
      </p:sp>
      <p:sp>
        <p:nvSpPr>
          <p:cNvPr id="29" name="Slide Number">
            <a:extLst>
              <a:ext uri="{FF2B5EF4-FFF2-40B4-BE49-F238E27FC236}">
                <a16:creationId xmlns:a16="http://schemas.microsoft.com/office/drawing/2014/main" id="{4B5E1866-269F-85D4-D41C-E73E62047983}"/>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19</a:t>
            </a:r>
          </a:p>
        </p:txBody>
      </p:sp>
    </p:spTree>
    <p:extLst>
      <p:ext uri="{BB962C8B-B14F-4D97-AF65-F5344CB8AC3E}">
        <p14:creationId xmlns:p14="http://schemas.microsoft.com/office/powerpoint/2010/main" val="16314299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07134D4D-C0F7-F5C1-BF2C-F8315CB81EF5}"/>
              </a:ext>
            </a:extLst>
          </p:cNvPr>
          <p:cNvSpPr txBox="1"/>
          <p:nvPr/>
        </p:nvSpPr>
        <p:spPr>
          <a:xfrm>
            <a:off x="673100" y="1219200"/>
            <a:ext cx="16941800" cy="369332"/>
          </a:xfrm>
          <a:prstGeom prst="rect">
            <a:avLst/>
          </a:prstGeom>
          <a:noFill/>
        </p:spPr>
        <p:txBody>
          <a:bodyPr vert="horz" wrap="square" lIns="0" tIns="0" rIns="0" bIns="0" rtlCol="0">
            <a:noAutofit/>
          </a:bodyPr>
          <a:lstStyle/>
          <a:p>
            <a:r>
              <a:rPr lang="en-US" sz="3400" b="1">
                <a:solidFill>
                  <a:srgbClr val="0070C0"/>
                </a:solidFill>
                <a:latin typeface="Montserrat" pitchFamily="2" charset="0"/>
              </a:rPr>
              <a:t>Phân quyền, lịch ca và bảo mật kết nối</a:t>
            </a:r>
          </a:p>
        </p:txBody>
      </p:sp>
      <p:pic>
        <p:nvPicPr>
          <p:cNvPr id="27" name="Picture" descr="Đối chiếu RFID với lịch ca và nhật ký ra vào">
            <a:extLst>
              <a:ext uri="{FF2B5EF4-FFF2-40B4-BE49-F238E27FC236}">
                <a16:creationId xmlns:a16="http://schemas.microsoft.com/office/drawing/2014/main" id="{2D70C104-1D86-D5A2-2FAD-B090ACA3D06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3100" y="2133600"/>
            <a:ext cx="8432800" cy="5856111"/>
          </a:xfrm>
          <a:prstGeom prst="rect">
            <a:avLst/>
          </a:prstGeom>
          <a:ln w="9525">
            <a:solidFill>
              <a:srgbClr val="D0D5DA"/>
            </a:solidFill>
          </a:ln>
        </p:spPr>
      </p:pic>
      <p:sp>
        <p:nvSpPr>
          <p:cNvPr id="28" name="Panel">
            <a:extLst>
              <a:ext uri="{FF2B5EF4-FFF2-40B4-BE49-F238E27FC236}">
                <a16:creationId xmlns:a16="http://schemas.microsoft.com/office/drawing/2014/main" id="{42544897-F0DA-76D0-2335-7D96182D2B4B}"/>
              </a:ext>
            </a:extLst>
          </p:cNvPr>
          <p:cNvSpPr/>
          <p:nvPr/>
        </p:nvSpPr>
        <p:spPr>
          <a:xfrm>
            <a:off x="9410700" y="2133600"/>
            <a:ext cx="8204200" cy="5856111"/>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ctr">
            <a:noAutofit/>
          </a:bodyPr>
          <a:lstStyle/>
          <a:p>
            <a:pPr>
              <a:lnSpc>
                <a:spcPct val="110000"/>
              </a:lnSpc>
              <a:spcAft>
                <a:spcPts val="1700"/>
              </a:spcAft>
            </a:pPr>
            <a:r>
              <a:rPr lang="vi-VN" sz="2000">
                <a:solidFill>
                  <a:srgbClr val="1F2328"/>
                </a:solidFill>
                <a:latin typeface="Montserrat" pitchFamily="2" charset="0"/>
              </a:rPr>
              <a:t>Viewer chỉ xem; operator vận hành; admin thêm quyền xem nhật ký đăng nhập.</a:t>
            </a:r>
          </a:p>
          <a:p>
            <a:pPr>
              <a:lnSpc>
                <a:spcPct val="110000"/>
              </a:lnSpc>
              <a:spcAft>
                <a:spcPts val="1700"/>
              </a:spcAft>
            </a:pPr>
            <a:r>
              <a:rPr lang="vi-VN" sz="2000">
                <a:solidFill>
                  <a:srgbClr val="1F2328"/>
                </a:solidFill>
                <a:latin typeface="Montserrat" pitchFamily="2" charset="0"/>
              </a:rPr>
              <a:t>RFID được đối chiếu lịch ca và lưu nhật ký ra/vào; lối ra không bị chặn theo ca.</a:t>
            </a:r>
          </a:p>
          <a:p>
            <a:pPr>
              <a:lnSpc>
                <a:spcPct val="110000"/>
              </a:lnSpc>
              <a:spcAft>
                <a:spcPts val="1700"/>
              </a:spcAft>
            </a:pPr>
            <a:r>
              <a:rPr lang="vi-VN" sz="2000">
                <a:solidFill>
                  <a:srgbClr val="1F2328"/>
                </a:solidFill>
                <a:latin typeface="Montserrat" pitchFamily="2" charset="0"/>
              </a:rPr>
              <a:t>Mỗi thiết bị có tài khoản MQTT và ACL giới hạn topic.</a:t>
            </a:r>
          </a:p>
          <a:p>
            <a:pPr>
              <a:lnSpc>
                <a:spcPct val="110000"/>
              </a:lnSpc>
              <a:spcAft>
                <a:spcPts val="1700"/>
              </a:spcAft>
            </a:pPr>
            <a:r>
              <a:rPr lang="vi-VN" sz="2000">
                <a:solidFill>
                  <a:srgbClr val="1F2328"/>
                </a:solidFill>
                <a:latin typeface="Montserrat" pitchFamily="2" charset="0"/>
              </a:rPr>
              <a:t>MQTT/TLS xác minh CA và hostname; bí mật nằm ngoài mã nguồn.</a:t>
            </a:r>
          </a:p>
          <a:p>
            <a:pPr>
              <a:lnSpc>
                <a:spcPct val="110000"/>
              </a:lnSpc>
              <a:spcAft>
                <a:spcPts val="1700"/>
              </a:spcAft>
            </a:pPr>
            <a:r>
              <a:rPr lang="vi-VN" sz="2000">
                <a:solidFill>
                  <a:srgbClr val="1F2328"/>
                </a:solidFill>
                <a:latin typeface="Montserrat" pitchFamily="2" charset="0"/>
              </a:rPr>
              <a:t>Bản demo chạy cục bộ; chưa cấu hình triển khai web ra Internet.</a:t>
            </a:r>
            <a:endParaRPr lang="en-US" sz="2000">
              <a:solidFill>
                <a:srgbClr val="1F2328"/>
              </a:solidFill>
              <a:latin typeface="Montserrat" pitchFamily="2" charset="0"/>
            </a:endParaRPr>
          </a:p>
        </p:txBody>
      </p:sp>
      <p:sp>
        <p:nvSpPr>
          <p:cNvPr id="29" name="Slide Number">
            <a:extLst>
              <a:ext uri="{FF2B5EF4-FFF2-40B4-BE49-F238E27FC236}">
                <a16:creationId xmlns:a16="http://schemas.microsoft.com/office/drawing/2014/main" id="{82ABD252-7E29-1851-3108-B01F4EC2D02C}"/>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20</a:t>
            </a:r>
          </a:p>
        </p:txBody>
      </p:sp>
    </p:spTree>
    <p:extLst>
      <p:ext uri="{BB962C8B-B14F-4D97-AF65-F5344CB8AC3E}">
        <p14:creationId xmlns:p14="http://schemas.microsoft.com/office/powerpoint/2010/main" val="29819442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62FF085E-ECE6-AB46-FABC-C5231753FD84}"/>
              </a:ext>
            </a:extLst>
          </p:cNvPr>
          <p:cNvSpPr txBox="1"/>
          <p:nvPr/>
        </p:nvSpPr>
        <p:spPr>
          <a:xfrm>
            <a:off x="673100" y="1219200"/>
            <a:ext cx="16941800" cy="369332"/>
          </a:xfrm>
          <a:prstGeom prst="rect">
            <a:avLst/>
          </a:prstGeom>
          <a:noFill/>
        </p:spPr>
        <p:txBody>
          <a:bodyPr vert="horz" wrap="square" lIns="0" tIns="0" rIns="0" bIns="0" rtlCol="0">
            <a:noAutofit/>
          </a:bodyPr>
          <a:lstStyle/>
          <a:p>
            <a:r>
              <a:rPr lang="en-US" sz="3400" b="1">
                <a:solidFill>
                  <a:srgbClr val="0070C0"/>
                </a:solidFill>
                <a:latin typeface="Montserrat" pitchFamily="2" charset="0"/>
              </a:rPr>
              <a:t>Nhật ký và báo cáo phục vụ truy vết</a:t>
            </a:r>
          </a:p>
        </p:txBody>
      </p:sp>
      <p:pic>
        <p:nvPicPr>
          <p:cNvPr id="27" name="Picture" descr="Bộ lọc lịch sử và chức năng xuất CSV">
            <a:extLst>
              <a:ext uri="{FF2B5EF4-FFF2-40B4-BE49-F238E27FC236}">
                <a16:creationId xmlns:a16="http://schemas.microsoft.com/office/drawing/2014/main" id="{D8A6FB86-1414-EA84-083B-0B4592DC477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82100" y="2133600"/>
            <a:ext cx="8432800" cy="6441722"/>
          </a:xfrm>
          <a:prstGeom prst="rect">
            <a:avLst/>
          </a:prstGeom>
          <a:ln w="9525">
            <a:solidFill>
              <a:srgbClr val="D0D5DA"/>
            </a:solidFill>
          </a:ln>
        </p:spPr>
      </p:pic>
      <p:sp>
        <p:nvSpPr>
          <p:cNvPr id="28" name="Panel">
            <a:extLst>
              <a:ext uri="{FF2B5EF4-FFF2-40B4-BE49-F238E27FC236}">
                <a16:creationId xmlns:a16="http://schemas.microsoft.com/office/drawing/2014/main" id="{6D887BBF-3B63-A4D6-359A-AAEA2B60E9F4}"/>
              </a:ext>
            </a:extLst>
          </p:cNvPr>
          <p:cNvSpPr/>
          <p:nvPr/>
        </p:nvSpPr>
        <p:spPr>
          <a:xfrm>
            <a:off x="673100" y="2133599"/>
            <a:ext cx="8204200" cy="6441722"/>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ctr">
            <a:noAutofit/>
          </a:bodyPr>
          <a:lstStyle/>
          <a:p>
            <a:pPr>
              <a:lnSpc>
                <a:spcPct val="110000"/>
              </a:lnSpc>
              <a:spcAft>
                <a:spcPts val="1700"/>
              </a:spcAft>
            </a:pPr>
            <a:r>
              <a:rPr lang="vi-VN" sz="2000">
                <a:solidFill>
                  <a:srgbClr val="1F2328"/>
                </a:solidFill>
                <a:latin typeface="Montserrat" pitchFamily="2" charset="0"/>
              </a:rPr>
              <a:t>Tra cứu sự kiện thiết bị, cảnh báo, lệnh cửa và giữ chỗ.</a:t>
            </a:r>
          </a:p>
          <a:p>
            <a:pPr>
              <a:lnSpc>
                <a:spcPct val="110000"/>
              </a:lnSpc>
              <a:spcAft>
                <a:spcPts val="1700"/>
              </a:spcAft>
            </a:pPr>
            <a:r>
              <a:rPr lang="vi-VN" sz="2000">
                <a:solidFill>
                  <a:srgbClr val="1F2328"/>
                </a:solidFill>
                <a:latin typeface="Montserrat" pitchFamily="2" charset="0"/>
              </a:rPr>
              <a:t>Lọc theo thời gian, khu vực và loại dữ liệu.</a:t>
            </a:r>
          </a:p>
          <a:p>
            <a:pPr>
              <a:lnSpc>
                <a:spcPct val="110000"/>
              </a:lnSpc>
              <a:spcAft>
                <a:spcPts val="1700"/>
              </a:spcAft>
            </a:pPr>
            <a:r>
              <a:rPr lang="vi-VN" sz="2000">
                <a:solidFill>
                  <a:srgbClr val="1F2328"/>
                </a:solidFill>
                <a:latin typeface="Montserrat" pitchFamily="2" charset="0"/>
              </a:rPr>
              <a:t>Phân biệt cảnh báo đã tiếp nhận với cảnh báo đã hết điều kiện.</a:t>
            </a:r>
          </a:p>
          <a:p>
            <a:pPr>
              <a:lnSpc>
                <a:spcPct val="110000"/>
              </a:lnSpc>
              <a:spcAft>
                <a:spcPts val="1700"/>
              </a:spcAft>
            </a:pPr>
            <a:r>
              <a:rPr lang="vi-VN" sz="2000">
                <a:solidFill>
                  <a:srgbClr val="1F2328"/>
                </a:solidFill>
                <a:latin typeface="Montserrat" pitchFamily="2" charset="0"/>
              </a:rPr>
              <a:t>Xuất CSV UTF-8, bảo vệ ô dữ liệu trước nội dung công thức.</a:t>
            </a:r>
            <a:endParaRPr lang="en-US" sz="2000">
              <a:solidFill>
                <a:srgbClr val="1F2328"/>
              </a:solidFill>
              <a:latin typeface="Montserrat" pitchFamily="2" charset="0"/>
            </a:endParaRPr>
          </a:p>
        </p:txBody>
      </p:sp>
      <p:sp>
        <p:nvSpPr>
          <p:cNvPr id="29" name="Slide Number">
            <a:extLst>
              <a:ext uri="{FF2B5EF4-FFF2-40B4-BE49-F238E27FC236}">
                <a16:creationId xmlns:a16="http://schemas.microsoft.com/office/drawing/2014/main" id="{CE7072B7-C06D-CB89-A972-50C5562D1531}"/>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21</a:t>
            </a:r>
          </a:p>
        </p:txBody>
      </p:sp>
    </p:spTree>
    <p:extLst>
      <p:ext uri="{BB962C8B-B14F-4D97-AF65-F5344CB8AC3E}">
        <p14:creationId xmlns:p14="http://schemas.microsoft.com/office/powerpoint/2010/main" val="1251815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grpSp>
        <p:nvGrpSpPr>
          <p:cNvPr id="6" name="Group 6"/>
          <p:cNvGrpSpPr/>
          <p:nvPr/>
        </p:nvGrpSpPr>
        <p:grpSpPr>
          <a:xfrm>
            <a:off x="2743238" y="10108759"/>
            <a:ext cx="15544724" cy="152705"/>
            <a:chOff x="0" y="0"/>
            <a:chExt cx="20726298" cy="203606"/>
          </a:xfrm>
        </p:grpSpPr>
        <p:sp>
          <p:nvSpPr>
            <p:cNvPr id="7" name="Freeform 7"/>
            <p:cNvSpPr/>
            <p:nvPr/>
          </p:nvSpPr>
          <p:spPr>
            <a:xfrm>
              <a:off x="0" y="0"/>
              <a:ext cx="20726273" cy="203581"/>
            </a:xfrm>
            <a:custGeom>
              <a:avLst/>
              <a:gdLst/>
              <a:ahLst/>
              <a:cxnLst/>
              <a:rect l="l" t="t" r="r" b="b"/>
              <a:pathLst>
                <a:path w="20726273" h="203581">
                  <a:moveTo>
                    <a:pt x="0" y="0"/>
                  </a:moveTo>
                  <a:lnTo>
                    <a:pt x="20726273" y="0"/>
                  </a:lnTo>
                  <a:lnTo>
                    <a:pt x="20726273" y="203581"/>
                  </a:lnTo>
                  <a:lnTo>
                    <a:pt x="0" y="203581"/>
                  </a:lnTo>
                  <a:lnTo>
                    <a:pt x="0" y="0"/>
                  </a:lnTo>
                  <a:close/>
                </a:path>
              </a:pathLst>
            </a:custGeom>
            <a:blipFill>
              <a:blip r:embed="rId3"/>
              <a:stretch>
                <a:fillRect b="-35745"/>
              </a:stretch>
            </a:blipFill>
          </p:spPr>
        </p:sp>
      </p:grpSp>
      <p:sp>
        <p:nvSpPr>
          <p:cNvPr id="8" name="TextBox 8"/>
          <p:cNvSpPr txBox="1"/>
          <p:nvPr/>
        </p:nvSpPr>
        <p:spPr>
          <a:xfrm>
            <a:off x="302009" y="10002231"/>
            <a:ext cx="2254501" cy="327536"/>
          </a:xfrm>
          <a:prstGeom prst="rect">
            <a:avLst/>
          </a:prstGeom>
        </p:spPr>
        <p:txBody>
          <a:bodyPr lIns="0" tIns="0" rIns="0" bIns="0" rtlCol="0" anchor="t">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grpSp>
        <p:nvGrpSpPr>
          <p:cNvPr id="9" name="Group 9"/>
          <p:cNvGrpSpPr/>
          <p:nvPr/>
        </p:nvGrpSpPr>
        <p:grpSpPr>
          <a:xfrm>
            <a:off x="-15240" y="7567612"/>
            <a:ext cx="18303240" cy="2514600"/>
            <a:chOff x="0" y="0"/>
            <a:chExt cx="24404320" cy="3352800"/>
          </a:xfrm>
        </p:grpSpPr>
        <p:sp>
          <p:nvSpPr>
            <p:cNvPr id="10" name="Freeform 10" descr="A building with trees in the background  Description automatically generated"/>
            <p:cNvSpPr/>
            <p:nvPr/>
          </p:nvSpPr>
          <p:spPr>
            <a:xfrm>
              <a:off x="0" y="0"/>
              <a:ext cx="24404320" cy="3352800"/>
            </a:xfrm>
            <a:custGeom>
              <a:avLst/>
              <a:gdLst/>
              <a:ahLst/>
              <a:cxnLst/>
              <a:rect l="l" t="t" r="r" b="b"/>
              <a:pathLst>
                <a:path w="24404320" h="3352800">
                  <a:moveTo>
                    <a:pt x="0" y="0"/>
                  </a:moveTo>
                  <a:lnTo>
                    <a:pt x="24404320" y="0"/>
                  </a:lnTo>
                  <a:lnTo>
                    <a:pt x="24404320" y="3352800"/>
                  </a:lnTo>
                  <a:lnTo>
                    <a:pt x="0" y="3352800"/>
                  </a:lnTo>
                  <a:lnTo>
                    <a:pt x="0" y="0"/>
                  </a:lnTo>
                  <a:close/>
                </a:path>
              </a:pathLst>
            </a:custGeom>
            <a:blipFill>
              <a:blip r:embed="rId4"/>
              <a:stretch>
                <a:fillRect t="-16633" b="-16633"/>
              </a:stretch>
            </a:blipFill>
          </p:spPr>
        </p:sp>
      </p:grpSp>
      <p:grpSp>
        <p:nvGrpSpPr>
          <p:cNvPr id="11" name="Group 11"/>
          <p:cNvGrpSpPr/>
          <p:nvPr/>
        </p:nvGrpSpPr>
        <p:grpSpPr>
          <a:xfrm>
            <a:off x="534200" y="27089"/>
            <a:ext cx="999001" cy="999001"/>
            <a:chOff x="0" y="0"/>
            <a:chExt cx="1332001" cy="1332001"/>
          </a:xfrm>
        </p:grpSpPr>
        <p:sp>
          <p:nvSpPr>
            <p:cNvPr id="12" name="Freeform 12" descr="A white circle with blue and red text and a book with a graduation cap  Description automatically generated"/>
            <p:cNvSpPr/>
            <p:nvPr/>
          </p:nvSpPr>
          <p:spPr>
            <a:xfrm>
              <a:off x="0" y="0"/>
              <a:ext cx="1331976" cy="1331976"/>
            </a:xfrm>
            <a:custGeom>
              <a:avLst/>
              <a:gdLst/>
              <a:ahLst/>
              <a:cxnLst/>
              <a:rect l="l" t="t" r="r" b="b"/>
              <a:pathLst>
                <a:path w="1331976" h="1331976">
                  <a:moveTo>
                    <a:pt x="0" y="0"/>
                  </a:moveTo>
                  <a:lnTo>
                    <a:pt x="1331976" y="0"/>
                  </a:lnTo>
                  <a:lnTo>
                    <a:pt x="1331976" y="1331976"/>
                  </a:lnTo>
                  <a:lnTo>
                    <a:pt x="0" y="1331976"/>
                  </a:lnTo>
                  <a:lnTo>
                    <a:pt x="0" y="0"/>
                  </a:lnTo>
                  <a:close/>
                </a:path>
              </a:pathLst>
            </a:custGeom>
            <a:blipFill>
              <a:blip r:embed="rId5"/>
              <a:stretch>
                <a:fillRect r="-1" b="-1"/>
              </a:stretch>
            </a:blipFill>
          </p:spPr>
        </p:sp>
      </p:grpSp>
      <p:sp>
        <p:nvSpPr>
          <p:cNvPr id="13" name="TextBox 13"/>
          <p:cNvSpPr txBox="1"/>
          <p:nvPr/>
        </p:nvSpPr>
        <p:spPr>
          <a:xfrm>
            <a:off x="3910012" y="74790"/>
            <a:ext cx="10452725" cy="897103"/>
          </a:xfrm>
          <a:prstGeom prst="rect">
            <a:avLst/>
          </a:prstGeom>
        </p:spPr>
        <p:txBody>
          <a:bodyPr lIns="0" tIns="0" rIns="0" bIns="0" rtlCol="0" anchor="t">
            <a:spAutoFit/>
          </a:bodyPr>
          <a:lstStyle/>
          <a:p>
            <a:pPr algn="ctr">
              <a:lnSpc>
                <a:spcPts val="3240"/>
              </a:lnSpc>
            </a:pPr>
            <a:r>
              <a:rPr lang="en-US" sz="2700">
                <a:solidFill>
                  <a:srgbClr val="FFFFFF"/>
                </a:solidFill>
                <a:latin typeface="Arial"/>
                <a:ea typeface="Arial"/>
                <a:cs typeface="Arial"/>
                <a:sym typeface="Arial"/>
              </a:rPr>
              <a:t>BỘ CÔNG THƯƠNG</a:t>
            </a:r>
          </a:p>
          <a:p>
            <a:pPr algn="ctr">
              <a:lnSpc>
                <a:spcPts val="3240"/>
              </a:lnSpc>
            </a:pPr>
            <a:r>
              <a:rPr lang="en-US" sz="2700" b="1">
                <a:solidFill>
                  <a:srgbClr val="FFFFFF"/>
                </a:solidFill>
                <a:latin typeface="Arial Bold"/>
                <a:ea typeface="Arial Bold"/>
                <a:cs typeface="Arial Bold"/>
                <a:sym typeface="Arial Bold"/>
              </a:rPr>
              <a:t>TRƯỜNG ĐẠI HỌC CÔNG THƯƠNG THÀNH PHỐ HỒ CHÍ MINH</a:t>
            </a:r>
          </a:p>
        </p:txBody>
      </p:sp>
      <p:sp>
        <p:nvSpPr>
          <p:cNvPr id="16" name="Title">
            <a:extLst>
              <a:ext uri="{FF2B5EF4-FFF2-40B4-BE49-F238E27FC236}">
                <a16:creationId xmlns:a16="http://schemas.microsoft.com/office/drawing/2014/main" id="{E2F7BB25-0ABA-FDFD-70E5-8065D00A0550}"/>
              </a:ext>
            </a:extLst>
          </p:cNvPr>
          <p:cNvSpPr txBox="1"/>
          <p:nvPr/>
        </p:nvSpPr>
        <p:spPr>
          <a:xfrm>
            <a:off x="1397000" y="3429000"/>
            <a:ext cx="15494000" cy="369332"/>
          </a:xfrm>
          <a:prstGeom prst="rect">
            <a:avLst/>
          </a:prstGeom>
          <a:noFill/>
        </p:spPr>
        <p:txBody>
          <a:bodyPr vert="horz" wrap="square" lIns="0" tIns="0" rIns="0" bIns="0" rtlCol="0" anchor="ctr">
            <a:noAutofit/>
          </a:bodyPr>
          <a:lstStyle/>
          <a:p>
            <a:pPr algn="ctr"/>
            <a:r>
              <a:rPr lang="en-US" sz="4400" b="1">
                <a:solidFill>
                  <a:srgbClr val="0070C0"/>
                </a:solidFill>
                <a:latin typeface="Montserrat" pitchFamily="2" charset="0"/>
              </a:rPr>
              <a:t>4. Demo và kết quả kiểm thử</a:t>
            </a:r>
          </a:p>
        </p:txBody>
      </p:sp>
      <p:sp>
        <p:nvSpPr>
          <p:cNvPr id="17" name="Slide Number">
            <a:extLst>
              <a:ext uri="{FF2B5EF4-FFF2-40B4-BE49-F238E27FC236}">
                <a16:creationId xmlns:a16="http://schemas.microsoft.com/office/drawing/2014/main" id="{1BD56ACD-3EB4-77D6-6A40-BEF9183A7464}"/>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1F2328"/>
                </a:solidFill>
                <a:latin typeface="Montserrat" pitchFamily="2" charset="0"/>
              </a:rPr>
              <a:t>22</a:t>
            </a:r>
          </a:p>
        </p:txBody>
      </p:sp>
    </p:spTree>
    <p:extLst>
      <p:ext uri="{BB962C8B-B14F-4D97-AF65-F5344CB8AC3E}">
        <p14:creationId xmlns:p14="http://schemas.microsoft.com/office/powerpoint/2010/main" val="23855971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4F3825AB-5D41-1CB1-61AF-A53D5055C028}"/>
              </a:ext>
            </a:extLst>
          </p:cNvPr>
          <p:cNvSpPr txBox="1"/>
          <p:nvPr/>
        </p:nvSpPr>
        <p:spPr>
          <a:xfrm>
            <a:off x="673100" y="1219200"/>
            <a:ext cx="16941800" cy="369332"/>
          </a:xfrm>
          <a:prstGeom prst="rect">
            <a:avLst/>
          </a:prstGeom>
          <a:noFill/>
        </p:spPr>
        <p:txBody>
          <a:bodyPr vert="horz" wrap="square" lIns="0" tIns="0" rIns="0" bIns="0" rtlCol="0">
            <a:noAutofit/>
          </a:bodyPr>
          <a:lstStyle/>
          <a:p>
            <a:r>
              <a:rPr lang="en-US" sz="3400" b="1">
                <a:solidFill>
                  <a:srgbClr val="0070C0"/>
                </a:solidFill>
                <a:latin typeface="Montserrat" pitchFamily="2" charset="0"/>
              </a:rPr>
              <a:t>Demo 1–2: Ra/vào hợp lệ và kiểm tra chéo hiện diện</a:t>
            </a:r>
          </a:p>
        </p:txBody>
      </p:sp>
      <p:graphicFrame>
        <p:nvGraphicFramePr>
          <p:cNvPr id="26" name="Table">
            <a:extLst>
              <a:ext uri="{FF2B5EF4-FFF2-40B4-BE49-F238E27FC236}">
                <a16:creationId xmlns:a16="http://schemas.microsoft.com/office/drawing/2014/main" id="{FF43E639-E01A-6F40-2117-8D428C4B383A}"/>
              </a:ext>
            </a:extLst>
          </p:cNvPr>
          <p:cNvGraphicFramePr>
            <a:graphicFrameLocks noGrp="1"/>
          </p:cNvGraphicFramePr>
          <p:nvPr>
            <p:extLst>
              <p:ext uri="{D42A27DB-BD31-4B8C-83A1-F6EECF244321}">
                <p14:modId xmlns:p14="http://schemas.microsoft.com/office/powerpoint/2010/main" val="3478476991"/>
              </p:ext>
            </p:extLst>
          </p:nvPr>
        </p:nvGraphicFramePr>
        <p:xfrm>
          <a:off x="673100" y="2133600"/>
          <a:ext cx="10033000" cy="2032000"/>
        </p:xfrm>
        <a:graphic>
          <a:graphicData uri="http://schemas.openxmlformats.org/drawingml/2006/table">
            <a:tbl>
              <a:tblPr firstRow="1" bandRow="1">
                <a:tableStyleId>{5C22544A-7EE6-4342-B048-85BDC9FD1C3A}</a:tableStyleId>
              </a:tblPr>
              <a:tblGrid>
                <a:gridCol w="2930989">
                  <a:extLst>
                    <a:ext uri="{9D8B030D-6E8A-4147-A177-3AD203B41FA5}">
                      <a16:colId xmlns:a16="http://schemas.microsoft.com/office/drawing/2014/main" val="927953166"/>
                    </a:ext>
                  </a:extLst>
                </a:gridCol>
                <a:gridCol w="3269180">
                  <a:extLst>
                    <a:ext uri="{9D8B030D-6E8A-4147-A177-3AD203B41FA5}">
                      <a16:colId xmlns:a16="http://schemas.microsoft.com/office/drawing/2014/main" val="2398075886"/>
                    </a:ext>
                  </a:extLst>
                </a:gridCol>
                <a:gridCol w="3832832">
                  <a:extLst>
                    <a:ext uri="{9D8B030D-6E8A-4147-A177-3AD203B41FA5}">
                      <a16:colId xmlns:a16="http://schemas.microsoft.com/office/drawing/2014/main" val="3533763506"/>
                    </a:ext>
                  </a:extLst>
                </a:gridCol>
              </a:tblGrid>
              <a:tr h="381000">
                <a:tc>
                  <a:txBody>
                    <a:bodyPr/>
                    <a:lstStyle/>
                    <a:p>
                      <a:r>
                        <a:rPr lang="en-US" sz="1800" b="1">
                          <a:solidFill>
                            <a:srgbClr val="FFFFFF"/>
                          </a:solidFill>
                          <a:latin typeface="Montserrat" pitchFamily="2" charset="0"/>
                        </a:rPr>
                        <a:t>Tình huống</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tc>
                  <a:txBody>
                    <a:bodyPr/>
                    <a:lstStyle/>
                    <a:p>
                      <a:r>
                        <a:rPr lang="en-US" sz="1800" b="1">
                          <a:solidFill>
                            <a:srgbClr val="FFFFFF"/>
                          </a:solidFill>
                          <a:latin typeface="Montserrat" pitchFamily="2" charset="0"/>
                        </a:rPr>
                        <a:t>Thao tác demo</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tc>
                  <a:txBody>
                    <a:bodyPr/>
                    <a:lstStyle/>
                    <a:p>
                      <a:r>
                        <a:rPr lang="en-US" sz="1800" b="1">
                          <a:solidFill>
                            <a:srgbClr val="FFFFFF"/>
                          </a:solidFill>
                          <a:latin typeface="Montserrat" pitchFamily="2" charset="0"/>
                        </a:rPr>
                        <a:t>Kết quả cần thấy</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extLst>
                  <a:ext uri="{0D108BD9-81ED-4DB2-BD59-A6C34878D82A}">
                    <a16:rowId xmlns:a16="http://schemas.microsoft.com/office/drawing/2014/main" val="3108455489"/>
                  </a:ext>
                </a:extLst>
              </a:tr>
              <a:tr h="381000">
                <a:tc>
                  <a:txBody>
                    <a:bodyPr/>
                    <a:lstStyle/>
                    <a:p>
                      <a:r>
                        <a:rPr lang="vi-VN" sz="1800" b="0">
                          <a:solidFill>
                            <a:srgbClr val="1F2328"/>
                          </a:solidFill>
                          <a:latin typeface="Montserrat" pitchFamily="2" charset="0"/>
                        </a:rPr>
                        <a:t>Người vào</a:t>
                      </a:r>
                      <a:endParaRPr lang="en-US" sz="1800" b="0">
                        <a:solidFill>
                          <a:srgbClr val="1F2328"/>
                        </a:solidFill>
                        <a:latin typeface="Montserrat" pitchFamily="2" charset="0"/>
                      </a:endParaRP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Montserrat" pitchFamily="2" charset="0"/>
                        </a:rPr>
                        <a:t>Quét </a:t>
                      </a:r>
                      <a:r>
                        <a:rPr lang="en-US" sz="1600" b="0">
                          <a:solidFill>
                            <a:srgbClr val="1F2328"/>
                          </a:solidFill>
                          <a:latin typeface="Consolas" panose="020B0609020204030204" pitchFamily="49" charset="0"/>
                        </a:rPr>
                        <a:t>DEMO-017 IN</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Montserrat" pitchFamily="2" charset="0"/>
                        </a:rPr>
                        <a:t>Count tăng 1; đóng bị từ chối</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1712205351"/>
                  </a:ext>
                </a:extLst>
              </a:tr>
              <a:tr h="381000">
                <a:tc>
                  <a:txBody>
                    <a:bodyPr/>
                    <a:lstStyle/>
                    <a:p>
                      <a:r>
                        <a:rPr lang="vi-VN" sz="1800" b="0">
                          <a:solidFill>
                            <a:srgbClr val="1F2328"/>
                          </a:solidFill>
                          <a:latin typeface="Montserrat" pitchFamily="2" charset="0"/>
                        </a:rPr>
                        <a:t>Người ra</a:t>
                      </a:r>
                      <a:endParaRPr lang="en-US" sz="1800" b="0">
                        <a:solidFill>
                          <a:srgbClr val="1F2328"/>
                        </a:solidFill>
                        <a:latin typeface="Montserrat" pitchFamily="2" charset="0"/>
                      </a:endParaRP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Montserrat" pitchFamily="2" charset="0"/>
                        </a:rPr>
                        <a:t>Quét OUT, presence/beam clear</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vi-VN" sz="1800" b="0">
                          <a:solidFill>
                            <a:srgbClr val="1F2328"/>
                          </a:solidFill>
                          <a:latin typeface="Montserrat" pitchFamily="2" charset="0"/>
                        </a:rPr>
                        <a:t>Count 0 xác minh; được phép đóng</a:t>
                      </a:r>
                      <a:endParaRPr lang="en-US" sz="1800" b="0">
                        <a:solidFill>
                          <a:srgbClr val="1F2328"/>
                        </a:solidFill>
                        <a:latin typeface="Montserrat" pitchFamily="2" charset="0"/>
                      </a:endParaRP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extLst>
                  <a:ext uri="{0D108BD9-81ED-4DB2-BD59-A6C34878D82A}">
                    <a16:rowId xmlns:a16="http://schemas.microsoft.com/office/drawing/2014/main" val="3092850101"/>
                  </a:ext>
                </a:extLst>
              </a:tr>
              <a:tr h="381000">
                <a:tc>
                  <a:txBody>
                    <a:bodyPr/>
                    <a:lstStyle/>
                    <a:p>
                      <a:r>
                        <a:rPr lang="en-US" sz="1800" b="0">
                          <a:solidFill>
                            <a:srgbClr val="1F2328"/>
                          </a:solidFill>
                          <a:latin typeface="Montserrat" pitchFamily="2" charset="0"/>
                        </a:rPr>
                        <a:t>Count 0 nhưng còn presence</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Montserrat" pitchFamily="2" charset="0"/>
                        </a:rPr>
                        <a:t>Bật công tắc presence</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Montserrat" pitchFamily="2" charset="0"/>
                        </a:rPr>
                        <a:t>Đóng bị từ chối; ghi nhận sai lệch</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2100059220"/>
                  </a:ext>
                </a:extLst>
              </a:tr>
            </a:tbl>
          </a:graphicData>
        </a:graphic>
      </p:graphicFrame>
      <p:pic>
        <p:nvPicPr>
          <p:cNvPr id="28" name="Picture" descr="Giao diện hiển thị kết quả từ chối lệnh">
            <a:extLst>
              <a:ext uri="{FF2B5EF4-FFF2-40B4-BE49-F238E27FC236}">
                <a16:creationId xmlns:a16="http://schemas.microsoft.com/office/drawing/2014/main" id="{CECFB8CA-9165-4EF7-151D-FEA31B3371B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87100" y="2133600"/>
            <a:ext cx="6527800" cy="4533194"/>
          </a:xfrm>
          <a:prstGeom prst="rect">
            <a:avLst/>
          </a:prstGeom>
          <a:ln w="9525">
            <a:solidFill>
              <a:srgbClr val="D0D5DA"/>
            </a:solidFill>
          </a:ln>
        </p:spPr>
      </p:pic>
      <p:sp>
        <p:nvSpPr>
          <p:cNvPr id="29" name="Slide Number">
            <a:extLst>
              <a:ext uri="{FF2B5EF4-FFF2-40B4-BE49-F238E27FC236}">
                <a16:creationId xmlns:a16="http://schemas.microsoft.com/office/drawing/2014/main" id="{839658B0-03EC-88DB-AAAD-A4CB27FCA2AD}"/>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23</a:t>
            </a:r>
          </a:p>
        </p:txBody>
      </p:sp>
    </p:spTree>
    <p:extLst>
      <p:ext uri="{BB962C8B-B14F-4D97-AF65-F5344CB8AC3E}">
        <p14:creationId xmlns:p14="http://schemas.microsoft.com/office/powerpoint/2010/main" val="18265044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E9739DE3-C066-3543-52E5-58FF0D5D6CEF}"/>
              </a:ext>
            </a:extLst>
          </p:cNvPr>
          <p:cNvSpPr txBox="1"/>
          <p:nvPr/>
        </p:nvSpPr>
        <p:spPr>
          <a:xfrm>
            <a:off x="673100" y="1219200"/>
            <a:ext cx="16941800" cy="369332"/>
          </a:xfrm>
          <a:prstGeom prst="rect">
            <a:avLst/>
          </a:prstGeom>
          <a:noFill/>
        </p:spPr>
        <p:txBody>
          <a:bodyPr vert="horz" wrap="square" lIns="0" tIns="0" rIns="0" bIns="0" rtlCol="0">
            <a:noAutofit/>
          </a:bodyPr>
          <a:lstStyle/>
          <a:p>
            <a:r>
              <a:rPr lang="en-US" sz="3400" b="1">
                <a:solidFill>
                  <a:srgbClr val="0070C0"/>
                </a:solidFill>
                <a:latin typeface="Montserrat" pitchFamily="2" charset="0"/>
              </a:rPr>
              <a:t>Demo 3–4: Panic và từ chối nhận hàng</a:t>
            </a:r>
          </a:p>
        </p:txBody>
      </p:sp>
      <p:sp>
        <p:nvSpPr>
          <p:cNvPr id="26" name="Panel">
            <a:extLst>
              <a:ext uri="{FF2B5EF4-FFF2-40B4-BE49-F238E27FC236}">
                <a16:creationId xmlns:a16="http://schemas.microsoft.com/office/drawing/2014/main" id="{97BD2D7D-CA0D-4795-4F7A-833C1778E7E3}"/>
              </a:ext>
            </a:extLst>
          </p:cNvPr>
          <p:cNvSpPr/>
          <p:nvPr/>
        </p:nvSpPr>
        <p:spPr>
          <a:xfrm>
            <a:off x="673100" y="2133600"/>
            <a:ext cx="8318500" cy="2147599"/>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a:lnSpc>
                <a:spcPct val="110000"/>
              </a:lnSpc>
              <a:spcAft>
                <a:spcPts val="1600"/>
              </a:spcAft>
            </a:pPr>
            <a:r>
              <a:rPr lang="en-US" sz="1900" b="1">
                <a:solidFill>
                  <a:srgbClr val="1F2328"/>
                </a:solidFill>
                <a:latin typeface="Montserrat" pitchFamily="2" charset="0"/>
              </a:rPr>
              <a:t>Panic:</a:t>
            </a:r>
            <a:r>
              <a:rPr lang="en-US" sz="1900">
                <a:solidFill>
                  <a:srgbClr val="1F2328"/>
                </a:solidFill>
                <a:latin typeface="Montserrat" pitchFamily="2" charset="0"/>
              </a:rPr>
              <a:t> nhấn nút → nhả khóa, yêu cầu mở cửa, bật cảnh báo.</a:t>
            </a:r>
          </a:p>
          <a:p>
            <a:pPr>
              <a:lnSpc>
                <a:spcPct val="110000"/>
              </a:lnSpc>
              <a:spcAft>
                <a:spcPts val="1600"/>
              </a:spcAft>
            </a:pPr>
            <a:r>
              <a:rPr lang="en-US" sz="1900" b="1">
                <a:solidFill>
                  <a:srgbClr val="1F2328"/>
                </a:solidFill>
                <a:latin typeface="Montserrat" pitchFamily="2" charset="0"/>
              </a:rPr>
              <a:t>Mất broker:</a:t>
            </a:r>
            <a:r>
              <a:rPr lang="en-US" sz="1900">
                <a:solidFill>
                  <a:srgbClr val="1F2328"/>
                </a:solidFill>
                <a:latin typeface="Montserrat" pitchFamily="2" charset="0"/>
              </a:rPr>
              <a:t> panic vẫn phản ứng tại ESP32; sự kiện gửi lại khi nối mạng.</a:t>
            </a:r>
          </a:p>
        </p:txBody>
      </p:sp>
      <p:sp>
        <p:nvSpPr>
          <p:cNvPr id="27" name="Panel">
            <a:extLst>
              <a:ext uri="{FF2B5EF4-FFF2-40B4-BE49-F238E27FC236}">
                <a16:creationId xmlns:a16="http://schemas.microsoft.com/office/drawing/2014/main" id="{6C20DD29-A820-58AB-608C-16035D376DA3}"/>
              </a:ext>
            </a:extLst>
          </p:cNvPr>
          <p:cNvSpPr/>
          <p:nvPr/>
        </p:nvSpPr>
        <p:spPr>
          <a:xfrm>
            <a:off x="9296400" y="2133600"/>
            <a:ext cx="8318500" cy="2147599"/>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a:lnSpc>
                <a:spcPct val="110000"/>
              </a:lnSpc>
              <a:spcAft>
                <a:spcPts val="1600"/>
              </a:spcAft>
            </a:pPr>
            <a:r>
              <a:rPr lang="vi-VN" sz="1900" b="1">
                <a:solidFill>
                  <a:srgbClr val="1F2328"/>
                </a:solidFill>
                <a:latin typeface="Montserrat" pitchFamily="2" charset="0"/>
              </a:rPr>
              <a:t>Nhận hàng:</a:t>
            </a:r>
            <a:r>
              <a:rPr lang="vi-VN" sz="1900">
                <a:solidFill>
                  <a:srgbClr val="1F2328"/>
                </a:solidFill>
                <a:latin typeface="Montserrat" pitchFamily="2" charset="0"/>
              </a:rPr>
              <a:t> yêu cầu giữ chỗ làm vượt ngưỡng sức chứa bị từ chối.</a:t>
            </a:r>
          </a:p>
          <a:p>
            <a:pPr>
              <a:lnSpc>
                <a:spcPct val="110000"/>
              </a:lnSpc>
              <a:spcAft>
                <a:spcPts val="1600"/>
              </a:spcAft>
            </a:pPr>
            <a:r>
              <a:rPr lang="vi-VN" sz="1900">
                <a:solidFill>
                  <a:srgbClr val="1F2328"/>
                </a:solidFill>
                <a:latin typeface="Montserrat" pitchFamily="2" charset="0"/>
              </a:rPr>
              <a:t>Không còn vị trí phù hợp nhiệt độ/kích thước/tải trọng cũng phải từ chối.</a:t>
            </a:r>
            <a:endParaRPr lang="en-US" sz="1900">
              <a:solidFill>
                <a:srgbClr val="1F2328"/>
              </a:solidFill>
              <a:latin typeface="Montserrat" pitchFamily="2" charset="0"/>
            </a:endParaRPr>
          </a:p>
        </p:txBody>
      </p:sp>
      <p:pic>
        <p:nvPicPr>
          <p:cNvPr id="29" name="Picture" descr="Phản ứng panic khi mất kết nối trung tâm">
            <a:extLst>
              <a:ext uri="{FF2B5EF4-FFF2-40B4-BE49-F238E27FC236}">
                <a16:creationId xmlns:a16="http://schemas.microsoft.com/office/drawing/2014/main" id="{B3A90A94-4682-75A0-B4E0-33FFED66DAD1}"/>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673100" y="5338828"/>
            <a:ext cx="8318500" cy="3458744"/>
          </a:xfrm>
          <a:prstGeom prst="rect">
            <a:avLst/>
          </a:prstGeom>
        </p:spPr>
      </p:pic>
      <p:pic>
        <p:nvPicPr>
          <p:cNvPr id="31" name="Picture" descr="Ví dụ từ chối vì không có vị trí phù hợp">
            <a:extLst>
              <a:ext uri="{FF2B5EF4-FFF2-40B4-BE49-F238E27FC236}">
                <a16:creationId xmlns:a16="http://schemas.microsoft.com/office/drawing/2014/main" id="{2B081A31-42A3-02B7-13AA-D47E33D8A60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881281" y="4585999"/>
            <a:ext cx="7148737" cy="4964401"/>
          </a:xfrm>
          <a:prstGeom prst="rect">
            <a:avLst/>
          </a:prstGeom>
          <a:ln w="9525">
            <a:solidFill>
              <a:srgbClr val="D0D5DA"/>
            </a:solidFill>
          </a:ln>
        </p:spPr>
      </p:pic>
      <p:sp>
        <p:nvSpPr>
          <p:cNvPr id="32" name="Slide Number">
            <a:extLst>
              <a:ext uri="{FF2B5EF4-FFF2-40B4-BE49-F238E27FC236}">
                <a16:creationId xmlns:a16="http://schemas.microsoft.com/office/drawing/2014/main" id="{935A9ABC-E269-07CB-082C-BBBB124C35CD}"/>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24</a:t>
            </a:r>
          </a:p>
        </p:txBody>
      </p:sp>
    </p:spTree>
    <p:extLst>
      <p:ext uri="{BB962C8B-B14F-4D97-AF65-F5344CB8AC3E}">
        <p14:creationId xmlns:p14="http://schemas.microsoft.com/office/powerpoint/2010/main" val="19611224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3DB5A72F-68E6-D1FD-E65B-7CEAC404264E}"/>
              </a:ext>
            </a:extLst>
          </p:cNvPr>
          <p:cNvSpPr txBox="1"/>
          <p:nvPr/>
        </p:nvSpPr>
        <p:spPr>
          <a:xfrm>
            <a:off x="673100" y="1219200"/>
            <a:ext cx="16941800" cy="369332"/>
          </a:xfrm>
          <a:prstGeom prst="rect">
            <a:avLst/>
          </a:prstGeom>
          <a:noFill/>
        </p:spPr>
        <p:txBody>
          <a:bodyPr vert="horz" wrap="square" lIns="0" tIns="0" rIns="0" bIns="0" rtlCol="0">
            <a:noAutofit/>
          </a:bodyPr>
          <a:lstStyle/>
          <a:p>
            <a:r>
              <a:rPr lang="vi-VN" sz="3400" b="1">
                <a:solidFill>
                  <a:srgbClr val="0070C0"/>
                </a:solidFill>
                <a:latin typeface="Montserrat" pitchFamily="2" charset="0"/>
              </a:rPr>
              <a:t>Tín hiệu chưa rõ và dữ liệu cũ phải chặn đóng</a:t>
            </a:r>
            <a:endParaRPr lang="en-US" sz="3400" b="1">
              <a:solidFill>
                <a:srgbClr val="0070C0"/>
              </a:solidFill>
              <a:latin typeface="Montserrat" pitchFamily="2" charset="0"/>
            </a:endParaRPr>
          </a:p>
        </p:txBody>
      </p:sp>
      <p:sp>
        <p:nvSpPr>
          <p:cNvPr id="26" name="Panel">
            <a:extLst>
              <a:ext uri="{FF2B5EF4-FFF2-40B4-BE49-F238E27FC236}">
                <a16:creationId xmlns:a16="http://schemas.microsoft.com/office/drawing/2014/main" id="{25AEB4A2-2B21-0A3E-2AF5-0D79366EF065}"/>
              </a:ext>
            </a:extLst>
          </p:cNvPr>
          <p:cNvSpPr/>
          <p:nvPr/>
        </p:nvSpPr>
        <p:spPr>
          <a:xfrm>
            <a:off x="673100" y="7402801"/>
            <a:ext cx="8318500" cy="2147599"/>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a:lnSpc>
                <a:spcPct val="110000"/>
              </a:lnSpc>
              <a:spcAft>
                <a:spcPts val="1600"/>
              </a:spcAft>
            </a:pPr>
            <a:r>
              <a:rPr lang="vi-VN" sz="1900">
                <a:solidFill>
                  <a:srgbClr val="1F2328"/>
                </a:solidFill>
                <a:latin typeface="Montserrat" pitchFamily="2" charset="0"/>
              </a:rPr>
              <a:t>Beam, presence hoặc contact chưa xác nhận: firmware từ chối đóng.</a:t>
            </a:r>
          </a:p>
          <a:p>
            <a:pPr>
              <a:lnSpc>
                <a:spcPct val="110000"/>
              </a:lnSpc>
              <a:spcAft>
                <a:spcPts val="1600"/>
              </a:spcAft>
            </a:pPr>
            <a:r>
              <a:rPr lang="vi-VN" sz="1900">
                <a:solidFill>
                  <a:srgbClr val="1F2328"/>
                </a:solidFill>
                <a:latin typeface="Montserrat" pitchFamily="2" charset="0"/>
              </a:rPr>
              <a:t>Mất dòng RFID làm count chưa xác minh: tiếp tục từ chối đóng.</a:t>
            </a:r>
            <a:endParaRPr lang="en-US" sz="1900">
              <a:solidFill>
                <a:srgbClr val="1F2328"/>
              </a:solidFill>
              <a:latin typeface="Montserrat" pitchFamily="2" charset="0"/>
            </a:endParaRPr>
          </a:p>
        </p:txBody>
      </p:sp>
      <p:sp>
        <p:nvSpPr>
          <p:cNvPr id="27" name="Panel">
            <a:extLst>
              <a:ext uri="{FF2B5EF4-FFF2-40B4-BE49-F238E27FC236}">
                <a16:creationId xmlns:a16="http://schemas.microsoft.com/office/drawing/2014/main" id="{1053DBFA-EBBF-0741-80B9-BC7A90F511A8}"/>
              </a:ext>
            </a:extLst>
          </p:cNvPr>
          <p:cNvSpPr/>
          <p:nvPr/>
        </p:nvSpPr>
        <p:spPr>
          <a:xfrm>
            <a:off x="9296400" y="7402801"/>
            <a:ext cx="8318500" cy="2147599"/>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a:lnSpc>
                <a:spcPct val="110000"/>
              </a:lnSpc>
              <a:spcAft>
                <a:spcPts val="1600"/>
              </a:spcAft>
            </a:pPr>
            <a:r>
              <a:rPr lang="vi-VN" sz="1900">
                <a:solidFill>
                  <a:srgbClr val="1F2328"/>
                </a:solidFill>
                <a:latin typeface="Montserrat" pitchFamily="2" charset="0"/>
              </a:rPr>
              <a:t>Telemetry quá cửa sổ 10 giây: backend trả </a:t>
            </a:r>
            <a:r>
              <a:rPr lang="vi-VN" sz="1700">
                <a:solidFill>
                  <a:srgbClr val="1F2328"/>
                </a:solidFill>
                <a:latin typeface="Consolas" panose="020B0609020204030204" pitchFamily="49" charset="0"/>
              </a:rPr>
              <a:t>409 DEVICE_NOT_LIVE</a:t>
            </a:r>
            <a:r>
              <a:rPr lang="vi-VN" sz="1900">
                <a:solidFill>
                  <a:srgbClr val="1F2328"/>
                </a:solidFill>
                <a:latin typeface="Montserrat" pitchFamily="2" charset="0"/>
              </a:rPr>
              <a:t>.</a:t>
            </a:r>
          </a:p>
          <a:p>
            <a:pPr>
              <a:lnSpc>
                <a:spcPct val="110000"/>
              </a:lnSpc>
              <a:spcAft>
                <a:spcPts val="1600"/>
              </a:spcAft>
            </a:pPr>
            <a:r>
              <a:rPr lang="vi-VN" sz="1900">
                <a:solidFill>
                  <a:srgbClr val="1F2328"/>
                </a:solidFill>
                <a:latin typeface="Montserrat" pitchFamily="2" charset="0"/>
              </a:rPr>
              <a:t>Ca stale không phát lệnh MQTT; thiết bị khác vẫn nhận dữ liệu bình thường.</a:t>
            </a:r>
            <a:endParaRPr lang="en-US" sz="1900">
              <a:solidFill>
                <a:srgbClr val="1F2328"/>
              </a:solidFill>
              <a:latin typeface="Montserrat" pitchFamily="2" charset="0"/>
            </a:endParaRPr>
          </a:p>
        </p:txBody>
      </p:sp>
      <p:pic>
        <p:nvPicPr>
          <p:cNvPr id="29" name="Picture" descr="Tín hiệu chưa rõ không được coi là điều kiện an toàn">
            <a:extLst>
              <a:ext uri="{FF2B5EF4-FFF2-40B4-BE49-F238E27FC236}">
                <a16:creationId xmlns:a16="http://schemas.microsoft.com/office/drawing/2014/main" id="{796C7C4E-3792-5A70-4B18-94FE77EB9C50}"/>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3174149" y="2133600"/>
            <a:ext cx="11939702" cy="4964401"/>
          </a:xfrm>
          <a:prstGeom prst="rect">
            <a:avLst/>
          </a:prstGeom>
        </p:spPr>
      </p:pic>
      <p:sp>
        <p:nvSpPr>
          <p:cNvPr id="30" name="Slide Number">
            <a:extLst>
              <a:ext uri="{FF2B5EF4-FFF2-40B4-BE49-F238E27FC236}">
                <a16:creationId xmlns:a16="http://schemas.microsoft.com/office/drawing/2014/main" id="{E46D2468-BBBA-1AD9-DA9E-515D7D6F458F}"/>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25</a:t>
            </a:r>
          </a:p>
        </p:txBody>
      </p:sp>
    </p:spTree>
    <p:extLst>
      <p:ext uri="{BB962C8B-B14F-4D97-AF65-F5344CB8AC3E}">
        <p14:creationId xmlns:p14="http://schemas.microsoft.com/office/powerpoint/2010/main" val="24000149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6E7A48D5-5921-F537-A716-0CA2E42B1EA9}"/>
              </a:ext>
            </a:extLst>
          </p:cNvPr>
          <p:cNvSpPr txBox="1"/>
          <p:nvPr/>
        </p:nvSpPr>
        <p:spPr>
          <a:xfrm>
            <a:off x="673100" y="1219200"/>
            <a:ext cx="16941800" cy="369332"/>
          </a:xfrm>
          <a:prstGeom prst="rect">
            <a:avLst/>
          </a:prstGeom>
          <a:noFill/>
        </p:spPr>
        <p:txBody>
          <a:bodyPr vert="horz" wrap="square" lIns="0" tIns="0" rIns="0" bIns="0" rtlCol="0">
            <a:noAutofit/>
          </a:bodyPr>
          <a:lstStyle/>
          <a:p>
            <a:r>
              <a:rPr lang="en-US" sz="3400" b="1">
                <a:solidFill>
                  <a:srgbClr val="0070C0"/>
                </a:solidFill>
                <a:latin typeface="Montserrat" pitchFamily="2" charset="0"/>
              </a:rPr>
              <a:t>Nghiệm thu reboot và chứng chỉ sai</a:t>
            </a:r>
          </a:p>
        </p:txBody>
      </p:sp>
      <p:sp>
        <p:nvSpPr>
          <p:cNvPr id="26" name="Panel">
            <a:extLst>
              <a:ext uri="{FF2B5EF4-FFF2-40B4-BE49-F238E27FC236}">
                <a16:creationId xmlns:a16="http://schemas.microsoft.com/office/drawing/2014/main" id="{0533F787-5F82-BBE7-AE84-5FE4B42216E3}"/>
              </a:ext>
            </a:extLst>
          </p:cNvPr>
          <p:cNvSpPr/>
          <p:nvPr/>
        </p:nvSpPr>
        <p:spPr>
          <a:xfrm>
            <a:off x="673100" y="7733759"/>
            <a:ext cx="8318500" cy="1816641"/>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a:lnSpc>
                <a:spcPct val="110000"/>
              </a:lnSpc>
              <a:spcAft>
                <a:spcPts val="1600"/>
              </a:spcAft>
            </a:pPr>
            <a:r>
              <a:rPr lang="vi-VN" sz="1900">
                <a:solidFill>
                  <a:srgbClr val="1F2328"/>
                </a:solidFill>
                <a:latin typeface="Montserrat" pitchFamily="2" charset="0"/>
              </a:rPr>
              <a:t>Reboot thật bằng </a:t>
            </a:r>
            <a:r>
              <a:rPr lang="vi-VN" sz="1700">
                <a:solidFill>
                  <a:srgbClr val="1F2328"/>
                </a:solidFill>
                <a:latin typeface="Consolas" panose="020B0609020204030204" pitchFamily="49" charset="0"/>
              </a:rPr>
              <a:t>ESP.restart()</a:t>
            </a:r>
            <a:r>
              <a:rPr lang="vi-VN" sz="1900">
                <a:solidFill>
                  <a:srgbClr val="1F2328"/>
                </a:solidFill>
                <a:latin typeface="Montserrat" pitchFamily="2" charset="0"/>
              </a:rPr>
              <a:t>: boot ID đổi, count trở về chưa xác minh.</a:t>
            </a:r>
          </a:p>
          <a:p>
            <a:pPr>
              <a:lnSpc>
                <a:spcPct val="110000"/>
              </a:lnSpc>
              <a:spcAft>
                <a:spcPts val="1600"/>
              </a:spcAft>
            </a:pPr>
            <a:r>
              <a:rPr lang="vi-VN" sz="1900">
                <a:solidFill>
                  <a:srgbClr val="1F2328"/>
                </a:solidFill>
                <a:latin typeface="Montserrat" pitchFamily="2" charset="0"/>
              </a:rPr>
              <a:t>Presence còn người sau reboot: lệnh đóng nhận </a:t>
            </a:r>
            <a:r>
              <a:rPr lang="vi-VN" sz="1700">
                <a:solidFill>
                  <a:srgbClr val="1F2328"/>
                </a:solidFill>
                <a:latin typeface="Consolas" panose="020B0609020204030204" pitchFamily="49" charset="0"/>
              </a:rPr>
              <a:t>INPUT_UNKNOWN</a:t>
            </a:r>
            <a:r>
              <a:rPr lang="vi-VN" sz="1900">
                <a:solidFill>
                  <a:srgbClr val="1F2328"/>
                </a:solidFill>
                <a:latin typeface="Montserrat" pitchFamily="2" charset="0"/>
              </a:rPr>
              <a:t>.</a:t>
            </a:r>
            <a:endParaRPr lang="en-US" sz="1900">
              <a:solidFill>
                <a:srgbClr val="1F2328"/>
              </a:solidFill>
              <a:latin typeface="Montserrat" pitchFamily="2" charset="0"/>
            </a:endParaRPr>
          </a:p>
        </p:txBody>
      </p:sp>
      <p:sp>
        <p:nvSpPr>
          <p:cNvPr id="27" name="Panel">
            <a:extLst>
              <a:ext uri="{FF2B5EF4-FFF2-40B4-BE49-F238E27FC236}">
                <a16:creationId xmlns:a16="http://schemas.microsoft.com/office/drawing/2014/main" id="{143A72ED-8914-5211-22A2-95D54609BF49}"/>
              </a:ext>
            </a:extLst>
          </p:cNvPr>
          <p:cNvSpPr/>
          <p:nvPr/>
        </p:nvSpPr>
        <p:spPr>
          <a:xfrm>
            <a:off x="9296400" y="7733759"/>
            <a:ext cx="8318500" cy="1816641"/>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a:lnSpc>
                <a:spcPct val="110000"/>
              </a:lnSpc>
              <a:spcAft>
                <a:spcPts val="1600"/>
              </a:spcAft>
            </a:pPr>
            <a:r>
              <a:rPr lang="vi-VN" sz="1900">
                <a:solidFill>
                  <a:srgbClr val="1F2328"/>
                </a:solidFill>
                <a:latin typeface="Montserrat" pitchFamily="2" charset="0"/>
              </a:rPr>
              <a:t>CA sai và hostname sai: chính ESP32 từ chối xác minh TLS.</a:t>
            </a:r>
          </a:p>
          <a:p>
            <a:pPr>
              <a:lnSpc>
                <a:spcPct val="110000"/>
              </a:lnSpc>
              <a:spcAft>
                <a:spcPts val="1600"/>
              </a:spcAft>
            </a:pPr>
            <a:r>
              <a:rPr lang="vi-VN" sz="1900">
                <a:solidFill>
                  <a:srgbClr val="1F2328"/>
                </a:solidFill>
                <a:latin typeface="Montserrat" pitchFamily="2" charset="0"/>
              </a:rPr>
              <a:t>Boot bị từ chối không phát telemetry; nạp cấu hình đúng kết nối lại được.</a:t>
            </a:r>
            <a:endParaRPr lang="en-US" sz="1900">
              <a:solidFill>
                <a:srgbClr val="1F2328"/>
              </a:solidFill>
              <a:latin typeface="Montserrat" pitchFamily="2" charset="0"/>
            </a:endParaRPr>
          </a:p>
        </p:txBody>
      </p:sp>
      <p:pic>
        <p:nvPicPr>
          <p:cNvPr id="29" name="Picture" descr="Kết quả nghiệm thu reboot và xác minh TLS trên ESP32">
            <a:extLst>
              <a:ext uri="{FF2B5EF4-FFF2-40B4-BE49-F238E27FC236}">
                <a16:creationId xmlns:a16="http://schemas.microsoft.com/office/drawing/2014/main" id="{3FF93420-FBED-F1CF-DB78-C2A58CDEC5E7}"/>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2776161" y="2133600"/>
            <a:ext cx="12735678" cy="5295359"/>
          </a:xfrm>
          <a:prstGeom prst="rect">
            <a:avLst/>
          </a:prstGeom>
        </p:spPr>
      </p:pic>
      <p:sp>
        <p:nvSpPr>
          <p:cNvPr id="30" name="Slide Number">
            <a:extLst>
              <a:ext uri="{FF2B5EF4-FFF2-40B4-BE49-F238E27FC236}">
                <a16:creationId xmlns:a16="http://schemas.microsoft.com/office/drawing/2014/main" id="{6BAD8A51-33B1-BCFF-F810-A1A12BC0527F}"/>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26</a:t>
            </a:r>
          </a:p>
        </p:txBody>
      </p:sp>
    </p:spTree>
    <p:extLst>
      <p:ext uri="{BB962C8B-B14F-4D97-AF65-F5344CB8AC3E}">
        <p14:creationId xmlns:p14="http://schemas.microsoft.com/office/powerpoint/2010/main" val="36908603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16BC56D9-22D7-D4BF-B594-EB3238392B63}"/>
              </a:ext>
            </a:extLst>
          </p:cNvPr>
          <p:cNvSpPr txBox="1"/>
          <p:nvPr/>
        </p:nvSpPr>
        <p:spPr>
          <a:xfrm>
            <a:off x="673100" y="1219200"/>
            <a:ext cx="16941800" cy="369332"/>
          </a:xfrm>
          <a:prstGeom prst="rect">
            <a:avLst/>
          </a:prstGeom>
          <a:noFill/>
        </p:spPr>
        <p:txBody>
          <a:bodyPr vert="horz" wrap="square" lIns="0" tIns="0" rIns="0" bIns="0" rtlCol="0">
            <a:noAutofit/>
          </a:bodyPr>
          <a:lstStyle/>
          <a:p>
            <a:r>
              <a:rPr lang="en-US" sz="3400" b="1">
                <a:solidFill>
                  <a:srgbClr val="0070C0"/>
                </a:solidFill>
                <a:latin typeface="Montserrat" pitchFamily="2" charset="0"/>
              </a:rPr>
              <a:t>Kết quả kiểm thử chức năng và tải</a:t>
            </a:r>
          </a:p>
        </p:txBody>
      </p:sp>
      <p:graphicFrame>
        <p:nvGraphicFramePr>
          <p:cNvPr id="26" name="Table">
            <a:extLst>
              <a:ext uri="{FF2B5EF4-FFF2-40B4-BE49-F238E27FC236}">
                <a16:creationId xmlns:a16="http://schemas.microsoft.com/office/drawing/2014/main" id="{25EA8B4C-9A4E-1126-6E43-4899EE1B2561}"/>
              </a:ext>
            </a:extLst>
          </p:cNvPr>
          <p:cNvGraphicFramePr>
            <a:graphicFrameLocks noGrp="1"/>
          </p:cNvGraphicFramePr>
          <p:nvPr>
            <p:extLst>
              <p:ext uri="{D42A27DB-BD31-4B8C-83A1-F6EECF244321}">
                <p14:modId xmlns:p14="http://schemas.microsoft.com/office/powerpoint/2010/main" val="748803343"/>
              </p:ext>
            </p:extLst>
          </p:nvPr>
        </p:nvGraphicFramePr>
        <p:xfrm>
          <a:off x="673100" y="2133600"/>
          <a:ext cx="16941800" cy="3048000"/>
        </p:xfrm>
        <a:graphic>
          <a:graphicData uri="http://schemas.openxmlformats.org/drawingml/2006/table">
            <a:tbl>
              <a:tblPr firstRow="1" bandRow="1">
                <a:tableStyleId>{5C22544A-7EE6-4342-B048-85BDC9FD1C3A}</a:tableStyleId>
              </a:tblPr>
              <a:tblGrid>
                <a:gridCol w="11294533">
                  <a:extLst>
                    <a:ext uri="{9D8B030D-6E8A-4147-A177-3AD203B41FA5}">
                      <a16:colId xmlns:a16="http://schemas.microsoft.com/office/drawing/2014/main" val="174714"/>
                    </a:ext>
                  </a:extLst>
                </a:gridCol>
                <a:gridCol w="5647267">
                  <a:extLst>
                    <a:ext uri="{9D8B030D-6E8A-4147-A177-3AD203B41FA5}">
                      <a16:colId xmlns:a16="http://schemas.microsoft.com/office/drawing/2014/main" val="1134376"/>
                    </a:ext>
                  </a:extLst>
                </a:gridCol>
              </a:tblGrid>
              <a:tr h="381000">
                <a:tc>
                  <a:txBody>
                    <a:bodyPr/>
                    <a:lstStyle/>
                    <a:p>
                      <a:r>
                        <a:rPr lang="en-US" sz="1800" b="1">
                          <a:solidFill>
                            <a:srgbClr val="FFFFFF"/>
                          </a:solidFill>
                          <a:latin typeface="Montserrat" pitchFamily="2" charset="0"/>
                        </a:rPr>
                        <a:t>Nội dung kiểm tra</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tc>
                  <a:txBody>
                    <a:bodyPr/>
                    <a:lstStyle/>
                    <a:p>
                      <a:r>
                        <a:rPr lang="en-US" sz="1800" b="1">
                          <a:solidFill>
                            <a:srgbClr val="FFFFFF"/>
                          </a:solidFill>
                          <a:latin typeface="Montserrat" pitchFamily="2" charset="0"/>
                        </a:rPr>
                        <a:t>Kết quả ghi nhận</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extLst>
                  <a:ext uri="{0D108BD9-81ED-4DB2-BD59-A6C34878D82A}">
                    <a16:rowId xmlns:a16="http://schemas.microsoft.com/office/drawing/2014/main" val="3118764040"/>
                  </a:ext>
                </a:extLst>
              </a:tr>
              <a:tr h="381000">
                <a:tc>
                  <a:txBody>
                    <a:bodyPr/>
                    <a:lstStyle/>
                    <a:p>
                      <a:r>
                        <a:rPr lang="fr-FR" sz="1800" b="0">
                          <a:solidFill>
                            <a:srgbClr val="1F2328"/>
                          </a:solidFill>
                          <a:latin typeface="Montserrat" pitchFamily="2" charset="0"/>
                        </a:rPr>
                        <a:t>Unit JavaScript sau sửa lỗi</a:t>
                      </a:r>
                      <a:endParaRPr lang="en-US" sz="1800" b="0">
                        <a:solidFill>
                          <a:srgbClr val="1F2328"/>
                        </a:solidFill>
                        <a:latin typeface="Montserrat" pitchFamily="2" charset="0"/>
                      </a:endParaRP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Montserrat" pitchFamily="2" charset="0"/>
                        </a:rPr>
                        <a:t>109/109 đạt, 0 bỏ qua</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2631304136"/>
                  </a:ext>
                </a:extLst>
              </a:tr>
              <a:tr h="381000">
                <a:tc>
                  <a:txBody>
                    <a:bodyPr/>
                    <a:lstStyle/>
                    <a:p>
                      <a:r>
                        <a:rPr lang="en-US" sz="1800" b="0">
                          <a:solidFill>
                            <a:srgbClr val="1F2328"/>
                          </a:solidFill>
                          <a:latin typeface="Montserrat" pitchFamily="2" charset="0"/>
                        </a:rPr>
                        <a:t>Wokwi bổ sung unknown/stale, reboot, TLS và phục hồi</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Montserrat" pitchFamily="2" charset="0"/>
                        </a:rPr>
                        <a:t>9/9 nhóm đạt</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extLst>
                  <a:ext uri="{0D108BD9-81ED-4DB2-BD59-A6C34878D82A}">
                    <a16:rowId xmlns:a16="http://schemas.microsoft.com/office/drawing/2014/main" val="1233628565"/>
                  </a:ext>
                </a:extLst>
              </a:tr>
              <a:tr h="381000">
                <a:tc>
                  <a:txBody>
                    <a:bodyPr/>
                    <a:lstStyle/>
                    <a:p>
                      <a:r>
                        <a:rPr lang="en-US" sz="1800" b="0">
                          <a:solidFill>
                            <a:srgbClr val="1F2328"/>
                          </a:solidFill>
                          <a:latin typeface="Montserrat" pitchFamily="2" charset="0"/>
                        </a:rPr>
                        <a:t>Hai bộ test C++ chạy riêng qua WSL</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Montserrat" pitchFamily="2" charset="0"/>
                        </a:rPr>
                        <a:t>Đạt</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3363951881"/>
                  </a:ext>
                </a:extLst>
              </a:tr>
              <a:tr h="381000">
                <a:tc>
                  <a:txBody>
                    <a:bodyPr/>
                    <a:lstStyle/>
                    <a:p>
                      <a:r>
                        <a:rPr lang="en-US" sz="1800" b="0">
                          <a:solidFill>
                            <a:srgbClr val="1F2328"/>
                          </a:solidFill>
                          <a:latin typeface="Montserrat" pitchFamily="2" charset="0"/>
                        </a:rPr>
                        <a:t>Tải 50 nguồn ảo, 5 danh tính thiết bị</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vi-VN" sz="1800" b="0">
                          <a:solidFill>
                            <a:srgbClr val="1F2328"/>
                          </a:solidFill>
                          <a:latin typeface="Montserrat" pitchFamily="2" charset="0"/>
                        </a:rPr>
                        <a:t>Lưu 2.000/2.000 bản tin</a:t>
                      </a:r>
                      <a:endParaRPr lang="en-US" sz="1800" b="0">
                        <a:solidFill>
                          <a:srgbClr val="1F2328"/>
                        </a:solidFill>
                        <a:latin typeface="Montserrat" pitchFamily="2" charset="0"/>
                      </a:endParaRP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extLst>
                  <a:ext uri="{0D108BD9-81ED-4DB2-BD59-A6C34878D82A}">
                    <a16:rowId xmlns:a16="http://schemas.microsoft.com/office/drawing/2014/main" val="3393115081"/>
                  </a:ext>
                </a:extLst>
              </a:tr>
              <a:tr h="381000">
                <a:tc>
                  <a:txBody>
                    <a:bodyPr/>
                    <a:lstStyle/>
                    <a:p>
                      <a:r>
                        <a:rPr lang="en-US" sz="1800" b="0">
                          <a:solidFill>
                            <a:srgbClr val="1F2328"/>
                          </a:solidFill>
                          <a:latin typeface="Montserrat" pitchFamily="2" charset="0"/>
                        </a:rPr>
                        <a:t>Publish → WebSocket</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vi-VN" sz="1800" b="0">
                          <a:solidFill>
                            <a:srgbClr val="1F2328"/>
                          </a:solidFill>
                          <a:latin typeface="Montserrat" pitchFamily="2" charset="0"/>
                        </a:rPr>
                        <a:t>P95 211 ms; chưa đo DOM</a:t>
                      </a:r>
                      <a:endParaRPr lang="en-US" sz="1800" b="0">
                        <a:solidFill>
                          <a:srgbClr val="1F2328"/>
                        </a:solidFill>
                        <a:latin typeface="Montserrat" pitchFamily="2" charset="0"/>
                      </a:endParaRP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3076629769"/>
                  </a:ext>
                </a:extLst>
              </a:tr>
            </a:tbl>
          </a:graphicData>
        </a:graphic>
      </p:graphicFrame>
      <p:pic>
        <p:nvPicPr>
          <p:cNvPr id="28" name="Picture" descr="Các chỉ số kiểm thử có bằng chứng">
            <a:extLst>
              <a:ext uri="{FF2B5EF4-FFF2-40B4-BE49-F238E27FC236}">
                <a16:creationId xmlns:a16="http://schemas.microsoft.com/office/drawing/2014/main" id="{A8075B49-A902-44B9-1262-16844B756974}"/>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4036991" y="5303520"/>
            <a:ext cx="10214018" cy="4246880"/>
          </a:xfrm>
          <a:prstGeom prst="rect">
            <a:avLst/>
          </a:prstGeom>
        </p:spPr>
      </p:pic>
      <p:sp>
        <p:nvSpPr>
          <p:cNvPr id="29" name="Slide Number">
            <a:extLst>
              <a:ext uri="{FF2B5EF4-FFF2-40B4-BE49-F238E27FC236}">
                <a16:creationId xmlns:a16="http://schemas.microsoft.com/office/drawing/2014/main" id="{AF2DD850-C9AF-EE1C-D748-30987D001CC7}"/>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27</a:t>
            </a:r>
          </a:p>
        </p:txBody>
      </p:sp>
    </p:spTree>
    <p:extLst>
      <p:ext uri="{BB962C8B-B14F-4D97-AF65-F5344CB8AC3E}">
        <p14:creationId xmlns:p14="http://schemas.microsoft.com/office/powerpoint/2010/main" val="885663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BCA75543-5C93-EF13-F9BE-27B43DD819BA}"/>
              </a:ext>
            </a:extLst>
          </p:cNvPr>
          <p:cNvSpPr txBox="1"/>
          <p:nvPr/>
        </p:nvSpPr>
        <p:spPr>
          <a:xfrm>
            <a:off x="673100" y="1219200"/>
            <a:ext cx="16941800" cy="369332"/>
          </a:xfrm>
          <a:prstGeom prst="rect">
            <a:avLst/>
          </a:prstGeom>
          <a:noFill/>
        </p:spPr>
        <p:txBody>
          <a:bodyPr vert="horz" wrap="square" lIns="0" tIns="0" rIns="0" bIns="0" rtlCol="0">
            <a:noAutofit/>
          </a:bodyPr>
          <a:lstStyle/>
          <a:p>
            <a:r>
              <a:rPr lang="en-US" sz="3400" b="1">
                <a:solidFill>
                  <a:srgbClr val="0070C0"/>
                </a:solidFill>
                <a:latin typeface="Montserrat" pitchFamily="2" charset="0"/>
              </a:rPr>
              <a:t>Lỗi phát hiện trong kiểm thử và cách khắc phục</a:t>
            </a:r>
          </a:p>
        </p:txBody>
      </p:sp>
      <p:sp>
        <p:nvSpPr>
          <p:cNvPr id="26" name="Panel">
            <a:extLst>
              <a:ext uri="{FF2B5EF4-FFF2-40B4-BE49-F238E27FC236}">
                <a16:creationId xmlns:a16="http://schemas.microsoft.com/office/drawing/2014/main" id="{D6FB60DD-0173-D3CF-1B0C-738222A1FCF3}"/>
              </a:ext>
            </a:extLst>
          </p:cNvPr>
          <p:cNvSpPr/>
          <p:nvPr/>
        </p:nvSpPr>
        <p:spPr>
          <a:xfrm>
            <a:off x="673100" y="6860706"/>
            <a:ext cx="8318500" cy="2689694"/>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a:lnSpc>
                <a:spcPct val="110000"/>
              </a:lnSpc>
              <a:spcAft>
                <a:spcPts val="1600"/>
              </a:spcAft>
            </a:pPr>
            <a:r>
              <a:rPr lang="en-US" sz="1900">
                <a:solidFill>
                  <a:srgbClr val="1F2328"/>
                </a:solidFill>
                <a:latin typeface="Montserrat" pitchFamily="2" charset="0"/>
              </a:rPr>
              <a:t>Từ chối lệnh tới thiết bị stale từng làm backend xóa xác nhận phiên của mọi thiết bị.</a:t>
            </a:r>
          </a:p>
          <a:p>
            <a:pPr>
              <a:lnSpc>
                <a:spcPct val="110000"/>
              </a:lnSpc>
              <a:spcAft>
                <a:spcPts val="1600"/>
              </a:spcAft>
            </a:pPr>
            <a:r>
              <a:rPr lang="en-US" sz="1900">
                <a:solidFill>
                  <a:srgbClr val="1F2328"/>
                </a:solidFill>
                <a:latin typeface="Montserrat" pitchFamily="2" charset="0"/>
              </a:rPr>
              <a:t>Đã tách lỗi nghiệp vụ khỏi xử lý lỗi transaction MySQL.</a:t>
            </a:r>
          </a:p>
          <a:p>
            <a:pPr>
              <a:lnSpc>
                <a:spcPct val="110000"/>
              </a:lnSpc>
              <a:spcAft>
                <a:spcPts val="1600"/>
              </a:spcAft>
            </a:pPr>
            <a:r>
              <a:rPr lang="en-US" sz="1900">
                <a:solidFill>
                  <a:srgbClr val="1F2328"/>
                </a:solidFill>
                <a:latin typeface="Montserrat" pitchFamily="2" charset="0"/>
              </a:rPr>
              <a:t>Test hồi quy chứng minh: từ chối lệnh không làm thiết bị khác mất freshness.</a:t>
            </a:r>
          </a:p>
        </p:txBody>
      </p:sp>
      <p:sp>
        <p:nvSpPr>
          <p:cNvPr id="27" name="Panel">
            <a:extLst>
              <a:ext uri="{FF2B5EF4-FFF2-40B4-BE49-F238E27FC236}">
                <a16:creationId xmlns:a16="http://schemas.microsoft.com/office/drawing/2014/main" id="{7FB002C6-66EE-5AEB-3231-124A9CD1FFB0}"/>
              </a:ext>
            </a:extLst>
          </p:cNvPr>
          <p:cNvSpPr/>
          <p:nvPr/>
        </p:nvSpPr>
        <p:spPr>
          <a:xfrm>
            <a:off x="9296400" y="6860706"/>
            <a:ext cx="8318500" cy="2689694"/>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a:lnSpc>
                <a:spcPct val="110000"/>
              </a:lnSpc>
              <a:spcAft>
                <a:spcPts val="1600"/>
              </a:spcAft>
            </a:pPr>
            <a:r>
              <a:rPr lang="vi-VN" sz="1900">
                <a:solidFill>
                  <a:srgbClr val="1F2328"/>
                </a:solidFill>
                <a:latin typeface="Montserrat" pitchFamily="2" charset="0"/>
              </a:rPr>
              <a:t>Khóa dòng MySQL 9,5 giây: readiness báo lỗi, không ghi nhận dữ liệu chưa lưu là mới.</a:t>
            </a:r>
          </a:p>
          <a:p>
            <a:pPr>
              <a:lnSpc>
                <a:spcPct val="110000"/>
              </a:lnSpc>
              <a:spcAft>
                <a:spcPts val="1600"/>
              </a:spcAft>
            </a:pPr>
            <a:r>
              <a:rPr lang="vi-VN" sz="1900">
                <a:solidFill>
                  <a:srgbClr val="1F2328"/>
                </a:solidFill>
                <a:latin typeface="Montserrat" pitchFamily="2" charset="0"/>
              </a:rPr>
              <a:t>Nhả khóa: 3 frame tồn đọng lưu đúng một lần sau 418 ms, rồi phục hồi dữ liệu mới.</a:t>
            </a:r>
            <a:endParaRPr lang="en-US" sz="1900">
              <a:solidFill>
                <a:srgbClr val="1F2328"/>
              </a:solidFill>
              <a:latin typeface="Montserrat" pitchFamily="2" charset="0"/>
            </a:endParaRPr>
          </a:p>
        </p:txBody>
      </p:sp>
      <p:pic>
        <p:nvPicPr>
          <p:cNvPr id="29" name="Picture" descr="Cơ sở dữ liệu và các nhóm dữ liệu cần bảo toàn">
            <a:extLst>
              <a:ext uri="{FF2B5EF4-FFF2-40B4-BE49-F238E27FC236}">
                <a16:creationId xmlns:a16="http://schemas.microsoft.com/office/drawing/2014/main" id="{D6BA36F1-9829-B7FD-9FED-4C37C2C55B67}"/>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3826035" y="2133600"/>
            <a:ext cx="10635929" cy="4422306"/>
          </a:xfrm>
          <a:prstGeom prst="rect">
            <a:avLst/>
          </a:prstGeom>
        </p:spPr>
      </p:pic>
      <p:sp>
        <p:nvSpPr>
          <p:cNvPr id="30" name="Slide Number">
            <a:extLst>
              <a:ext uri="{FF2B5EF4-FFF2-40B4-BE49-F238E27FC236}">
                <a16:creationId xmlns:a16="http://schemas.microsoft.com/office/drawing/2014/main" id="{B6444DFC-319C-8428-0388-EAD4D9604FD7}"/>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28</a:t>
            </a:r>
          </a:p>
        </p:txBody>
      </p:sp>
    </p:spTree>
    <p:extLst>
      <p:ext uri="{BB962C8B-B14F-4D97-AF65-F5344CB8AC3E}">
        <p14:creationId xmlns:p14="http://schemas.microsoft.com/office/powerpoint/2010/main" val="28275377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grpSp>
        <p:nvGrpSpPr>
          <p:cNvPr id="6" name="Group 6"/>
          <p:cNvGrpSpPr/>
          <p:nvPr/>
        </p:nvGrpSpPr>
        <p:grpSpPr>
          <a:xfrm>
            <a:off x="2743238" y="10108759"/>
            <a:ext cx="15544724" cy="152705"/>
            <a:chOff x="0" y="0"/>
            <a:chExt cx="20726298" cy="203606"/>
          </a:xfrm>
        </p:grpSpPr>
        <p:sp>
          <p:nvSpPr>
            <p:cNvPr id="7" name="Freeform 7"/>
            <p:cNvSpPr/>
            <p:nvPr/>
          </p:nvSpPr>
          <p:spPr>
            <a:xfrm>
              <a:off x="0" y="0"/>
              <a:ext cx="20726273" cy="203581"/>
            </a:xfrm>
            <a:custGeom>
              <a:avLst/>
              <a:gdLst/>
              <a:ahLst/>
              <a:cxnLst/>
              <a:rect l="l" t="t" r="r" b="b"/>
              <a:pathLst>
                <a:path w="20726273" h="203581">
                  <a:moveTo>
                    <a:pt x="0" y="0"/>
                  </a:moveTo>
                  <a:lnTo>
                    <a:pt x="20726273" y="0"/>
                  </a:lnTo>
                  <a:lnTo>
                    <a:pt x="20726273" y="203581"/>
                  </a:lnTo>
                  <a:lnTo>
                    <a:pt x="0" y="203581"/>
                  </a:lnTo>
                  <a:lnTo>
                    <a:pt x="0" y="0"/>
                  </a:lnTo>
                  <a:close/>
                </a:path>
              </a:pathLst>
            </a:custGeom>
            <a:blipFill>
              <a:blip r:embed="rId3"/>
              <a:stretch>
                <a:fillRect b="-35745"/>
              </a:stretch>
            </a:blipFill>
          </p:spPr>
        </p:sp>
      </p:grpSp>
      <p:sp>
        <p:nvSpPr>
          <p:cNvPr id="8" name="TextBox 8"/>
          <p:cNvSpPr txBox="1"/>
          <p:nvPr/>
        </p:nvSpPr>
        <p:spPr>
          <a:xfrm>
            <a:off x="302009" y="10002231"/>
            <a:ext cx="2254501" cy="327536"/>
          </a:xfrm>
          <a:prstGeom prst="rect">
            <a:avLst/>
          </a:prstGeom>
        </p:spPr>
        <p:txBody>
          <a:bodyPr lIns="0" tIns="0" rIns="0" bIns="0" rtlCol="0" anchor="t">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grpSp>
        <p:nvGrpSpPr>
          <p:cNvPr id="9" name="Group 9"/>
          <p:cNvGrpSpPr/>
          <p:nvPr/>
        </p:nvGrpSpPr>
        <p:grpSpPr>
          <a:xfrm>
            <a:off x="-15240" y="7567612"/>
            <a:ext cx="18303240" cy="2514600"/>
            <a:chOff x="0" y="0"/>
            <a:chExt cx="24404320" cy="3352800"/>
          </a:xfrm>
        </p:grpSpPr>
        <p:sp>
          <p:nvSpPr>
            <p:cNvPr id="10" name="Freeform 10" descr="A building with trees in the background  Description automatically generated"/>
            <p:cNvSpPr/>
            <p:nvPr/>
          </p:nvSpPr>
          <p:spPr>
            <a:xfrm>
              <a:off x="0" y="0"/>
              <a:ext cx="24404320" cy="3352800"/>
            </a:xfrm>
            <a:custGeom>
              <a:avLst/>
              <a:gdLst/>
              <a:ahLst/>
              <a:cxnLst/>
              <a:rect l="l" t="t" r="r" b="b"/>
              <a:pathLst>
                <a:path w="24404320" h="3352800">
                  <a:moveTo>
                    <a:pt x="0" y="0"/>
                  </a:moveTo>
                  <a:lnTo>
                    <a:pt x="24404320" y="0"/>
                  </a:lnTo>
                  <a:lnTo>
                    <a:pt x="24404320" y="3352800"/>
                  </a:lnTo>
                  <a:lnTo>
                    <a:pt x="0" y="3352800"/>
                  </a:lnTo>
                  <a:lnTo>
                    <a:pt x="0" y="0"/>
                  </a:lnTo>
                  <a:close/>
                </a:path>
              </a:pathLst>
            </a:custGeom>
            <a:blipFill>
              <a:blip r:embed="rId4"/>
              <a:stretch>
                <a:fillRect t="-16633" b="-16633"/>
              </a:stretch>
            </a:blipFill>
          </p:spPr>
        </p:sp>
      </p:grpSp>
      <p:grpSp>
        <p:nvGrpSpPr>
          <p:cNvPr id="11" name="Group 11"/>
          <p:cNvGrpSpPr/>
          <p:nvPr/>
        </p:nvGrpSpPr>
        <p:grpSpPr>
          <a:xfrm>
            <a:off x="534200" y="27089"/>
            <a:ext cx="999001" cy="999001"/>
            <a:chOff x="0" y="0"/>
            <a:chExt cx="1332001" cy="1332001"/>
          </a:xfrm>
        </p:grpSpPr>
        <p:sp>
          <p:nvSpPr>
            <p:cNvPr id="12" name="Freeform 12" descr="A white circle with blue and red text and a book with a graduation cap  Description automatically generated"/>
            <p:cNvSpPr/>
            <p:nvPr/>
          </p:nvSpPr>
          <p:spPr>
            <a:xfrm>
              <a:off x="0" y="0"/>
              <a:ext cx="1331976" cy="1331976"/>
            </a:xfrm>
            <a:custGeom>
              <a:avLst/>
              <a:gdLst/>
              <a:ahLst/>
              <a:cxnLst/>
              <a:rect l="l" t="t" r="r" b="b"/>
              <a:pathLst>
                <a:path w="1331976" h="1331976">
                  <a:moveTo>
                    <a:pt x="0" y="0"/>
                  </a:moveTo>
                  <a:lnTo>
                    <a:pt x="1331976" y="0"/>
                  </a:lnTo>
                  <a:lnTo>
                    <a:pt x="1331976" y="1331976"/>
                  </a:lnTo>
                  <a:lnTo>
                    <a:pt x="0" y="1331976"/>
                  </a:lnTo>
                  <a:lnTo>
                    <a:pt x="0" y="0"/>
                  </a:lnTo>
                  <a:close/>
                </a:path>
              </a:pathLst>
            </a:custGeom>
            <a:blipFill>
              <a:blip r:embed="rId5"/>
              <a:stretch>
                <a:fillRect r="-1" b="-1"/>
              </a:stretch>
            </a:blipFill>
          </p:spPr>
        </p:sp>
      </p:grpSp>
      <p:sp>
        <p:nvSpPr>
          <p:cNvPr id="13" name="TextBox 13"/>
          <p:cNvSpPr txBox="1"/>
          <p:nvPr/>
        </p:nvSpPr>
        <p:spPr>
          <a:xfrm>
            <a:off x="3910012" y="74790"/>
            <a:ext cx="10452725" cy="897103"/>
          </a:xfrm>
          <a:prstGeom prst="rect">
            <a:avLst/>
          </a:prstGeom>
        </p:spPr>
        <p:txBody>
          <a:bodyPr lIns="0" tIns="0" rIns="0" bIns="0" rtlCol="0" anchor="t">
            <a:spAutoFit/>
          </a:bodyPr>
          <a:lstStyle/>
          <a:p>
            <a:pPr algn="ctr">
              <a:lnSpc>
                <a:spcPts val="3240"/>
              </a:lnSpc>
            </a:pPr>
            <a:r>
              <a:rPr lang="en-US" sz="2700">
                <a:solidFill>
                  <a:srgbClr val="FFFFFF"/>
                </a:solidFill>
                <a:latin typeface="Arial"/>
                <a:ea typeface="Arial"/>
                <a:cs typeface="Arial"/>
                <a:sym typeface="Arial"/>
              </a:rPr>
              <a:t>BỘ CÔNG THƯƠNG</a:t>
            </a:r>
          </a:p>
          <a:p>
            <a:pPr algn="ctr">
              <a:lnSpc>
                <a:spcPts val="3240"/>
              </a:lnSpc>
            </a:pPr>
            <a:r>
              <a:rPr lang="en-US" sz="2700" b="1">
                <a:solidFill>
                  <a:srgbClr val="FFFFFF"/>
                </a:solidFill>
                <a:latin typeface="Arial Bold"/>
                <a:ea typeface="Arial Bold"/>
                <a:cs typeface="Arial Bold"/>
                <a:sym typeface="Arial Bold"/>
              </a:rPr>
              <a:t>TRƯỜNG ĐẠI HỌC CÔNG THƯƠNG THÀNH PHỐ HỒ CHÍ MINH</a:t>
            </a:r>
          </a:p>
        </p:txBody>
      </p:sp>
      <p:sp>
        <p:nvSpPr>
          <p:cNvPr id="16" name="Title">
            <a:extLst>
              <a:ext uri="{FF2B5EF4-FFF2-40B4-BE49-F238E27FC236}">
                <a16:creationId xmlns:a16="http://schemas.microsoft.com/office/drawing/2014/main" id="{370869AD-C397-3A6C-0BB7-D62E8954BDC3}"/>
              </a:ext>
            </a:extLst>
          </p:cNvPr>
          <p:cNvSpPr txBox="1"/>
          <p:nvPr/>
        </p:nvSpPr>
        <p:spPr>
          <a:xfrm>
            <a:off x="1397000" y="3429000"/>
            <a:ext cx="15494000" cy="369332"/>
          </a:xfrm>
          <a:prstGeom prst="rect">
            <a:avLst/>
          </a:prstGeom>
          <a:noFill/>
        </p:spPr>
        <p:txBody>
          <a:bodyPr vert="horz" wrap="square" lIns="0" tIns="0" rIns="0" bIns="0" rtlCol="0" anchor="ctr">
            <a:noAutofit/>
          </a:bodyPr>
          <a:lstStyle/>
          <a:p>
            <a:pPr algn="ctr"/>
            <a:r>
              <a:rPr lang="vi-VN" sz="4400" b="1">
                <a:solidFill>
                  <a:srgbClr val="0070C0"/>
                </a:solidFill>
                <a:latin typeface="Montserrat" pitchFamily="2" charset="0"/>
              </a:rPr>
              <a:t>5. Kết luận và hướng phát triển</a:t>
            </a:r>
            <a:endParaRPr lang="en-US" sz="4400" b="1">
              <a:solidFill>
                <a:srgbClr val="0070C0"/>
              </a:solidFill>
              <a:latin typeface="Montserrat" pitchFamily="2" charset="0"/>
            </a:endParaRPr>
          </a:p>
        </p:txBody>
      </p:sp>
      <p:sp>
        <p:nvSpPr>
          <p:cNvPr id="17" name="Slide Number">
            <a:extLst>
              <a:ext uri="{FF2B5EF4-FFF2-40B4-BE49-F238E27FC236}">
                <a16:creationId xmlns:a16="http://schemas.microsoft.com/office/drawing/2014/main" id="{80634DC6-72C0-CD27-EF53-473606B6ED60}"/>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1F2328"/>
                </a:solidFill>
                <a:latin typeface="Montserrat" pitchFamily="2" charset="0"/>
              </a:rPr>
              <a:t>29</a:t>
            </a:r>
          </a:p>
        </p:txBody>
      </p:sp>
    </p:spTree>
    <p:extLst>
      <p:ext uri="{BB962C8B-B14F-4D97-AF65-F5344CB8AC3E}">
        <p14:creationId xmlns:p14="http://schemas.microsoft.com/office/powerpoint/2010/main" val="42703194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FAE0CE91-40DF-9075-BA67-E7E1C0D2E191}"/>
              </a:ext>
            </a:extLst>
          </p:cNvPr>
          <p:cNvSpPr txBox="1"/>
          <p:nvPr/>
        </p:nvSpPr>
        <p:spPr>
          <a:xfrm>
            <a:off x="673100" y="1219200"/>
            <a:ext cx="16941800" cy="369332"/>
          </a:xfrm>
          <a:prstGeom prst="rect">
            <a:avLst/>
          </a:prstGeom>
          <a:noFill/>
        </p:spPr>
        <p:txBody>
          <a:bodyPr vert="horz" wrap="square" lIns="0" tIns="0" rIns="0" bIns="0" rtlCol="0">
            <a:noAutofit/>
          </a:bodyPr>
          <a:lstStyle/>
          <a:p>
            <a:r>
              <a:rPr lang="en-US" sz="3400" b="1">
                <a:solidFill>
                  <a:srgbClr val="0070C0"/>
                </a:solidFill>
                <a:latin typeface="Montserrat" pitchFamily="2" charset="0"/>
              </a:rPr>
              <a:t>Những kết quả đã đạt</a:t>
            </a:r>
          </a:p>
        </p:txBody>
      </p:sp>
      <p:pic>
        <p:nvPicPr>
          <p:cNvPr id="27" name="Picture" descr="Hệ thống KhoGuard đã tích hợp">
            <a:extLst>
              <a:ext uri="{FF2B5EF4-FFF2-40B4-BE49-F238E27FC236}">
                <a16:creationId xmlns:a16="http://schemas.microsoft.com/office/drawing/2014/main" id="{29255355-8A8F-F44B-F9A1-6948941EAB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82100" y="2133600"/>
            <a:ext cx="8432800" cy="6681372"/>
          </a:xfrm>
          <a:prstGeom prst="rect">
            <a:avLst/>
          </a:prstGeom>
          <a:ln w="9525">
            <a:solidFill>
              <a:srgbClr val="D0D5DA"/>
            </a:solidFill>
          </a:ln>
        </p:spPr>
      </p:pic>
      <p:sp>
        <p:nvSpPr>
          <p:cNvPr id="28" name="Panel">
            <a:extLst>
              <a:ext uri="{FF2B5EF4-FFF2-40B4-BE49-F238E27FC236}">
                <a16:creationId xmlns:a16="http://schemas.microsoft.com/office/drawing/2014/main" id="{CFB818D0-D9EC-70FB-3AF5-4B35697F4320}"/>
              </a:ext>
            </a:extLst>
          </p:cNvPr>
          <p:cNvSpPr/>
          <p:nvPr/>
        </p:nvSpPr>
        <p:spPr>
          <a:xfrm>
            <a:off x="673100" y="2133600"/>
            <a:ext cx="8204200" cy="6681372"/>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ctr">
            <a:noAutofit/>
          </a:bodyPr>
          <a:lstStyle/>
          <a:p>
            <a:pPr>
              <a:lnSpc>
                <a:spcPct val="110000"/>
              </a:lnSpc>
              <a:spcAft>
                <a:spcPts val="1700"/>
              </a:spcAft>
            </a:pPr>
            <a:r>
              <a:rPr lang="vi-VN" sz="2000">
                <a:solidFill>
                  <a:srgbClr val="1F2328"/>
                </a:solidFill>
                <a:latin typeface="Montserrat" pitchFamily="2" charset="0"/>
              </a:rPr>
              <a:t>Dựng được luồng IoT từ ESP32/Wokwi qua MQTT, backend và MySQL tới React.</a:t>
            </a:r>
          </a:p>
          <a:p>
            <a:pPr>
              <a:lnSpc>
                <a:spcPct val="110000"/>
              </a:lnSpc>
              <a:spcAft>
                <a:spcPts val="1700"/>
              </a:spcAft>
            </a:pPr>
            <a:r>
              <a:rPr lang="vi-VN" sz="2000">
                <a:solidFill>
                  <a:srgbClr val="1F2328"/>
                </a:solidFill>
                <a:latin typeface="Montserrat" pitchFamily="2" charset="0"/>
              </a:rPr>
              <a:t>Giám sát 4 khu, 12 cửa và phân biệt nguồn dữ liệu.</a:t>
            </a:r>
          </a:p>
          <a:p>
            <a:pPr>
              <a:lnSpc>
                <a:spcPct val="110000"/>
              </a:lnSpc>
              <a:spcAft>
                <a:spcPts val="1700"/>
              </a:spcAft>
            </a:pPr>
            <a:r>
              <a:rPr lang="vi-VN" sz="2000">
                <a:solidFill>
                  <a:srgbClr val="1F2328"/>
                </a:solidFill>
                <a:latin typeface="Montserrat" pitchFamily="2" charset="0"/>
              </a:rPr>
              <a:t>Kiểm chứng chặn đóng, liên động, panic, timer và phản ứng khi mất mạng.</a:t>
            </a:r>
          </a:p>
          <a:p>
            <a:pPr>
              <a:lnSpc>
                <a:spcPct val="110000"/>
              </a:lnSpc>
              <a:spcAft>
                <a:spcPts val="1700"/>
              </a:spcAft>
            </a:pPr>
            <a:r>
              <a:rPr lang="vi-VN" sz="2000">
                <a:solidFill>
                  <a:srgbClr val="1F2328"/>
                </a:solidFill>
                <a:latin typeface="Montserrat" pitchFamily="2" charset="0"/>
              </a:rPr>
              <a:t>Có phân quyền, nhận hàng/giữ chỗ, nhật ký và xuất CSV.</a:t>
            </a:r>
          </a:p>
          <a:p>
            <a:pPr>
              <a:lnSpc>
                <a:spcPct val="110000"/>
              </a:lnSpc>
              <a:spcAft>
                <a:spcPts val="1700"/>
              </a:spcAft>
            </a:pPr>
            <a:r>
              <a:rPr lang="vi-VN" sz="2000">
                <a:solidFill>
                  <a:srgbClr val="1F2328"/>
                </a:solidFill>
                <a:latin typeface="Montserrat" pitchFamily="2" charset="0"/>
              </a:rPr>
              <a:t>Lưu bằng chứng kiểm thử và phục hồi firmware bình thường sau nghiệm thu.</a:t>
            </a:r>
            <a:endParaRPr lang="en-US" sz="2000">
              <a:solidFill>
                <a:srgbClr val="1F2328"/>
              </a:solidFill>
              <a:latin typeface="Montserrat" pitchFamily="2" charset="0"/>
            </a:endParaRPr>
          </a:p>
        </p:txBody>
      </p:sp>
      <p:sp>
        <p:nvSpPr>
          <p:cNvPr id="29" name="Slide Number">
            <a:extLst>
              <a:ext uri="{FF2B5EF4-FFF2-40B4-BE49-F238E27FC236}">
                <a16:creationId xmlns:a16="http://schemas.microsoft.com/office/drawing/2014/main" id="{0FB100DB-A243-7370-DC84-6961ACD0083B}"/>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30</a:t>
            </a:r>
          </a:p>
        </p:txBody>
      </p:sp>
    </p:spTree>
    <p:extLst>
      <p:ext uri="{BB962C8B-B14F-4D97-AF65-F5344CB8AC3E}">
        <p14:creationId xmlns:p14="http://schemas.microsoft.com/office/powerpoint/2010/main" val="15127585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23AE113B-6CCE-41FA-E70E-8E6033C8034A}"/>
              </a:ext>
            </a:extLst>
          </p:cNvPr>
          <p:cNvSpPr txBox="1"/>
          <p:nvPr/>
        </p:nvSpPr>
        <p:spPr>
          <a:xfrm>
            <a:off x="673100" y="1219200"/>
            <a:ext cx="16941800" cy="369332"/>
          </a:xfrm>
          <a:prstGeom prst="rect">
            <a:avLst/>
          </a:prstGeom>
          <a:noFill/>
        </p:spPr>
        <p:txBody>
          <a:bodyPr vert="horz" wrap="square" lIns="0" tIns="0" rIns="0" bIns="0" rtlCol="0">
            <a:noAutofit/>
          </a:bodyPr>
          <a:lstStyle/>
          <a:p>
            <a:r>
              <a:rPr lang="en-US" sz="3400" b="1">
                <a:solidFill>
                  <a:srgbClr val="0070C0"/>
                </a:solidFill>
                <a:latin typeface="Montserrat" pitchFamily="2" charset="0"/>
              </a:rPr>
              <a:t>Giới hạn của mô hình hiện tại</a:t>
            </a:r>
          </a:p>
        </p:txBody>
      </p:sp>
      <p:sp>
        <p:nvSpPr>
          <p:cNvPr id="26" name="Panel">
            <a:extLst>
              <a:ext uri="{FF2B5EF4-FFF2-40B4-BE49-F238E27FC236}">
                <a16:creationId xmlns:a16="http://schemas.microsoft.com/office/drawing/2014/main" id="{1B043CF6-36C4-79EB-7B7A-91BC98FBBA4B}"/>
              </a:ext>
            </a:extLst>
          </p:cNvPr>
          <p:cNvSpPr/>
          <p:nvPr/>
        </p:nvSpPr>
        <p:spPr>
          <a:xfrm>
            <a:off x="673100" y="6529748"/>
            <a:ext cx="8318500" cy="3020652"/>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a:lnSpc>
                <a:spcPct val="110000"/>
              </a:lnSpc>
              <a:spcAft>
                <a:spcPts val="1600"/>
              </a:spcAft>
            </a:pPr>
            <a:r>
              <a:rPr lang="vi-VN" sz="1900">
                <a:solidFill>
                  <a:srgbClr val="1F2328"/>
                </a:solidFill>
                <a:latin typeface="Montserrat" pitchFamily="2" charset="0"/>
              </a:rPr>
              <a:t>Cảm biến, cửa và đầu ra được mô phỏng; chưa nghiệm thu phần cứng.</a:t>
            </a:r>
          </a:p>
          <a:p>
            <a:pPr>
              <a:lnSpc>
                <a:spcPct val="110000"/>
              </a:lnSpc>
              <a:spcAft>
                <a:spcPts val="1600"/>
              </a:spcAft>
            </a:pPr>
            <a:r>
              <a:rPr lang="vi-VN" sz="1900">
                <a:solidFill>
                  <a:srgbClr val="1F2328"/>
                </a:solidFill>
                <a:latin typeface="Montserrat" pitchFamily="2" charset="0"/>
              </a:rPr>
              <a:t>Chưa có camera nhiệt, AI, CO₂, relay an toàn hay chốt thoát hiểm thật.</a:t>
            </a:r>
          </a:p>
          <a:p>
            <a:pPr>
              <a:lnSpc>
                <a:spcPct val="110000"/>
              </a:lnSpc>
              <a:spcAft>
                <a:spcPts val="1600"/>
              </a:spcAft>
            </a:pPr>
            <a:r>
              <a:rPr lang="vi-VN" sz="1900">
                <a:solidFill>
                  <a:srgbClr val="1F2328"/>
                </a:solidFill>
                <a:latin typeface="Montserrat" pitchFamily="2" charset="0"/>
              </a:rPr>
              <a:t>Chưa kết nối WMS, truy vết pallet bằng RFID hoặc quy trình xuất kho.</a:t>
            </a:r>
            <a:endParaRPr lang="en-US" sz="1900">
              <a:solidFill>
                <a:srgbClr val="1F2328"/>
              </a:solidFill>
              <a:latin typeface="Montserrat" pitchFamily="2" charset="0"/>
            </a:endParaRPr>
          </a:p>
        </p:txBody>
      </p:sp>
      <p:sp>
        <p:nvSpPr>
          <p:cNvPr id="27" name="Panel">
            <a:extLst>
              <a:ext uri="{FF2B5EF4-FFF2-40B4-BE49-F238E27FC236}">
                <a16:creationId xmlns:a16="http://schemas.microsoft.com/office/drawing/2014/main" id="{5EDCD303-0C06-F415-4239-1C25BD495513}"/>
              </a:ext>
            </a:extLst>
          </p:cNvPr>
          <p:cNvSpPr/>
          <p:nvPr/>
        </p:nvSpPr>
        <p:spPr>
          <a:xfrm>
            <a:off x="9296400" y="6529748"/>
            <a:ext cx="8318500" cy="3020652"/>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a:lnSpc>
                <a:spcPct val="110000"/>
              </a:lnSpc>
              <a:spcAft>
                <a:spcPts val="1600"/>
              </a:spcAft>
            </a:pPr>
            <a:r>
              <a:rPr lang="vi-VN" sz="1900">
                <a:solidFill>
                  <a:srgbClr val="1F2328"/>
                </a:solidFill>
                <a:latin typeface="Montserrat" pitchFamily="2" charset="0"/>
              </a:rPr>
              <a:t>M16 còn phép đo publish → hiển thị DOM.</a:t>
            </a:r>
          </a:p>
          <a:p>
            <a:pPr>
              <a:lnSpc>
                <a:spcPct val="110000"/>
              </a:lnSpc>
              <a:spcAft>
                <a:spcPts val="1600"/>
              </a:spcAft>
            </a:pPr>
            <a:r>
              <a:rPr lang="vi-VN" sz="1900">
                <a:solidFill>
                  <a:srgbClr val="1F2328"/>
                </a:solidFill>
                <a:latin typeface="Montserrat" pitchFamily="2" charset="0"/>
              </a:rPr>
              <a:t>M17 còn người nhận chạy lại cấu hình và demo trên máy khác.</a:t>
            </a:r>
            <a:endParaRPr lang="en-US" sz="1900">
              <a:solidFill>
                <a:srgbClr val="1F2328"/>
              </a:solidFill>
              <a:latin typeface="Montserrat" pitchFamily="2" charset="0"/>
            </a:endParaRPr>
          </a:p>
        </p:txBody>
      </p:sp>
      <p:pic>
        <p:nvPicPr>
          <p:cNvPr id="29" name="Picture" descr="Phạm vi mô phỏng và đầu vào đầu ra">
            <a:extLst>
              <a:ext uri="{FF2B5EF4-FFF2-40B4-BE49-F238E27FC236}">
                <a16:creationId xmlns:a16="http://schemas.microsoft.com/office/drawing/2014/main" id="{56B320C7-F2CC-FCDC-7CD5-C30B3B58D789}"/>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4224023" y="2133600"/>
            <a:ext cx="9839954" cy="4091348"/>
          </a:xfrm>
          <a:prstGeom prst="rect">
            <a:avLst/>
          </a:prstGeom>
        </p:spPr>
      </p:pic>
      <p:sp>
        <p:nvSpPr>
          <p:cNvPr id="30" name="Slide Number">
            <a:extLst>
              <a:ext uri="{FF2B5EF4-FFF2-40B4-BE49-F238E27FC236}">
                <a16:creationId xmlns:a16="http://schemas.microsoft.com/office/drawing/2014/main" id="{87350623-A940-4CD0-EA1F-92A6F197F24A}"/>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31</a:t>
            </a:r>
          </a:p>
        </p:txBody>
      </p:sp>
    </p:spTree>
    <p:extLst>
      <p:ext uri="{BB962C8B-B14F-4D97-AF65-F5344CB8AC3E}">
        <p14:creationId xmlns:p14="http://schemas.microsoft.com/office/powerpoint/2010/main" val="30202125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1D5EE479-7431-C9FD-FEC0-29DBAF6751E5}"/>
              </a:ext>
            </a:extLst>
          </p:cNvPr>
          <p:cNvSpPr txBox="1"/>
          <p:nvPr/>
        </p:nvSpPr>
        <p:spPr>
          <a:xfrm>
            <a:off x="673100" y="1219200"/>
            <a:ext cx="16941800" cy="369332"/>
          </a:xfrm>
          <a:prstGeom prst="rect">
            <a:avLst/>
          </a:prstGeom>
          <a:noFill/>
        </p:spPr>
        <p:txBody>
          <a:bodyPr vert="horz" wrap="square" lIns="0" tIns="0" rIns="0" bIns="0" rtlCol="0">
            <a:noAutofit/>
          </a:bodyPr>
          <a:lstStyle/>
          <a:p>
            <a:r>
              <a:rPr lang="vi-VN" sz="3400" b="1">
                <a:solidFill>
                  <a:srgbClr val="0070C0"/>
                </a:solidFill>
                <a:latin typeface="Montserrat" pitchFamily="2" charset="0"/>
              </a:rPr>
              <a:t>Hướng phát triển tiếp theo</a:t>
            </a:r>
            <a:endParaRPr lang="en-US" sz="3400" b="1">
              <a:solidFill>
                <a:srgbClr val="0070C0"/>
              </a:solidFill>
              <a:latin typeface="Montserrat" pitchFamily="2" charset="0"/>
            </a:endParaRPr>
          </a:p>
        </p:txBody>
      </p:sp>
      <p:sp>
        <p:nvSpPr>
          <p:cNvPr id="26" name="Panel">
            <a:extLst>
              <a:ext uri="{FF2B5EF4-FFF2-40B4-BE49-F238E27FC236}">
                <a16:creationId xmlns:a16="http://schemas.microsoft.com/office/drawing/2014/main" id="{97060C69-3459-D0EC-B3EB-00261AABAB7D}"/>
              </a:ext>
            </a:extLst>
          </p:cNvPr>
          <p:cNvSpPr/>
          <p:nvPr/>
        </p:nvSpPr>
        <p:spPr>
          <a:xfrm>
            <a:off x="673100" y="6860706"/>
            <a:ext cx="8318500" cy="2689694"/>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marL="342900" indent="-342900">
              <a:lnSpc>
                <a:spcPct val="110000"/>
              </a:lnSpc>
              <a:spcAft>
                <a:spcPts val="1600"/>
              </a:spcAft>
              <a:buClr>
                <a:srgbClr val="0070C0"/>
              </a:buClr>
              <a:buSzPct val="100000"/>
              <a:buFont typeface="+mj-lt"/>
              <a:buAutoNum type="arabicPeriod"/>
            </a:pPr>
            <a:r>
              <a:rPr lang="vi-VN" sz="1900">
                <a:solidFill>
                  <a:srgbClr val="1F2328"/>
                </a:solidFill>
                <a:latin typeface="Montserrat" pitchFamily="2" charset="0"/>
              </a:rPr>
              <a:t>Đo độ trễ tới DOM và hoàn tất quy trình bàn giao có người chạy lại.</a:t>
            </a:r>
          </a:p>
          <a:p>
            <a:pPr marL="342900" indent="-342900">
              <a:lnSpc>
                <a:spcPct val="110000"/>
              </a:lnSpc>
              <a:spcAft>
                <a:spcPts val="1600"/>
              </a:spcAft>
              <a:buClr>
                <a:srgbClr val="0070C0"/>
              </a:buClr>
              <a:buSzPct val="100000"/>
              <a:buFont typeface="+mj-lt"/>
              <a:buAutoNum type="arabicPeriod"/>
            </a:pPr>
            <a:r>
              <a:rPr lang="vi-VN" sz="1900">
                <a:solidFill>
                  <a:srgbClr val="1F2328"/>
                </a:solidFill>
                <a:latin typeface="Montserrat" pitchFamily="2" charset="0"/>
              </a:rPr>
              <a:t>Thử phần cứng thật: cảm biến, motor, khóa và cơ cấu thoát hiểm.</a:t>
            </a:r>
          </a:p>
          <a:p>
            <a:pPr marL="342900" indent="-342900">
              <a:lnSpc>
                <a:spcPct val="110000"/>
              </a:lnSpc>
              <a:spcAft>
                <a:spcPts val="1600"/>
              </a:spcAft>
              <a:buClr>
                <a:srgbClr val="0070C0"/>
              </a:buClr>
              <a:buSzPct val="100000"/>
              <a:buFont typeface="+mj-lt"/>
              <a:buAutoNum type="arabicPeriod"/>
            </a:pPr>
            <a:r>
              <a:rPr lang="vi-VN" sz="1900">
                <a:solidFill>
                  <a:srgbClr val="1F2328"/>
                </a:solidFill>
                <a:latin typeface="Montserrat" pitchFamily="2" charset="0"/>
              </a:rPr>
              <a:t>Tích hợp WMS, lịch ca, xuất kho và RFID cho hàng hóa.</a:t>
            </a:r>
            <a:endParaRPr lang="en-US" sz="1900">
              <a:solidFill>
                <a:srgbClr val="1F2328"/>
              </a:solidFill>
              <a:latin typeface="Montserrat" pitchFamily="2" charset="0"/>
            </a:endParaRPr>
          </a:p>
        </p:txBody>
      </p:sp>
      <p:sp>
        <p:nvSpPr>
          <p:cNvPr id="27" name="Panel">
            <a:extLst>
              <a:ext uri="{FF2B5EF4-FFF2-40B4-BE49-F238E27FC236}">
                <a16:creationId xmlns:a16="http://schemas.microsoft.com/office/drawing/2014/main" id="{ACC29B2E-FFCD-DF45-CBD0-26C4998623A4}"/>
              </a:ext>
            </a:extLst>
          </p:cNvPr>
          <p:cNvSpPr/>
          <p:nvPr/>
        </p:nvSpPr>
        <p:spPr>
          <a:xfrm>
            <a:off x="9296400" y="6860706"/>
            <a:ext cx="8318500" cy="2689694"/>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marL="457200" indent="-457200">
              <a:lnSpc>
                <a:spcPct val="110000"/>
              </a:lnSpc>
              <a:spcAft>
                <a:spcPts val="1600"/>
              </a:spcAft>
              <a:buClr>
                <a:srgbClr val="0070C0"/>
              </a:buClr>
              <a:buSzPct val="100000"/>
              <a:buFont typeface="+mj-lt"/>
              <a:buAutoNum type="arabicPeriod" startAt="4"/>
            </a:pPr>
            <a:r>
              <a:rPr lang="en-US" sz="1900">
                <a:solidFill>
                  <a:srgbClr val="1F2328"/>
                </a:solidFill>
                <a:latin typeface="Montserrat" pitchFamily="2" charset="0"/>
              </a:rPr>
              <a:t>Triển khai mạng/HTTPS và bảo vệ truy cập khi mở rộng ngoài localhost.</a:t>
            </a:r>
          </a:p>
          <a:p>
            <a:pPr marL="457200" indent="-457200">
              <a:lnSpc>
                <a:spcPct val="110000"/>
              </a:lnSpc>
              <a:spcAft>
                <a:spcPts val="1600"/>
              </a:spcAft>
              <a:buClr>
                <a:srgbClr val="0070C0"/>
              </a:buClr>
              <a:buSzPct val="100000"/>
              <a:buFont typeface="+mj-lt"/>
              <a:buAutoNum type="arabicPeriod" startAt="4"/>
            </a:pPr>
            <a:r>
              <a:rPr lang="en-US" sz="1900">
                <a:solidFill>
                  <a:srgbClr val="1F2328"/>
                </a:solidFill>
                <a:latin typeface="Montserrat" pitchFamily="2" charset="0"/>
              </a:rPr>
              <a:t>Đánh giá cảm biến bổ sung và hiệu quả vận hành bằng dữ liệu thực tế.</a:t>
            </a:r>
          </a:p>
        </p:txBody>
      </p:sp>
      <p:pic>
        <p:nvPicPr>
          <p:cNvPr id="29" name="Picture" descr="Các tầng có thể phát triển tiếp từ mô hình">
            <a:extLst>
              <a:ext uri="{FF2B5EF4-FFF2-40B4-BE49-F238E27FC236}">
                <a16:creationId xmlns:a16="http://schemas.microsoft.com/office/drawing/2014/main" id="{AA1E1B91-8AD9-3054-280D-CC0FA3AD13DF}"/>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3826035" y="2133600"/>
            <a:ext cx="10635929" cy="4422306"/>
          </a:xfrm>
          <a:prstGeom prst="rect">
            <a:avLst/>
          </a:prstGeom>
        </p:spPr>
      </p:pic>
      <p:sp>
        <p:nvSpPr>
          <p:cNvPr id="30" name="Slide Number">
            <a:extLst>
              <a:ext uri="{FF2B5EF4-FFF2-40B4-BE49-F238E27FC236}">
                <a16:creationId xmlns:a16="http://schemas.microsoft.com/office/drawing/2014/main" id="{D5376E11-B3FB-02E3-2BB1-8C3E3F10616A}"/>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Montserrat" pitchFamily="2" charset="0"/>
              </a:rPr>
              <a:t>32</a:t>
            </a:r>
          </a:p>
        </p:txBody>
      </p:sp>
    </p:spTree>
    <p:extLst>
      <p:ext uri="{BB962C8B-B14F-4D97-AF65-F5344CB8AC3E}">
        <p14:creationId xmlns:p14="http://schemas.microsoft.com/office/powerpoint/2010/main" val="12314644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823608"/>
            <a:chOff x="0" y="0"/>
            <a:chExt cx="24402453" cy="1098144"/>
          </a:xfrm>
        </p:grpSpPr>
        <p:sp>
          <p:nvSpPr>
            <p:cNvPr id="3" name="Freeform 3"/>
            <p:cNvSpPr/>
            <p:nvPr/>
          </p:nvSpPr>
          <p:spPr>
            <a:xfrm>
              <a:off x="0" y="0"/>
              <a:ext cx="24402414" cy="1098169"/>
            </a:xfrm>
            <a:custGeom>
              <a:avLst/>
              <a:gdLst/>
              <a:ahLst/>
              <a:cxnLst/>
              <a:rect l="l" t="t" r="r" b="b"/>
              <a:pathLst>
                <a:path w="24402414" h="1098169">
                  <a:moveTo>
                    <a:pt x="0" y="0"/>
                  </a:moveTo>
                  <a:lnTo>
                    <a:pt x="24402414" y="0"/>
                  </a:lnTo>
                  <a:lnTo>
                    <a:pt x="24402414" y="1098169"/>
                  </a:lnTo>
                  <a:lnTo>
                    <a:pt x="0" y="1098169"/>
                  </a:lnTo>
                  <a:close/>
                </a:path>
              </a:pathLst>
            </a:custGeom>
            <a:solidFill>
              <a:srgbClr val="000000"/>
            </a:solidFill>
          </p:spPr>
        </p:sp>
      </p:grpSp>
      <p:sp>
        <p:nvSpPr>
          <p:cNvPr id="4" name="TextBox 4"/>
          <p:cNvSpPr txBox="1"/>
          <p:nvPr/>
        </p:nvSpPr>
        <p:spPr>
          <a:xfrm>
            <a:off x="11072822" y="163935"/>
            <a:ext cx="6405944" cy="247650"/>
          </a:xfrm>
          <a:prstGeom prst="rect">
            <a:avLst/>
          </a:prstGeom>
        </p:spPr>
        <p:txBody>
          <a:bodyPr lIns="0" tIns="0" rIns="0" bIns="0" rtlCol="0" anchor="t">
            <a:spAutoFit/>
          </a:bodyPr>
          <a:lstStyle/>
          <a:p>
            <a:pPr algn="r">
              <a:lnSpc>
                <a:spcPts val="1801"/>
              </a:lnSpc>
            </a:pPr>
            <a:r>
              <a:rPr lang="en-US" sz="1501" b="1">
                <a:solidFill>
                  <a:srgbClr val="FFFFFF"/>
                </a:solidFill>
                <a:latin typeface="Roboto Bold"/>
                <a:ea typeface="Roboto Bold"/>
                <a:cs typeface="Roboto Bold"/>
                <a:sym typeface="Roboto Bold"/>
              </a:rPr>
              <a:t>KHOA CÔNG NGHỆ THÔNG TIN - HUIT</a:t>
            </a:r>
          </a:p>
        </p:txBody>
      </p:sp>
      <p:grpSp>
        <p:nvGrpSpPr>
          <p:cNvPr id="5" name="Group 5"/>
          <p:cNvGrpSpPr/>
          <p:nvPr/>
        </p:nvGrpSpPr>
        <p:grpSpPr>
          <a:xfrm>
            <a:off x="0" y="-12668"/>
            <a:ext cx="18288000" cy="1070038"/>
            <a:chOff x="0" y="0"/>
            <a:chExt cx="24384000" cy="1426718"/>
          </a:xfrm>
        </p:grpSpPr>
        <p:grpSp>
          <p:nvGrpSpPr>
            <p:cNvPr id="6" name="Group 6"/>
            <p:cNvGrpSpPr/>
            <p:nvPr/>
          </p:nvGrpSpPr>
          <p:grpSpPr>
            <a:xfrm>
              <a:off x="0" y="0"/>
              <a:ext cx="24384000" cy="1426718"/>
              <a:chOff x="0" y="0"/>
              <a:chExt cx="24384000" cy="1426718"/>
            </a:xfrm>
          </p:grpSpPr>
          <p:sp>
            <p:nvSpPr>
              <p:cNvPr id="7" name="Freeform 7"/>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8" name="Group 8"/>
            <p:cNvGrpSpPr/>
            <p:nvPr/>
          </p:nvGrpSpPr>
          <p:grpSpPr>
            <a:xfrm>
              <a:off x="637235" y="21336"/>
              <a:ext cx="6580797" cy="1370140"/>
              <a:chOff x="0" y="0"/>
              <a:chExt cx="6580797" cy="1370140"/>
            </a:xfrm>
          </p:grpSpPr>
          <p:sp>
            <p:nvSpPr>
              <p:cNvPr id="9" name="Freeform 9" descr="A black background with white text  Description automatically generated"/>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3"/>
                <a:stretch>
                  <a:fillRect l="-191" r="-192" b="4"/>
                </a:stretch>
              </a:blipFill>
            </p:spPr>
          </p:sp>
        </p:grpSp>
      </p:grpSp>
      <p:grpSp>
        <p:nvGrpSpPr>
          <p:cNvPr id="10" name="Group 10"/>
          <p:cNvGrpSpPr/>
          <p:nvPr/>
        </p:nvGrpSpPr>
        <p:grpSpPr>
          <a:xfrm>
            <a:off x="2663190" y="10082212"/>
            <a:ext cx="15624810" cy="204845"/>
            <a:chOff x="0" y="0"/>
            <a:chExt cx="20833080" cy="273126"/>
          </a:xfrm>
        </p:grpSpPr>
        <p:sp>
          <p:nvSpPr>
            <p:cNvPr id="11" name="Freeform 11"/>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grpSp>
        <p:nvGrpSpPr>
          <p:cNvPr id="12" name="Group 12"/>
          <p:cNvGrpSpPr/>
          <p:nvPr/>
        </p:nvGrpSpPr>
        <p:grpSpPr>
          <a:xfrm>
            <a:off x="2743238" y="10108759"/>
            <a:ext cx="15544724" cy="152705"/>
            <a:chOff x="0" y="0"/>
            <a:chExt cx="20726298" cy="203606"/>
          </a:xfrm>
        </p:grpSpPr>
        <p:sp>
          <p:nvSpPr>
            <p:cNvPr id="13" name="Freeform 13"/>
            <p:cNvSpPr/>
            <p:nvPr/>
          </p:nvSpPr>
          <p:spPr>
            <a:xfrm>
              <a:off x="0" y="0"/>
              <a:ext cx="20726273" cy="203581"/>
            </a:xfrm>
            <a:custGeom>
              <a:avLst/>
              <a:gdLst/>
              <a:ahLst/>
              <a:cxnLst/>
              <a:rect l="l" t="t" r="r" b="b"/>
              <a:pathLst>
                <a:path w="20726273" h="203581">
                  <a:moveTo>
                    <a:pt x="0" y="0"/>
                  </a:moveTo>
                  <a:lnTo>
                    <a:pt x="20726273" y="0"/>
                  </a:lnTo>
                  <a:lnTo>
                    <a:pt x="20726273" y="203581"/>
                  </a:lnTo>
                  <a:lnTo>
                    <a:pt x="0" y="203581"/>
                  </a:lnTo>
                  <a:lnTo>
                    <a:pt x="0" y="0"/>
                  </a:lnTo>
                  <a:close/>
                </a:path>
              </a:pathLst>
            </a:custGeom>
            <a:blipFill>
              <a:blip r:embed="rId4"/>
              <a:stretch>
                <a:fillRect b="-35745"/>
              </a:stretch>
            </a:blipFill>
          </p:spPr>
        </p:sp>
      </p:grpSp>
      <p:sp>
        <p:nvSpPr>
          <p:cNvPr id="14" name="TextBox 14"/>
          <p:cNvSpPr txBox="1"/>
          <p:nvPr/>
        </p:nvSpPr>
        <p:spPr>
          <a:xfrm>
            <a:off x="302009" y="10002231"/>
            <a:ext cx="2254501" cy="327536"/>
          </a:xfrm>
          <a:prstGeom prst="rect">
            <a:avLst/>
          </a:prstGeom>
        </p:spPr>
        <p:txBody>
          <a:bodyPr lIns="0" tIns="0" rIns="0" bIns="0" rtlCol="0" anchor="t">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id="16" name="Thanks">
            <a:extLst>
              <a:ext uri="{FF2B5EF4-FFF2-40B4-BE49-F238E27FC236}">
                <a16:creationId xmlns:a16="http://schemas.microsoft.com/office/drawing/2014/main" id="{D3CBF9A1-2270-230D-E833-C6AC5F54CF1E}"/>
              </a:ext>
            </a:extLst>
          </p:cNvPr>
          <p:cNvSpPr txBox="1"/>
          <p:nvPr/>
        </p:nvSpPr>
        <p:spPr>
          <a:xfrm>
            <a:off x="1270000" y="3403600"/>
            <a:ext cx="15748000" cy="369332"/>
          </a:xfrm>
          <a:prstGeom prst="rect">
            <a:avLst/>
          </a:prstGeom>
          <a:noFill/>
        </p:spPr>
        <p:txBody>
          <a:bodyPr vert="horz" wrap="square" lIns="0" tIns="0" rIns="0" bIns="0" rtlCol="0">
            <a:noAutofit/>
          </a:bodyPr>
          <a:lstStyle/>
          <a:p>
            <a:pPr algn="ctr"/>
            <a:r>
              <a:rPr lang="vi-VN" sz="4000" b="1">
                <a:solidFill>
                  <a:srgbClr val="1F2328"/>
                </a:solidFill>
                <a:latin typeface="Montserrat" pitchFamily="2" charset="0"/>
              </a:rPr>
              <a:t>CẢM ƠN THẦY CÔ VÀ CÁC BẠN ĐÃ LẮNG NGHE!</a:t>
            </a:r>
            <a:endParaRPr lang="en-US" sz="4000" b="1">
              <a:solidFill>
                <a:srgbClr val="1F2328"/>
              </a:solidFill>
              <a:latin typeface="Montserrat" pitchFamily="2" charset="0"/>
            </a:endParaRPr>
          </a:p>
        </p:txBody>
      </p:sp>
      <p:sp>
        <p:nvSpPr>
          <p:cNvPr id="17" name="Team">
            <a:extLst>
              <a:ext uri="{FF2B5EF4-FFF2-40B4-BE49-F238E27FC236}">
                <a16:creationId xmlns:a16="http://schemas.microsoft.com/office/drawing/2014/main" id="{9180A0AF-13ED-4A16-6A92-EC272BCC9142}"/>
              </a:ext>
            </a:extLst>
          </p:cNvPr>
          <p:cNvSpPr txBox="1"/>
          <p:nvPr/>
        </p:nvSpPr>
        <p:spPr>
          <a:xfrm>
            <a:off x="1270000" y="4394200"/>
            <a:ext cx="15748000" cy="369332"/>
          </a:xfrm>
          <a:prstGeom prst="rect">
            <a:avLst/>
          </a:prstGeom>
          <a:noFill/>
        </p:spPr>
        <p:txBody>
          <a:bodyPr vert="horz" wrap="square" lIns="0" tIns="0" rIns="0" bIns="0" rtlCol="0">
            <a:noAutofit/>
          </a:bodyPr>
          <a:lstStyle/>
          <a:p>
            <a:pPr algn="ctr"/>
            <a:r>
              <a:rPr lang="en-US" sz="2600" b="1">
                <a:solidFill>
                  <a:srgbClr val="0070C0"/>
                </a:solidFill>
                <a:latin typeface="Montserrat" pitchFamily="2" charset="0"/>
              </a:rPr>
              <a:t>Nhóm 17 — KhoGuard, Đề tài 42</a:t>
            </a:r>
          </a:p>
        </p:txBody>
      </p:sp>
      <p:sp>
        <p:nvSpPr>
          <p:cNvPr id="18" name="Panel">
            <a:extLst>
              <a:ext uri="{FF2B5EF4-FFF2-40B4-BE49-F238E27FC236}">
                <a16:creationId xmlns:a16="http://schemas.microsoft.com/office/drawing/2014/main" id="{3E0410A1-0152-9A71-25C2-296A98E897E7}"/>
              </a:ext>
            </a:extLst>
          </p:cNvPr>
          <p:cNvSpPr/>
          <p:nvPr/>
        </p:nvSpPr>
        <p:spPr>
          <a:xfrm>
            <a:off x="3810000" y="5334000"/>
            <a:ext cx="10668000" cy="1532594"/>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a:lnSpc>
                <a:spcPct val="110000"/>
              </a:lnSpc>
              <a:spcAft>
                <a:spcPts val="1700"/>
              </a:spcAft>
            </a:pPr>
            <a:r>
              <a:rPr lang="en-US" sz="2000">
                <a:solidFill>
                  <a:srgbClr val="1F2328"/>
                </a:solidFill>
                <a:latin typeface="Montserrat" pitchFamily="2" charset="0"/>
              </a:rPr>
              <a:t>Sẵn sàng demo: ra/vào RFID, chặn đóng, panic và giữ chỗ nhận hàng.</a:t>
            </a:r>
          </a:p>
          <a:p>
            <a:pPr>
              <a:lnSpc>
                <a:spcPct val="110000"/>
              </a:lnSpc>
              <a:spcAft>
                <a:spcPts val="1700"/>
              </a:spcAft>
            </a:pPr>
            <a:r>
              <a:rPr lang="en-US" sz="2000">
                <a:solidFill>
                  <a:srgbClr val="1F2328"/>
                </a:solidFill>
                <a:latin typeface="Montserrat" pitchFamily="2" charset="0"/>
              </a:rPr>
              <a:t>Trao đổi về kiến trúc, quy tắc an toàn và kết quả kiểm thử.</a:t>
            </a:r>
          </a:p>
        </p:txBody>
      </p:sp>
    </p:spTree>
    <p:extLst>
      <p:ext uri="{BB962C8B-B14F-4D97-AF65-F5344CB8AC3E}">
        <p14:creationId xmlns:p14="http://schemas.microsoft.com/office/powerpoint/2010/main" val="10776100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3604</Words>
  <Application>Microsoft Office PowerPoint</Application>
  <PresentationFormat>Custom</PresentationFormat>
  <Paragraphs>364</Paragraphs>
  <Slides>33</Slides>
  <Notes>33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Roboto</vt:lpstr>
      <vt:lpstr>Arial Bold</vt:lpstr>
      <vt:lpstr>Calibri (MS)</vt:lpstr>
      <vt:lpstr>Roboto Bold</vt:lpstr>
      <vt:lpstr>Montserrat</vt:lpstr>
      <vt:lpstr>Montserrat Ultra-Bold</vt:lpstr>
      <vt:lpstr>Arial</vt:lpstr>
      <vt:lpstr>Consolas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Apache Flink</dc:title>
  <cp:lastModifiedBy>Bùi Hữu Lộc</cp:lastModifiedBy>
  <cp:revision>5</cp:revision>
  <dcterms:created xsi:type="dcterms:W3CDTF">2006-08-16T00:00:00Z</dcterms:created>
  <dcterms:modified xsi:type="dcterms:W3CDTF">2026-10-13T15:32:23Z</dcterms:modified>
  <dc:identifier>DAHVEfz4OII</dc:identifier>
</cp:coreProperties>
</file>