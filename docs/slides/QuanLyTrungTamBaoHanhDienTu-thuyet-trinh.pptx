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</p:sldIdLst>
  <p:sldSz cx="18288000" cy="10287000"/>
  <p:notesSz cx="6858000" cy="9144000"/>
  <p:embeddedFontLst>
    <p:embeddedFont>
      <p:font typeface="Arial Bold" panose="020B0704020202020204" pitchFamily="34" charset="0"/>
      <p:regular r:id="rId31"/>
      <p:bold r:id="rId32"/>
    </p:embeddedFont>
    <p:embeddedFont>
      <p:font typeface="Calibri (MS)" panose="020B0604020202020204" charset="0"/>
      <p:regular r:id="rId33"/>
    </p:embeddedFont>
    <p:embeddedFont>
      <p:font typeface="Montserrat" pitchFamily="2" charset="0"/>
      <p:regular r:id="rId34"/>
      <p:bold r:id="rId35"/>
    </p:embeddedFont>
    <p:embeddedFont>
      <p:font typeface="Montserrat Ultra-Bold" panose="020B0604020202020204" charset="0"/>
      <p:regular r:id="rId36"/>
    </p:embeddedFont>
    <p:embeddedFont>
      <p:font typeface="Roboto" panose="02000000000000000000" pitchFamily="2" charset="0"/>
      <p:regular r:id="rId37"/>
    </p:embeddedFont>
    <p:embeddedFont>
      <p:font typeface="Roboto Bold" panose="02000000000000000000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915A7-CEA0-4EFF-983A-1F76B2017C4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19A2C-9D34-41D1-AA70-E8C08A39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8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Giới thiệu nhóm, giảng viên hướng dẫn và tên đề tài.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67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Bài trình bày gồm năm phần theo đúng cấu trúc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05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Nêu lý do chọn đề tài và điểm đau của trung tâm bảo hành khi vận hành thủ công.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Đi từ nhu cầu của từng vai trò, sau đó chi tiết hóa ở chương phân tích và thiết kế.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mẫu giấy là căn cứ để thiết kế các collection và luồng dữ liệu ở chương sau.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Đây là Hình 2.1 trong báo cáo; mô tả ai làm gì, dẫn tới mô hình hóa quy trình và đặc tả usecase.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Bảy quy trình khớp với mô hình hóa nghiệp vụ trong báo cáo; nhấn mạnh luồng có phí và luồng bảo hành miễn phí.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Hình 2.9 trong báo cáo; chọn hai usecase đại diện để minh họa đặc tả, không đọc toàn bộ.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Mô tả kiến trúc 3 tầng: giao diện React, API .NET và MongoDB với tệp đính kèm trên đĩa.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Chỉ điểm các nhóm collection chính; chi tiết ERD ở slide kế tiếp.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Giải thích lựa chọn nhúng vs tham chiếu theo kiểu truy cập của từng luồng nghiệp vụ.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Điểm qua 14 màn hình trong mục 3.3; nhấn mạnh đăng nhập chung và responsive.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Năm nhóm khớp với mục 3.4 báo cáo; mỗi nhóm đều có chức năng con và phân quyền riêng.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Mô tả cách dựng môi trường local bằng một lệnh run.bat.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Nhấn mạnh tổ chức hai project backend/frontend và cấu hình database độc lập.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Đây là các quyết định kỹ thuật bảo đảm nhất quán; giải thích vì sao bộ đếm nằm ngoài transaction.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Backend 73/73 là kết quả ngày 21/10/2026; frontend 25/25, 102 smoke và 10 integration là số liệu lịch sử ngày 09/10, chưa chạy lại cùng lượt. Bộ test mới bao gồm nhánh commit bị hủy: giữ tệp, không bù trừ; token hủy trước khi lệnh tới server, chưa thử trường hợp server đã commit nhưng client hết giờ chờ.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Các luồng kiểm thử khớp với mục 5.3 báo cáo; có thể mở API demo nếu có thời gian.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Bằng chứng giao diện có trong docs/screenshots; nhấn mạnh đăng nhập chung và responsive.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Ngày 21/10/2026, migration index account_username_collated (unique, en/strength 2) đã chạy trên soopi_mongodb sau sao lưu và kiểm tra username trùng. Ca 8 nhân viên × 3 vòng PATCH chỉ chạy trên bản sao soopi_mongodb_verify_20261021: 24/24 HTTP 200. F-01 chỉ kiểm lại lưới Tồn kho trên DB riêng soopi_ui_f01_20261021: LK-PIN hiện Laptop, lọc trả 1 SKU, đủ 6 nhóm; giữ nguyên FAIL lịch sử 09/10. Test TransactionRunner: commit bị hủy do hết thời gian chờ thì giữ tệp, không bù trừ; token hủy trước khi lệnh tới server, chưa phủ server đã commit nhưng client hết giờ chờ. Dọn tệp khi transaction rollback vẫn giữ nguyên. Cả bộ backend đạt 73/73, không bỏ qua test.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Tổng kết ngày 21/10/2026: 73/73 backend, migration đã chạy trên soopi_mongodb; 8×3 PATCH trên bản sao soopi_mongodb_verify_20261021. F-01 PASS chỉ tại lưới Tồn kho trên soopi_ui_f01_20261021, không thay FAIL ngày 09/10 hoặc suy rộng ra toàn UI. Test commit bị hủy không phủ server đã commit nhưng client hết giờ chờ.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Ưu tiên đóng các giới hạn đã ghi nhận trước khi mở rộng quy mô.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Cảm ơn và mời đặt câu hỏi; giữ API chạy sẵn để demo nếu cần.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79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21281"/>
            <a:ext cx="2254501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910012" y="84315"/>
            <a:ext cx="1045272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TRƯỜNG ĐẠI HỌC CÔNG THƯƠNG THÀNH PHỐ HỒ CHÍ MINH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3" name="Freeform 13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4" name="Course">
            <a:extLst>
              <a:ext uri="{FF2B5EF4-FFF2-40B4-BE49-F238E27FC236}">
                <a16:creationId xmlns:a16="http://schemas.microsoft.com/office/drawing/2014/main" id="{486AFFCB-F5A0-2B01-EBE1-F83B794A08E2}"/>
              </a:ext>
            </a:extLst>
          </p:cNvPr>
          <p:cNvSpPr txBox="1"/>
          <p:nvPr/>
        </p:nvSpPr>
        <p:spPr>
          <a:xfrm>
            <a:off x="1524000" y="15240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4400" b="1">
                <a:solidFill>
                  <a:srgbClr val="ED1C24"/>
                </a:solidFill>
                <a:latin typeface="Montserrat" pitchFamily="2" charset="0"/>
              </a:rPr>
              <a:t>CƠ SỞ DỮ LIỆU NOSQL</a:t>
            </a:r>
            <a:endParaRPr lang="en-US" sz="4400" b="1">
              <a:solidFill>
                <a:srgbClr val="ED1C24"/>
              </a:solidFill>
              <a:latin typeface="Montserrat" pitchFamily="2" charset="0"/>
            </a:endParaRPr>
          </a:p>
        </p:txBody>
      </p:sp>
      <p:sp>
        <p:nvSpPr>
          <p:cNvPr id="15" name="Product">
            <a:extLst>
              <a:ext uri="{FF2B5EF4-FFF2-40B4-BE49-F238E27FC236}">
                <a16:creationId xmlns:a16="http://schemas.microsoft.com/office/drawing/2014/main" id="{8BC1B1AD-FDAC-110A-E66A-7AB3C9C0E6B1}"/>
              </a:ext>
            </a:extLst>
          </p:cNvPr>
          <p:cNvSpPr txBox="1"/>
          <p:nvPr/>
        </p:nvSpPr>
        <p:spPr>
          <a:xfrm>
            <a:off x="762000" y="2489200"/>
            <a:ext cx="167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600" b="1">
                <a:solidFill>
                  <a:srgbClr val="00529C"/>
                </a:solidFill>
                <a:latin typeface="Montserrat" pitchFamily="2" charset="0"/>
              </a:rPr>
              <a:t>SOOPI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855DACD8-5BCB-00C0-D7B3-9C9191391DA0}"/>
              </a:ext>
            </a:extLst>
          </p:cNvPr>
          <p:cNvSpPr txBox="1"/>
          <p:nvPr/>
        </p:nvSpPr>
        <p:spPr>
          <a:xfrm>
            <a:off x="1524000" y="43180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Hệ thống quản lý trung tâm bảo hành điện tử trên nền MongoDB</a:t>
            </a:r>
          </a:p>
        </p:txBody>
      </p:sp>
      <p:sp>
        <p:nvSpPr>
          <p:cNvPr id="17" name="Advisor">
            <a:extLst>
              <a:ext uri="{FF2B5EF4-FFF2-40B4-BE49-F238E27FC236}">
                <a16:creationId xmlns:a16="http://schemas.microsoft.com/office/drawing/2014/main" id="{E9F1FCB4-1EF0-024A-F546-257FB62B21DD}"/>
              </a:ext>
            </a:extLst>
          </p:cNvPr>
          <p:cNvSpPr txBox="1"/>
          <p:nvPr/>
        </p:nvSpPr>
        <p:spPr>
          <a:xfrm>
            <a:off x="1524000" y="58674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 b="1">
                <a:solidFill>
                  <a:srgbClr val="1F2328"/>
                </a:solidFill>
                <a:latin typeface="Montserrat" pitchFamily="2" charset="0"/>
              </a:rPr>
              <a:t>GVHD: Hồ Trung Đoàn</a:t>
            </a:r>
          </a:p>
        </p:txBody>
      </p:sp>
      <p:sp>
        <p:nvSpPr>
          <p:cNvPr id="23" name="Members">
            <a:extLst>
              <a:ext uri="{FF2B5EF4-FFF2-40B4-BE49-F238E27FC236}">
                <a16:creationId xmlns:a16="http://schemas.microsoft.com/office/drawing/2014/main" id="{4ED83156-C348-7CA9-9CB6-3B8E313DDB23}"/>
              </a:ext>
            </a:extLst>
          </p:cNvPr>
          <p:cNvSpPr txBox="1"/>
          <p:nvPr/>
        </p:nvSpPr>
        <p:spPr>
          <a:xfrm>
            <a:off x="1524000" y="64516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>
                <a:solidFill>
                  <a:srgbClr val="1F2328"/>
                </a:solidFill>
                <a:latin typeface="Montserrat" pitchFamily="2" charset="0"/>
              </a:rPr>
              <a:t>Nhóm 2 — Đỗ Lê Thanh Mẫn · Bùi Hữu Lộc · Phan Minh Thiện</a:t>
            </a:r>
          </a:p>
        </p:txBody>
      </p:sp>
    </p:spTree>
    <p:extLst>
      <p:ext uri="{BB962C8B-B14F-4D97-AF65-F5344CB8AC3E}">
        <p14:creationId xmlns:p14="http://schemas.microsoft.com/office/powerpoint/2010/main" val="170124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53483" y="3102350"/>
            <a:ext cx="15643796" cy="6586477"/>
            <a:chOff x="0" y="0"/>
            <a:chExt cx="4120177" cy="17347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20177" cy="1734710"/>
            </a:xfrm>
            <a:custGeom>
              <a:avLst/>
              <a:gdLst/>
              <a:ahLst/>
              <a:cxnLst/>
              <a:rect l="l" t="t" r="r" b="b"/>
              <a:pathLst>
                <a:path w="4120177" h="1734710">
                  <a:moveTo>
                    <a:pt x="49489" y="0"/>
                  </a:moveTo>
                  <a:lnTo>
                    <a:pt x="4070688" y="0"/>
                  </a:lnTo>
                  <a:cubicBezTo>
                    <a:pt x="4098020" y="0"/>
                    <a:pt x="4120177" y="22157"/>
                    <a:pt x="4120177" y="49489"/>
                  </a:cubicBezTo>
                  <a:lnTo>
                    <a:pt x="4120177" y="1685221"/>
                  </a:lnTo>
                  <a:cubicBezTo>
                    <a:pt x="4120177" y="1712553"/>
                    <a:pt x="4098020" y="1734710"/>
                    <a:pt x="4070688" y="1734710"/>
                  </a:cubicBezTo>
                  <a:lnTo>
                    <a:pt x="49489" y="1734710"/>
                  </a:lnTo>
                  <a:cubicBezTo>
                    <a:pt x="36364" y="1734710"/>
                    <a:pt x="23776" y="1729496"/>
                    <a:pt x="14495" y="1720215"/>
                  </a:cubicBezTo>
                  <a:cubicBezTo>
                    <a:pt x="5214" y="1710934"/>
                    <a:pt x="0" y="1698347"/>
                    <a:pt x="0" y="1685221"/>
                  </a:cubicBezTo>
                  <a:lnTo>
                    <a:pt x="0" y="49489"/>
                  </a:lnTo>
                  <a:cubicBezTo>
                    <a:pt x="0" y="22157"/>
                    <a:pt x="22157" y="0"/>
                    <a:pt x="49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4120177" cy="1725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29266" y="1413030"/>
            <a:ext cx="6229468" cy="1089245"/>
            <a:chOff x="0" y="0"/>
            <a:chExt cx="884588" cy="1546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4588" cy="154673"/>
            </a:xfrm>
            <a:custGeom>
              <a:avLst/>
              <a:gdLst/>
              <a:ahLst/>
              <a:cxnLst/>
              <a:rect l="l" t="t" r="r" b="b"/>
              <a:pathLst>
                <a:path w="884588" h="154673">
                  <a:moveTo>
                    <a:pt x="19419" y="0"/>
                  </a:moveTo>
                  <a:lnTo>
                    <a:pt x="865170" y="0"/>
                  </a:lnTo>
                  <a:cubicBezTo>
                    <a:pt x="870320" y="0"/>
                    <a:pt x="875259" y="2046"/>
                    <a:pt x="878901" y="5688"/>
                  </a:cubicBezTo>
                  <a:cubicBezTo>
                    <a:pt x="882542" y="9329"/>
                    <a:pt x="884588" y="14268"/>
                    <a:pt x="884588" y="19419"/>
                  </a:cubicBezTo>
                  <a:lnTo>
                    <a:pt x="884588" y="135255"/>
                  </a:lnTo>
                  <a:cubicBezTo>
                    <a:pt x="884588" y="145979"/>
                    <a:pt x="875894" y="154673"/>
                    <a:pt x="865170" y="154673"/>
                  </a:cubicBezTo>
                  <a:lnTo>
                    <a:pt x="19419" y="154673"/>
                  </a:lnTo>
                  <a:cubicBezTo>
                    <a:pt x="8694" y="154673"/>
                    <a:pt x="0" y="145979"/>
                    <a:pt x="0" y="135255"/>
                  </a:cubicBezTo>
                  <a:lnTo>
                    <a:pt x="0" y="19419"/>
                  </a:lnTo>
                  <a:cubicBezTo>
                    <a:pt x="0" y="8694"/>
                    <a:pt x="8694" y="0"/>
                    <a:pt x="19419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84588" cy="16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793111" y="1667140"/>
            <a:ext cx="470177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NỘI DUNG CHÍNH</a:t>
            </a:r>
          </a:p>
        </p:txBody>
      </p:sp>
      <p:sp>
        <p:nvSpPr>
          <p:cNvPr id="12" name="Chapter 1">
            <a:extLst>
              <a:ext uri="{FF2B5EF4-FFF2-40B4-BE49-F238E27FC236}">
                <a16:creationId xmlns:a16="http://schemas.microsoft.com/office/drawing/2014/main" id="{35B6F778-C06C-F44B-E453-1C9E7B917207}"/>
              </a:ext>
            </a:extLst>
          </p:cNvPr>
          <p:cNvSpPr txBox="1"/>
          <p:nvPr/>
        </p:nvSpPr>
        <p:spPr>
          <a:xfrm>
            <a:off x="2133600" y="3632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1. Khảo sát hệ thống</a:t>
            </a:r>
          </a:p>
        </p:txBody>
      </p:sp>
      <p:sp>
        <p:nvSpPr>
          <p:cNvPr id="17" name="Chapter 2">
            <a:extLst>
              <a:ext uri="{FF2B5EF4-FFF2-40B4-BE49-F238E27FC236}">
                <a16:creationId xmlns:a16="http://schemas.microsoft.com/office/drawing/2014/main" id="{DBDCB790-26AF-5151-D5E3-3ACAA2587550}"/>
              </a:ext>
            </a:extLst>
          </p:cNvPr>
          <p:cNvSpPr txBox="1"/>
          <p:nvPr/>
        </p:nvSpPr>
        <p:spPr>
          <a:xfrm>
            <a:off x="2133600" y="5029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2. Phân tích hệ thống</a:t>
            </a:r>
          </a:p>
        </p:txBody>
      </p:sp>
      <p:sp>
        <p:nvSpPr>
          <p:cNvPr id="18" name="Chapter 3">
            <a:extLst>
              <a:ext uri="{FF2B5EF4-FFF2-40B4-BE49-F238E27FC236}">
                <a16:creationId xmlns:a16="http://schemas.microsoft.com/office/drawing/2014/main" id="{13E36B75-DB7D-EB37-0104-7C4BA44CD529}"/>
              </a:ext>
            </a:extLst>
          </p:cNvPr>
          <p:cNvSpPr txBox="1"/>
          <p:nvPr/>
        </p:nvSpPr>
        <p:spPr>
          <a:xfrm>
            <a:off x="2133600" y="6426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3. Thiết kế hệ thống</a:t>
            </a:r>
          </a:p>
        </p:txBody>
      </p:sp>
      <p:sp>
        <p:nvSpPr>
          <p:cNvPr id="19" name="Chapter 4">
            <a:extLst>
              <a:ext uri="{FF2B5EF4-FFF2-40B4-BE49-F238E27FC236}">
                <a16:creationId xmlns:a16="http://schemas.microsoft.com/office/drawing/2014/main" id="{B63A729E-2540-86F6-2F04-63F8F88192D4}"/>
              </a:ext>
            </a:extLst>
          </p:cNvPr>
          <p:cNvSpPr txBox="1"/>
          <p:nvPr/>
        </p:nvSpPr>
        <p:spPr>
          <a:xfrm>
            <a:off x="2133600" y="7823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4. Cài đặt hệ thống</a:t>
            </a:r>
          </a:p>
        </p:txBody>
      </p:sp>
      <p:sp>
        <p:nvSpPr>
          <p:cNvPr id="20" name="Chapter 5">
            <a:extLst>
              <a:ext uri="{FF2B5EF4-FFF2-40B4-BE49-F238E27FC236}">
                <a16:creationId xmlns:a16="http://schemas.microsoft.com/office/drawing/2014/main" id="{41D2A9F7-9DCF-585C-E8D7-37D776CE498B}"/>
              </a:ext>
            </a:extLst>
          </p:cNvPr>
          <p:cNvSpPr txBox="1"/>
          <p:nvPr/>
        </p:nvSpPr>
        <p:spPr>
          <a:xfrm>
            <a:off x="2133600" y="9220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5. Thử nghiệm và triển khai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284BF9C7-75B7-316C-0213-7548482BFD63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376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16386253-6183-70BD-AA72-581EB5196E3D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1. Khảo sát hệ thống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59BCFA55-A956-173B-64EB-67DC30D507BE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606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B5BC347-5A3D-94DD-A424-9AEE705A0E5E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Bài toán và hiện trạng</a:t>
            </a:r>
          </a:p>
        </p:txBody>
      </p:sp>
      <p:pic>
        <p:nvPicPr>
          <p:cNvPr id="11" name="Picture" descr="Giao diện lễ tân tiếp nhận thiết bị">
            <a:extLst>
              <a:ext uri="{FF2B5EF4-FFF2-40B4-BE49-F238E27FC236}">
                <a16:creationId xmlns:a16="http://schemas.microsoft.com/office/drawing/2014/main" id="{AF4E610A-2C35-B9F8-C0EB-1C9304712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3468817"/>
            <a:ext cx="8432800" cy="4746366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BBD776F9-3000-914C-6D5C-B5DAA6BC0BDF}"/>
              </a:ext>
            </a:extLst>
          </p:cNvPr>
          <p:cNvSpPr/>
          <p:nvPr/>
        </p:nvSpPr>
        <p:spPr>
          <a:xfrm>
            <a:off x="9410700" y="2133599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Trung tâm bảo hành tiếp nhận thiết bị, chẩn đoán, báo giá, sửa chữa và bàn giao.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Hồ sơ khách hàng, thiết bị và phiếu nằm rời rạc; thao tác thủ công dễ sai sót.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Khách cần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theo dõi tiến độ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bảo hành/sửa chữa mọi lúc, không phải gọi điện.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Trung tâm cần quản lý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linh kiện, tồn kho, báo giá và thanh toán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trong một hệ thống.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Quy trình có nhiều bước và vai trò, cần phân quyền và truy vết rõ ràng.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6C1339E-49E6-5249-92E3-A506A17DC55D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4830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0B2852B-81B3-827B-E8B2-18E25EE41385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Yêu cầu chức năng theo vai trò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853FDD1F-9B80-FAFF-1B3B-D2D035492A7A}"/>
              </a:ext>
            </a:extLst>
          </p:cNvPr>
          <p:cNvSpPr/>
          <p:nvPr/>
        </p:nvSpPr>
        <p:spPr>
          <a:xfrm>
            <a:off x="673100" y="2133600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Khách hàng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Đăng ký thiết bị, gửi yêu cầu bảo hành trực tuyến.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Tra cứu tiến độ phiếu và lịch sử bảo hành.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Xem và duyệt/từ chối báo giá sửa chữa.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A585F11F-AE10-D9E7-DFD7-8193ACEF78F9}"/>
              </a:ext>
            </a:extLst>
          </p:cNvPr>
          <p:cNvSpPr/>
          <p:nvPr/>
        </p:nvSpPr>
        <p:spPr>
          <a:xfrm>
            <a:off x="9296400" y="2133600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Lễ tân · Điều phối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Tiếp nhận thiết bị, lập phiếu T1.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Phân công kỹ thuật viên, theo dõi hàng đợi.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Tra cứu khách, thiết bị và tình trạng bảo hành.</a:t>
            </a:r>
          </a:p>
        </p:txBody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6F85C9CC-766E-50CC-87E8-2ED27CB80DEE}"/>
              </a:ext>
            </a:extLst>
          </p:cNvPr>
          <p:cNvSpPr/>
          <p:nvPr/>
        </p:nvSpPr>
        <p:spPr>
          <a:xfrm>
            <a:off x="673100" y="5994400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Kỹ thuật · Thủ kho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Chẩn đoán lỗi, lập báo giá, cập nhật tiến độ.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Ghi nhận kết quả KCS (PASS/FAIL).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Nhập/xuất linh kiện, trừ tồn theo kệ.</a:t>
            </a:r>
          </a:p>
        </p:txBody>
      </p:sp>
      <p:sp>
        <p:nvSpPr>
          <p:cNvPr id="13" name="Panel">
            <a:extLst>
              <a:ext uri="{FF2B5EF4-FFF2-40B4-BE49-F238E27FC236}">
                <a16:creationId xmlns:a16="http://schemas.microsoft.com/office/drawing/2014/main" id="{A97B3185-831B-1E88-39A2-8AA194AA774D}"/>
              </a:ext>
            </a:extLst>
          </p:cNvPr>
          <p:cNvSpPr/>
          <p:nvPr/>
        </p:nvSpPr>
        <p:spPr>
          <a:xfrm>
            <a:off x="9296400" y="5994400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Thu ngân · Quản trị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Thu tiền, bàn giao thiết bị và chữ ký.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Quản lý tài khoản, danh mục, bảng giá.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Báo cáo doanh thu, lead time và tồn kho.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78AC2E4D-527F-BD04-DA4B-6CDA75966AA4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3618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881B637-6F33-D025-D56E-F9DB89118333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Biểu mẫu và phạm vi khảo sát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F51EEBCE-02BD-01C2-8F13-AF2180088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163231"/>
              </p:ext>
            </p:extLst>
          </p:nvPr>
        </p:nvGraphicFramePr>
        <p:xfrm>
          <a:off x="673100" y="3699933"/>
          <a:ext cx="9652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849">
                  <a:extLst>
                    <a:ext uri="{9D8B030D-6E8A-4147-A177-3AD203B41FA5}">
                      <a16:colId xmlns:a16="http://schemas.microsoft.com/office/drawing/2014/main" val="2660772566"/>
                    </a:ext>
                  </a:extLst>
                </a:gridCol>
                <a:gridCol w="6727152">
                  <a:extLst>
                    <a:ext uri="{9D8B030D-6E8A-4147-A177-3AD203B41FA5}">
                      <a16:colId xmlns:a16="http://schemas.microsoft.com/office/drawing/2014/main" val="275693886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Biểu mẫu thu thập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Thông tin chính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10788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Phiếu tiếp nhận (T1)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Khách, thiết bị, serial, tình trạng, người nhận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9968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Phiếu báo giá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Linh kiện, đơn giá, phí dịch vụ, trạng thái duyệt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22688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Phiếu bàn giao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Kết quả sửa chữa, QC, chữ ký khách và trung tâm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81124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Phiếu nhập/xuất kho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Linh kiện, số lượng, kệ, kho và người xác nhận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318472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E89AFBF4-0212-7C81-1A4B-ADFD33028732}"/>
              </a:ext>
            </a:extLst>
          </p:cNvPr>
          <p:cNvSpPr/>
          <p:nvPr/>
        </p:nvSpPr>
        <p:spPr>
          <a:xfrm>
            <a:off x="10629900" y="3699933"/>
            <a:ext cx="6985000" cy="2717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Phạm vi: quy trình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tiếp nhận → bảo hành/sửa chữa → bàn giao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và các chứng từ kho, thu tiền đi kèm.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Không khảo sát: kế toán tổng hợp, nhân sự, và kênh bán hàng ngoài trung tâm bảo hành.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277CE555-A757-AE4F-09E8-D975A8AE050A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4150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C52941B-2AC3-336F-A54D-24BA0E7890A6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2. Phân tích hệ thống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87AAA45-7C65-F66D-5ED8-A3D72B100600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0665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D53BE91-F805-CCF0-D2B1-FFC5AF0E65F9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Sơ đồ usecase nghiệp vụ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pic>
        <p:nvPicPr>
          <p:cNvPr id="11" name="Picture" descr="Sơ đồ use case nghiệp vụ của trung tâm bảo hành">
            <a:extLst>
              <a:ext uri="{FF2B5EF4-FFF2-40B4-BE49-F238E27FC236}">
                <a16:creationId xmlns:a16="http://schemas.microsoft.com/office/drawing/2014/main" id="{02A4ECD0-2F3A-527D-602B-13885CA97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3538027"/>
            <a:ext cx="8432800" cy="4607946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62722181-5538-E9F9-11B0-B2D2EC8C1845}"/>
              </a:ext>
            </a:extLst>
          </p:cNvPr>
          <p:cNvSpPr/>
          <p:nvPr/>
        </p:nvSpPr>
        <p:spPr>
          <a:xfrm>
            <a:off x="9410700" y="2133599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Tác nhân: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Khách hàng, Lễ tân, Điều phối, Kỹ thuật viên, Thủ kho, Thu ngân, Quản trị.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Khách gửi yêu cầu, theo dõi tiến độ và duyệt báo giá qua cổng web.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Lễ tân tiếp nhận thiết bị; điều phối phân công công việc.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Kỹ thuật chẩn đoán và sửa chữa; thủ kho xuất linh kiện; thu ngân thu tiền và bàn giao.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Quản trị cấu hình danh mục, tài khoản và phân quyền.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EC1D8122-DEF2-74C8-8EAF-7A2F45E1B42D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140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55CC636-1AA8-1282-3547-6240C6149782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Bảy quy trình nghiệp vụ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DB82DED6-EC01-9339-743A-05E65E163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357813"/>
              </p:ext>
            </p:extLst>
          </p:nvPr>
        </p:nvGraphicFramePr>
        <p:xfrm>
          <a:off x="673100" y="2133600"/>
          <a:ext cx="169418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2219">
                  <a:extLst>
                    <a:ext uri="{9D8B030D-6E8A-4147-A177-3AD203B41FA5}">
                      <a16:colId xmlns:a16="http://schemas.microsoft.com/office/drawing/2014/main" val="2167596626"/>
                    </a:ext>
                  </a:extLst>
                </a:gridCol>
                <a:gridCol w="11989581">
                  <a:extLst>
                    <a:ext uri="{9D8B030D-6E8A-4147-A177-3AD203B41FA5}">
                      <a16:colId xmlns:a16="http://schemas.microsoft.com/office/drawing/2014/main" val="22988676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Quy trình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Hoạt động chính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937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Yêu cầu &amp; Tiếp nhận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Đăng ký thiết bị, lập phiếu, từ chối trùng phiếu mở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0995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Thực hiện bảo hành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Phân công, chẩn đoán, phân loại miễn phí / tính phí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3813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Báo giá &amp; Xác nhận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Lập báo giá, duyệt nội bộ, khách đồng ý / từ chối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8376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Thực hiện sửa chữa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Cập nhật tiến độ, giữ linh kiện, xuất kho, KCS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24490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Bàn giao thiết bị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QC, thu tiền, chữ ký, bàn giao cho khách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7354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Tra cứu tiến độ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Khách theo dõi phiếu và lịch sử qua cổng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36663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Nhập linh kiện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Lập và duyệt phiếu nhập, cập nhật tồn theo kệ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619071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DBF9818A-AF66-15B6-CE54-41AD0839C6C9}"/>
              </a:ext>
            </a:extLst>
          </p:cNvPr>
          <p:cNvSpPr/>
          <p:nvPr/>
        </p:nvSpPr>
        <p:spPr>
          <a:xfrm>
            <a:off x="673100" y="6299199"/>
            <a:ext cx="16941800" cy="3251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Mỗi quy trình ánh xạ tới một nhóm chức năng và một tập collection trong MongoDB.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Luồng có phí đi qua báo giá và giữ linh kiện; luồng bảo hành miễn phí bỏ qua bước thu tiền.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Khách theo dõi tiến độ qua cổng ở mọi trạng thái của phiếu.</a:t>
            </a:r>
            <a:endParaRPr lang="en-US" sz="22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B9AF9DC-89A4-574E-94A2-DDC29739A9CD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6917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31D731E-DC55-70A1-C0B4-CCC3C35BB214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Sơ đồ usecase hệ thống &amp; đặc tả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pic>
        <p:nvPicPr>
          <p:cNvPr id="11" name="Picture" descr="Sơ đồ use case hệ thống quản lý trung tâm bảo hành">
            <a:extLst>
              <a:ext uri="{FF2B5EF4-FFF2-40B4-BE49-F238E27FC236}">
                <a16:creationId xmlns:a16="http://schemas.microsoft.com/office/drawing/2014/main" id="{2726E557-A4D8-11DF-FFC7-F20918E6F6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100" y="3358978"/>
            <a:ext cx="8432800" cy="4966044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422777F4-9AE0-C002-DCE6-2B106364624F}"/>
              </a:ext>
            </a:extLst>
          </p:cNvPr>
          <p:cNvSpPr/>
          <p:nvPr/>
        </p:nvSpPr>
        <p:spPr>
          <a:xfrm>
            <a:off x="673100" y="2133600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Sơ đồ usecase hệ thống mở rộng từ usecase nghiệp vụ, gắn từng nhóm chức năng với tác nhân.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Đặc tả từng usecase: tác nhân, tiền điều kiện, luồng chính và luồng ngoại lệ.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Ví dụ “Tiếp nhận thiết bị”: kiểm tra serial, hạn bảo hành và phiếu mở trùng.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Ví dụ “Xác nhận báo giá”: khách duyệt thì giữ linh kiện, xuất kho và trừ tồn.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9BE4A9D-23F8-8031-5CAF-6B5104B70CD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655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6E941AB-9513-6F90-88BE-DD13D3C678A6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3. Thiết kế hệ thống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C9494BC4-62DA-45DE-A2EB-DA6FF671E872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70203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B55639E5-7A65-7898-FEBA-EDB6B60C35D7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Kiến trúc 3 tầng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79FB3418-FCCC-205F-615B-CFDB150A7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422478"/>
              </p:ext>
            </p:extLst>
          </p:nvPr>
        </p:nvGraphicFramePr>
        <p:xfrm>
          <a:off x="673100" y="3530033"/>
          <a:ext cx="965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909">
                  <a:extLst>
                    <a:ext uri="{9D8B030D-6E8A-4147-A177-3AD203B41FA5}">
                      <a16:colId xmlns:a16="http://schemas.microsoft.com/office/drawing/2014/main" val="3224596920"/>
                    </a:ext>
                  </a:extLst>
                </a:gridCol>
                <a:gridCol w="3509818">
                  <a:extLst>
                    <a:ext uri="{9D8B030D-6E8A-4147-A177-3AD203B41FA5}">
                      <a16:colId xmlns:a16="http://schemas.microsoft.com/office/drawing/2014/main" val="1520550585"/>
                    </a:ext>
                  </a:extLst>
                </a:gridCol>
                <a:gridCol w="4387273">
                  <a:extLst>
                    <a:ext uri="{9D8B030D-6E8A-4147-A177-3AD203B41FA5}">
                      <a16:colId xmlns:a16="http://schemas.microsoft.com/office/drawing/2014/main" val="351747872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Tầng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Công nghệ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Vai trò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6569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Tầng giao diện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React · Vite · TypeScript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Trang theo vai trò, gọi REST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5654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Tầng máy chủ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ASP.NET Core (.NET 10)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API, phân quyền, nghiệp vụ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5869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Tầng lưu trữ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MongoDB (rs0) · tệp trên đĩa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Document, transaction, tệp đính kèm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185656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C194451F-65AF-AE7B-D59F-B24DEC095193}"/>
              </a:ext>
            </a:extLst>
          </p:cNvPr>
          <p:cNvSpPr/>
          <p:nvPr/>
        </p:nvSpPr>
        <p:spPr>
          <a:xfrm>
            <a:off x="10629900" y="3530033"/>
            <a:ext cx="6985000" cy="322750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Frontend gọi REST tới API cổng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8081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; Vite chạy cổng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5174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và proxy về API.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Mỗi request dùng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AppDbContext riêng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trên một MongoClient dùng chung.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LINQ được dịch và chạy tại MongoDB, không nạp toàn bộ database vào bộ nhớ.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7106B5F-53F2-9368-0C86-437D24D1A8C6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64727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A1E2A0A-969E-1275-8054-97BFA70154EC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Thiết kế CSDL MongoDB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472BA9E6-9943-9F34-5C57-18A5486CB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12958"/>
              </p:ext>
            </p:extLst>
          </p:nvPr>
        </p:nvGraphicFramePr>
        <p:xfrm>
          <a:off x="673100" y="2133600"/>
          <a:ext cx="16941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4881">
                  <a:extLst>
                    <a:ext uri="{9D8B030D-6E8A-4147-A177-3AD203B41FA5}">
                      <a16:colId xmlns:a16="http://schemas.microsoft.com/office/drawing/2014/main" val="3656307274"/>
                    </a:ext>
                  </a:extLst>
                </a:gridCol>
                <a:gridCol w="12176919">
                  <a:extLst>
                    <a:ext uri="{9D8B030D-6E8A-4147-A177-3AD203B41FA5}">
                      <a16:colId xmlns:a16="http://schemas.microsoft.com/office/drawing/2014/main" val="234527770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Nhóm collection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Collection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7352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Tài khoản &amp; phiên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accounts, employees, refresh_tokens, otp_codes, push_devices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361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Nghiệp vụ bảo hành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tickets, quotations, devices, warranty_requests, attachments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32781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Kho &amp; thu tiền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parts, stock_receipts, stock_issues, stock_transfers, payments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30726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Danh mục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service_stations, device_categories, brands, products, warranty_policies, service_prices, suppliers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3827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Hệ thống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audit_logs, notifications, counters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05308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500818E6-1F34-9283-FA0E-26BFC0537A61}"/>
              </a:ext>
            </a:extLst>
          </p:cNvPr>
          <p:cNvSpPr/>
          <p:nvPr/>
        </p:nvSpPr>
        <p:spPr>
          <a:xfrm>
            <a:off x="673100" y="5638799"/>
            <a:ext cx="16941800" cy="391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Mã nghiệp vụ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TN/KH/NV/BG/PX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 giữ nguyên; ngày lịch lưu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yyyy-MM-dd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, tiền lưu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Decimal128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Dữ liệu lồng: phân công, lịch sử trạng thái, kết quả QC và bàn giao nhúng trong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tickets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Bộ đếm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counters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 cấp mã nghiệp vụ bằng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$inc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 nguyên tử.</a:t>
            </a:r>
            <a:endParaRPr lang="en-US" sz="22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8F23EEA-2609-12AA-A2C0-4221CC9BB539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910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A30E1306-A554-A280-A0C2-53DFBF50AD32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Mô hình quan hệ (ERD)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2371074A-163E-7AA5-4438-966C5927282C}"/>
              </a:ext>
            </a:extLst>
          </p:cNvPr>
          <p:cNvSpPr/>
          <p:nvPr/>
        </p:nvSpPr>
        <p:spPr>
          <a:xfrm>
            <a:off x="673100" y="7239764"/>
            <a:ext cx="8318500" cy="2310636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400" b="1">
                <a:solidFill>
                  <a:srgbClr val="F27121"/>
                </a:solidFill>
                <a:latin typeface="Montserrat" pitchFamily="2" charset="0"/>
              </a:rPr>
              <a:t>Quan hệ (tham chiếu)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Phiếu tham chiếu khách, thiết bị, nhân viên, báo giá; chứng từ kho tham chiếu linh kiện và ghi lịch sử tồn theo kệ.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8AEA7C51-EDFD-5E31-CF98-0DC344EAEC14}"/>
              </a:ext>
            </a:extLst>
          </p:cNvPr>
          <p:cNvSpPr/>
          <p:nvPr/>
        </p:nvSpPr>
        <p:spPr>
          <a:xfrm>
            <a:off x="9296400" y="7239764"/>
            <a:ext cx="8318500" cy="2310636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400" b="1">
                <a:solidFill>
                  <a:srgbClr val="F27121"/>
                </a:solidFill>
                <a:latin typeface="Montserrat" pitchFamily="2" charset="0"/>
              </a:rPr>
              <a:t>Nhúng (embed)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Bàn giao, chẩn đoán, kết quả QC nhúng trong phiếu; vai trò nhúng trong tài khoản/nhân viên.</a:t>
            </a:r>
          </a:p>
        </p:txBody>
      </p:sp>
      <p:pic>
        <p:nvPicPr>
          <p:cNvPr id="13" name="Picture" descr="Sơ đồ quan hệ Soopi MongoDB">
            <a:extLst>
              <a:ext uri="{FF2B5EF4-FFF2-40B4-BE49-F238E27FC236}">
                <a16:creationId xmlns:a16="http://schemas.microsoft.com/office/drawing/2014/main" id="{024FCBD7-D4F1-E95B-0ECE-FCF7671794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186" y="2133600"/>
            <a:ext cx="6699628" cy="4801364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B859CEE5-AA8F-C187-6CE3-9558901ADABA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7126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6E15B7D9-07E0-BEFD-9482-B65F015EFFA8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Thiết kế giao diện</a:t>
            </a:r>
          </a:p>
        </p:txBody>
      </p:sp>
      <p:pic>
        <p:nvPicPr>
          <p:cNvPr id="11" name="Picture" descr="Trang quản trị trên desktop">
            <a:extLst>
              <a:ext uri="{FF2B5EF4-FFF2-40B4-BE49-F238E27FC236}">
                <a16:creationId xmlns:a16="http://schemas.microsoft.com/office/drawing/2014/main" id="{6341E7D4-B46C-44B7-59FB-61AB38CC1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3206750"/>
            <a:ext cx="8432800" cy="5270500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1C929718-3C9D-844B-0FC8-5DE4C10F6A26}"/>
              </a:ext>
            </a:extLst>
          </p:cNvPr>
          <p:cNvSpPr/>
          <p:nvPr/>
        </p:nvSpPr>
        <p:spPr>
          <a:xfrm>
            <a:off x="9410700" y="2133599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Đăng nhập chung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/login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sau đó chuyển theo vai trò.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Khách: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/account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(tổng quan, lịch sử, phiếu, yêu cầu mới, hồ sơ).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Nhân viên: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/receptionist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/dispatch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/technician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/warehouse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/cashier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Quản trị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/admin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; tra cứu công khai cho khách vãng lai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/portal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Bảng chuyển thành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thẻ trên điện thoại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(responsive).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DB203DFD-F044-DFF4-DAA5-F3A90A5C0BEF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2907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9ECD71-8B03-0636-6B54-431CE2DB8D91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Năm nhóm chức năng hệ thống</a:t>
            </a:r>
          </a:p>
        </p:txBody>
      </p:sp>
      <p:pic>
        <p:nvPicPr>
          <p:cNvPr id="11" name="Picture" descr="Màn hình thanh toán và bàn giao">
            <a:extLst>
              <a:ext uri="{FF2B5EF4-FFF2-40B4-BE49-F238E27FC236}">
                <a16:creationId xmlns:a16="http://schemas.microsoft.com/office/drawing/2014/main" id="{FC6ABB43-B0BA-E0B3-35A8-86A317310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97" y="2133600"/>
            <a:ext cx="8157407" cy="7416800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8011D6C7-3B0E-BE1E-1960-FC5800BA562C}"/>
              </a:ext>
            </a:extLst>
          </p:cNvPr>
          <p:cNvSpPr/>
          <p:nvPr/>
        </p:nvSpPr>
        <p:spPr>
          <a:xfrm>
            <a:off x="673100" y="2133599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Tiếp nhận &amp; Dịch vụ khách hàng: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đăng ký yêu cầu, tiếp nhận, bàn giao, thanh toán.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Báo giá &amp; Phê duyệt: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lập báo giá, duyệt nội bộ, khách xác nhận / từ chối.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Kỹ thuật &amp; Phân công: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phân công, chẩn đoán, phân loại bảo hành, tiến độ, KCS.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Kho linh kiện &amp; Tồn kho: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nhập kho, yêu cầu xuất, xác nhận xuất và trừ tồn.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Quản trị &amp; Báo cáo: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tài khoản, danh mục, báo cáo doanh thu/lead time/tồn kho.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84BA1D9-D9C5-A400-CACC-C9A5E35A2A8F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2341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0651571E-A8F3-0B48-2C5F-EAD57E2478F3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4. Cài đặt hệ thống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123A8373-CAF9-04F6-9A0F-E61987E57976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38641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E715453C-6809-9508-5C85-E7C2724942ED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Môi trường và thành phần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67A549EF-FFD6-098C-8BEC-B1AA3529D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890457"/>
              </p:ext>
            </p:extLst>
          </p:nvPr>
        </p:nvGraphicFramePr>
        <p:xfrm>
          <a:off x="673100" y="3530033"/>
          <a:ext cx="965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407">
                  <a:extLst>
                    <a:ext uri="{9D8B030D-6E8A-4147-A177-3AD203B41FA5}">
                      <a16:colId xmlns:a16="http://schemas.microsoft.com/office/drawing/2014/main" val="1182650862"/>
                    </a:ext>
                  </a:extLst>
                </a:gridCol>
                <a:gridCol w="7864593">
                  <a:extLst>
                    <a:ext uri="{9D8B030D-6E8A-4147-A177-3AD203B41FA5}">
                      <a16:colId xmlns:a16="http://schemas.microsoft.com/office/drawing/2014/main" val="34917366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Thành phần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Cụ thể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4265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Backend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ASP.NET Core .NET 10 · MongoDB.Driver 3.12.0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5514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Frontend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React 19 · Vite · TypeScript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53323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Database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MongoDB local, replica set </a:t>
                      </a:r>
                      <a:r>
                        <a:rPr lang="en-US" sz="2000" b="1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rs0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08946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Cổng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API 8081 · Vite 5174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74285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Chạy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run.bat</a:t>
                      </a:r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 (build frontend + chạy API)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824134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3CBDEBB4-F11E-8E0F-E79C-A445F9197269}"/>
              </a:ext>
            </a:extLst>
          </p:cNvPr>
          <p:cNvSpPr/>
          <p:nvPr/>
        </p:nvSpPr>
        <p:spPr>
          <a:xfrm>
            <a:off x="10629900" y="3530033"/>
            <a:ext cx="6985000" cy="322750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Mọi tài khoản đăng nhập tại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http://localhost:8081/login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Mật khẩu demo chung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1234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; sau khi đăng nhập chuyển theo vai trò.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Mongo:ConnectionString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/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Mongo:Database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trong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appsettings.json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3F17BA4-8E48-1C73-2BD7-1A8A02655E54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3919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CD3DC36-C9A2-890F-07F7-D6B25AEE7814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Tổ chức mã nguồn và cấu hình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603D795E-4281-ABD3-2691-5CB56CA194C9}"/>
              </a:ext>
            </a:extLst>
          </p:cNvPr>
          <p:cNvSpPr/>
          <p:nvPr/>
        </p:nvSpPr>
        <p:spPr>
          <a:xfrm>
            <a:off x="6731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backend-dotnet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Tầng API ASP.NET Core với controllers, DTO và luật nghiệp vụ.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Lớp lưu trữ dùng MongoDB C# Driver.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Dữ liệu demo seed qua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Mongo:SeedDemo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(chỉ Development).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AAB852F6-C824-45EC-AECF-D8CD1FB4C75F}"/>
              </a:ext>
            </a:extLst>
          </p:cNvPr>
          <p:cNvSpPr/>
          <p:nvPr/>
        </p:nvSpPr>
        <p:spPr>
          <a:xfrm>
            <a:off x="9296400" y="2133600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frontend-react + verification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Giao diện React theo thiết kế và tài sản thương hiệu.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verification/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chứa đối chiếu contract và smoke HTTP.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User Secrets và Project độc lập; không đặt URI có mật khẩu vào Git.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EA5C7927-9796-A9AC-4859-2F184BC59F8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60865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A6AF7D7-F64E-475F-4BFC-F66C3E752E26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Cài đặt MongoDB và bảo toàn dữ liệu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548A4696-7F2C-E16E-0C52-999A47DEF2EC}"/>
              </a:ext>
            </a:extLst>
          </p:cNvPr>
          <p:cNvSpPr/>
          <p:nvPr/>
        </p:nvSpPr>
        <p:spPr>
          <a:xfrm>
            <a:off x="673100" y="2133600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Transaction &amp; nhất quán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Transaction kho/thu tiền dùng một session, snapshot read + majority write.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Xung đột thử lại tối đa 3 lần; commit chưa rõ kết quả thử lại, giới hạn 30 giây.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Bộ đếm mã nghiệp vụ bằng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$inc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nguyên tử ngoài transaction (số có thể nhảy khi rollback).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B3360ABB-F170-B4E5-E8FC-0FD209A60506}"/>
              </a:ext>
            </a:extLst>
          </p:cNvPr>
          <p:cNvSpPr/>
          <p:nvPr/>
        </p:nvSpPr>
        <p:spPr>
          <a:xfrm>
            <a:off x="92964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Index &amp; bảo mật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Unique/partial index bảo vệ username, serial, số điện thoại, phiếu mở, báo giá...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Refresh token lưu hash và xoay vòng theo họ token.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Nội dung tệp lưu trên đĩa, metadata và quyền sở hữu trong MongoDB.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628D200-3053-1459-7404-6013B028B129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10761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ED3E8D6-4DDD-E13A-879E-3664E3F79000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5. Thử nghiệm và triển khai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C86839C8-1163-1442-1695-EFBC6B457FE3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94808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682691-F608-0938-5342-227A422559DD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Kết quả kiểm thử</a:t>
            </a:r>
          </a:p>
        </p:txBody>
      </p:sp>
      <p:sp>
        <p:nvSpPr>
          <p:cNvPr id="10" name="Stat">
            <a:extLst>
              <a:ext uri="{FF2B5EF4-FFF2-40B4-BE49-F238E27FC236}">
                <a16:creationId xmlns:a16="http://schemas.microsoft.com/office/drawing/2014/main" id="{66122D02-7253-BEF9-7421-C9FBF5533BE5}"/>
              </a:ext>
            </a:extLst>
          </p:cNvPr>
          <p:cNvSpPr/>
          <p:nvPr/>
        </p:nvSpPr>
        <p:spPr>
          <a:xfrm>
            <a:off x="67310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73/73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backend .NET (21/10/2026)</a:t>
            </a:r>
          </a:p>
        </p:txBody>
      </p:sp>
      <p:sp>
        <p:nvSpPr>
          <p:cNvPr id="11" name="Stat">
            <a:extLst>
              <a:ext uri="{FF2B5EF4-FFF2-40B4-BE49-F238E27FC236}">
                <a16:creationId xmlns:a16="http://schemas.microsoft.com/office/drawing/2014/main" id="{F82A75C1-DA9B-9ABC-D2AA-E8B48721B7C3}"/>
              </a:ext>
            </a:extLst>
          </p:cNvPr>
          <p:cNvSpPr/>
          <p:nvPr/>
        </p:nvSpPr>
        <p:spPr>
          <a:xfrm>
            <a:off x="498475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25/25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frontend React (09/10/2026)</a:t>
            </a:r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984C228F-EDB1-3A04-B773-1F4E9AA5422C}"/>
              </a:ext>
            </a:extLst>
          </p:cNvPr>
          <p:cNvSpPr/>
          <p:nvPr/>
        </p:nvSpPr>
        <p:spPr>
          <a:xfrm>
            <a:off x="929640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102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smoke HTTP (09/10/2026)</a:t>
            </a:r>
          </a:p>
        </p:txBody>
      </p:sp>
      <p:sp>
        <p:nvSpPr>
          <p:cNvPr id="13" name="Stat">
            <a:extLst>
              <a:ext uri="{FF2B5EF4-FFF2-40B4-BE49-F238E27FC236}">
                <a16:creationId xmlns:a16="http://schemas.microsoft.com/office/drawing/2014/main" id="{D7F9F07A-2850-2875-74F1-261B2562AEC4}"/>
              </a:ext>
            </a:extLst>
          </p:cNvPr>
          <p:cNvSpPr/>
          <p:nvPr/>
        </p:nvSpPr>
        <p:spPr>
          <a:xfrm>
            <a:off x="1360805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10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integration MongoDB (09/10/2026)</a:t>
            </a:r>
          </a:p>
        </p:txBody>
      </p:sp>
      <p:sp>
        <p:nvSpPr>
          <p:cNvPr id="14" name="Panel">
            <a:extLst>
              <a:ext uri="{FF2B5EF4-FFF2-40B4-BE49-F238E27FC236}">
                <a16:creationId xmlns:a16="http://schemas.microsoft.com/office/drawing/2014/main" id="{4D8BF44E-5E3A-A1D2-ABB8-7F5CCC93473C}"/>
              </a:ext>
            </a:extLst>
          </p:cNvPr>
          <p:cNvSpPr/>
          <p:nvPr/>
        </p:nvSpPr>
        <p:spPr>
          <a:xfrm>
            <a:off x="673100" y="4343399"/>
            <a:ext cx="8318500" cy="5207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Nguồn số liệu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73/73 backend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là kết quả sau vòng sửa ngày 21/10/2026, chạy trên DB test riêng.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25/25 frontend, 102 smoke, 10 integration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ghi trong tài liệu kiểm chứng 09/10/2026 — chưa chạy lại cùng lượt.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B91F270A-E746-8077-3ACE-CE1A5A9BF797}"/>
              </a:ext>
            </a:extLst>
          </p:cNvPr>
          <p:cNvSpPr/>
          <p:nvPr/>
        </p:nvSpPr>
        <p:spPr>
          <a:xfrm>
            <a:off x="9296400" y="4343399"/>
            <a:ext cx="8318500" cy="5207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400" b="1">
                <a:solidFill>
                  <a:srgbClr val="F27121"/>
                </a:solidFill>
                <a:latin typeface="Montserrat" pitchFamily="2" charset="0"/>
              </a:rPr>
              <a:t>Trình duyệt thật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Đăng nhập từng vai trò; trang quản trị hiển thị 7 nhân viên.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Responsive 1440×900 và 390×844; bảng chuyển thành thẻ.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247A59D9-7384-7B48-A578-0B64C2C98B08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74630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508571A4-3650-C6C9-A579-19F8D94A4993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Kịch bản API đã thực thi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724AD37D-1420-ED5F-CF2C-7DF5A2153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334245"/>
              </p:ext>
            </p:extLst>
          </p:nvPr>
        </p:nvGraphicFramePr>
        <p:xfrm>
          <a:off x="673100" y="2133600"/>
          <a:ext cx="16941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597">
                  <a:extLst>
                    <a:ext uri="{9D8B030D-6E8A-4147-A177-3AD203B41FA5}">
                      <a16:colId xmlns:a16="http://schemas.microsoft.com/office/drawing/2014/main" val="1087932687"/>
                    </a:ext>
                  </a:extLst>
                </a:gridCol>
                <a:gridCol w="12370203">
                  <a:extLst>
                    <a:ext uri="{9D8B030D-6E8A-4147-A177-3AD203B41FA5}">
                      <a16:colId xmlns:a16="http://schemas.microsoft.com/office/drawing/2014/main" val="331603979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Nhóm kịch bản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Luồng kiểm tra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397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Bảo hành miễn phí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Đăng ký → tiếp nhận → phân công → chẩn đoán → QC → bàn giao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8123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Sửa chữa có phí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Báo giá → duyệt → khách đồng ý → giữ linh kiện → xuất kho → thu tiền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10934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Kho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Tạo/sửa/duyệt phiếu nhập, điều chuyển và liệt kê chứng từ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23337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Cổng khách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Yêu cầu online với PNG, tra cứu token, tải đúng bytes tệp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30534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Báo cáo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Doanh thu, hiệu suất, lead time, tỷ lệ bảo hành, SLA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44137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5107901C-73D8-06E4-B82F-F50AE2FF3542}"/>
              </a:ext>
            </a:extLst>
          </p:cNvPr>
          <p:cNvSpPr/>
          <p:nvPr/>
        </p:nvSpPr>
        <p:spPr>
          <a:xfrm>
            <a:off x="673100" y="5333999"/>
            <a:ext cx="16941800" cy="4216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en-US" sz="2200">
                <a:solidFill>
                  <a:srgbClr val="1F2328"/>
                </a:solidFill>
                <a:latin typeface="Montserrat" pitchFamily="2" charset="0"/>
              </a:rPr>
              <a:t>Từ chối </a:t>
            </a:r>
            <a:r>
              <a:rPr lang="en-US" sz="2200" b="1">
                <a:solidFill>
                  <a:srgbClr val="1F2328"/>
                </a:solidFill>
                <a:latin typeface="Montserrat" pitchFamily="2" charset="0"/>
              </a:rPr>
              <a:t>phiếu mở trùng</a:t>
            </a:r>
            <a:r>
              <a:rPr lang="en-US" sz="2200">
                <a:solidFill>
                  <a:srgbClr val="1F2328"/>
                </a:solidFill>
                <a:latin typeface="Montserrat" pitchFamily="2" charset="0"/>
              </a:rPr>
              <a:t>, đối chiếu báo giá và ghi nhật ký/thông báo trong từng luồng.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en-US" sz="2200">
                <a:solidFill>
                  <a:srgbClr val="1F2328"/>
                </a:solidFill>
                <a:latin typeface="Montserrat" pitchFamily="2" charset="0"/>
              </a:rPr>
              <a:t>Đối chiếu dữ liệu MongoDB bằng mongosh sau đợt chạy.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en-US" sz="2200">
                <a:solidFill>
                  <a:srgbClr val="1F2328"/>
                </a:solidFill>
                <a:latin typeface="Montserrat" pitchFamily="2" charset="0"/>
              </a:rPr>
              <a:t>Đăng ký/gỡ thiết bị push demo; đánh dấu thông báo đã đọc.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82F1E135-DE75-4B2B-459E-C582DCC2BF04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04250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8624745-80C8-90AC-185E-72D616915404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Kiểm tra giao diện trên trình duyệt</a:t>
            </a:r>
          </a:p>
        </p:txBody>
      </p:sp>
      <p:pic>
        <p:nvPicPr>
          <p:cNvPr id="11" name="Picture" descr="Giao diện quản trị trên điện thoại">
            <a:extLst>
              <a:ext uri="{FF2B5EF4-FFF2-40B4-BE49-F238E27FC236}">
                <a16:creationId xmlns:a16="http://schemas.microsoft.com/office/drawing/2014/main" id="{E07098DF-0AB6-60D7-75AB-171035021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877" y="2133600"/>
            <a:ext cx="3425246" cy="7416799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4B3A9AB8-B727-F989-96DB-369AD419AA91}"/>
              </a:ext>
            </a:extLst>
          </p:cNvPr>
          <p:cNvSpPr/>
          <p:nvPr/>
        </p:nvSpPr>
        <p:spPr>
          <a:xfrm>
            <a:off x="9410700" y="2133600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Đăng nhập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admin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và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receptionist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từ trang chung; chuyển hướng đúng theo vai trò.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Khách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0900000001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vào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/account#lich-su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xem phiếu của mình.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Responsive 1440×900 và 390×844; bảng dữ liệu chuyển thành thẻ trên màn hình nhỏ.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Bằng chứng giao diện lưu trong docs/screenshots.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30178C63-AE03-9FFC-2D66-B59C44678E5E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496500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22C66B9-2299-9A26-D0A7-8654DC241DFC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Lỗi phát hiện và cách khắc phục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E7982BF4-C6E8-2BA6-C3A4-AD4438C7B91C}"/>
              </a:ext>
            </a:extLst>
          </p:cNvPr>
          <p:cNvSpPr/>
          <p:nvPr/>
        </p:nvSpPr>
        <p:spPr>
          <a:xfrm>
            <a:off x="673100" y="2133600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Đã khắc phục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Username: index collation đã chạy trên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soopi_mongodb — 21/10/2026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8 nhân viên × 3 vòng PATCH: 24/24 HTTP 200 trên bản sao soopi_mongodb_verify_20261021; không suy rộng thành kiểm thử tải.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Tạo nhân viên thuộc trạm của admin (không gán cứng).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F-01: lưới Tồn kho kiểm lại ngày 21/10 trên DB riêng;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PASS, giữ FAIL 09/10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Chỉ tin proxy đã khai báo ở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X-Forwarded-For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; xóa code chết.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108816B8-D2CA-AC39-BCD9-B4E09E868958}"/>
              </a:ext>
            </a:extLst>
          </p:cNvPr>
          <p:cNvSpPr/>
          <p:nvPr/>
        </p:nvSpPr>
        <p:spPr>
          <a:xfrm>
            <a:off x="92964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Giới hạn / đánh đổi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Báo cáo tổng hợp trong bộ nhớ sau khi lọc ngày/trạm.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Access token trong sessionStorage (đánh đổi; refresh token trong cookie HttpOnly).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Mật khẩu demo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1234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chỉ dùng ở môi trường local.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SMS/push vẫn ở chế độ log, chưa tích hợp nhà cung cấp thật.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Commit bị hủy do hết thời gian chờ: giữ tệp, không bù trừ; chưa thử server đã commit.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A165962B-C91B-BF72-11D5-62B152D64D22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4619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8636E61-34BD-A6F5-34D6-EC8FA395ACE7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Kết quả đạt được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pic>
        <p:nvPicPr>
          <p:cNvPr id="11" name="Picture" descr="Hệ thống bảo hành trên desktop">
            <a:extLst>
              <a:ext uri="{FF2B5EF4-FFF2-40B4-BE49-F238E27FC236}">
                <a16:creationId xmlns:a16="http://schemas.microsoft.com/office/drawing/2014/main" id="{C8B734FD-3198-98B6-FEAC-599B83925B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100" y="3206750"/>
            <a:ext cx="8432800" cy="5270500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D7F104DB-B9A5-2B72-5BEA-AB5699C9E713}"/>
              </a:ext>
            </a:extLst>
          </p:cNvPr>
          <p:cNvSpPr/>
          <p:nvPr/>
        </p:nvSpPr>
        <p:spPr>
          <a:xfrm>
            <a:off x="673100" y="2133599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Triển khai được luồng bảo hành chính: tiếp nhận, báo giá, sửa chữa, kho, thu tiền, bàn giao.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Hệ thống chạy trên nền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MongoDB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với API ASP.NET Core và giao diện React.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Cổng khách hàng và tra cứu công khai; đăng nhập chung cho mọi vai trò.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Backend 73/73 test ngày 21/10; frontend 25/25 theo tài liệu 09/10.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Ngày 21/10: migration trên DB thật; F-01 PASS tại lưới Tồn kho trên DB riêng, giữ FAIL 09/10.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D8ED705F-39CE-41C2-7D1C-FD892B1CCF2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07981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7BD5627-881D-6EB7-8058-C67C58A2AE88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Hướng phát triển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8107B8AB-4D3D-0422-6E45-E658F893498A}"/>
              </a:ext>
            </a:extLst>
          </p:cNvPr>
          <p:cNvSpPr/>
          <p:nvPr/>
        </p:nvSpPr>
        <p:spPr>
          <a:xfrm>
            <a:off x="673100" y="21335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Báo cáo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Chuyển tổng hợp trong bộ nhớ sang aggregation pipeline khi dữ liệu lớn.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B6C6232C-1284-C6E1-D7FC-2A39C4A96382}"/>
              </a:ext>
            </a:extLst>
          </p:cNvPr>
          <p:cNvSpPr/>
          <p:nvPr/>
        </p:nvSpPr>
        <p:spPr>
          <a:xfrm>
            <a:off x="9296400" y="21335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Bảo mật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Thêm CSP, đưa access token vào cookie HttpOnly hoặc BFF.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B7187B60-DF7E-FD5B-0701-05D86B4B32F8}"/>
              </a:ext>
            </a:extLst>
          </p:cNvPr>
          <p:cNvSpPr/>
          <p:nvPr/>
        </p:nvSpPr>
        <p:spPr>
          <a:xfrm>
            <a:off x="673100" y="59943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Tích hợp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Kết nối SMS/push thật, kênh bán hàng và đồng bộ hãng sản xuất.</a:t>
            </a:r>
          </a:p>
        </p:txBody>
      </p:sp>
      <p:sp>
        <p:nvSpPr>
          <p:cNvPr id="13" name="Panel">
            <a:extLst>
              <a:ext uri="{FF2B5EF4-FFF2-40B4-BE49-F238E27FC236}">
                <a16:creationId xmlns:a16="http://schemas.microsoft.com/office/drawing/2014/main" id="{F14FE0B3-204F-5E81-159E-935E14753415}"/>
              </a:ext>
            </a:extLst>
          </p:cNvPr>
          <p:cNvSpPr/>
          <p:nvPr/>
        </p:nvSpPr>
        <p:spPr>
          <a:xfrm>
            <a:off x="9296400" y="59943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Mở rộng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Thử tải lớn, replica-set failover và triển khai đa trạm.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4C43CB4-B9D8-A6C7-D71F-7E641704A92B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9598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08"/>
            <a:chOff x="0" y="0"/>
            <a:chExt cx="24402453" cy="10981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169"/>
            </a:xfrm>
            <a:custGeom>
              <a:avLst/>
              <a:gdLst/>
              <a:ahLst/>
              <a:cxnLst/>
              <a:rect l="l" t="t" r="r" b="b"/>
              <a:pathLst>
                <a:path w="24402414" h="1098169">
                  <a:moveTo>
                    <a:pt x="0" y="0"/>
                  </a:moveTo>
                  <a:lnTo>
                    <a:pt x="24402414" y="0"/>
                  </a:lnTo>
                  <a:lnTo>
                    <a:pt x="24402414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072822" y="163935"/>
            <a:ext cx="6405944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KHOA CÔNG NGHỆ THÔNG TIN - HUIT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1426718"/>
              <a:chOff x="0" y="0"/>
              <a:chExt cx="24384000" cy="14267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84000" cy="1426718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426718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426718"/>
                    </a:lnTo>
                    <a:lnTo>
                      <a:pt x="0" y="1426718"/>
                    </a:lnTo>
                    <a:close/>
                  </a:path>
                </a:pathLst>
              </a:custGeom>
              <a:solidFill>
                <a:srgbClr val="2072B7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637235" y="21336"/>
              <a:ext cx="6580797" cy="1370140"/>
              <a:chOff x="0" y="0"/>
              <a:chExt cx="6580797" cy="1370140"/>
            </a:xfrm>
          </p:grpSpPr>
          <p:sp>
            <p:nvSpPr>
              <p:cNvPr id="9" name="Freeform 9" descr="A black background with white text  Description automatically generated"/>
              <p:cNvSpPr/>
              <p:nvPr/>
            </p:nvSpPr>
            <p:spPr>
              <a:xfrm>
                <a:off x="0" y="0"/>
                <a:ext cx="6580759" cy="1370203"/>
              </a:xfrm>
              <a:custGeom>
                <a:avLst/>
                <a:gdLst/>
                <a:ahLst/>
                <a:cxnLst/>
                <a:rect l="l" t="t" r="r" b="b"/>
                <a:pathLst>
                  <a:path w="6580759" h="1370203">
                    <a:moveTo>
                      <a:pt x="0" y="0"/>
                    </a:moveTo>
                    <a:lnTo>
                      <a:pt x="6580759" y="0"/>
                    </a:lnTo>
                    <a:lnTo>
                      <a:pt x="6580759" y="1370203"/>
                    </a:lnTo>
                    <a:lnTo>
                      <a:pt x="0" y="13702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91" r="-192" b="4"/>
                </a:stretch>
              </a:blip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574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5" name="Thanks">
            <a:extLst>
              <a:ext uri="{FF2B5EF4-FFF2-40B4-BE49-F238E27FC236}">
                <a16:creationId xmlns:a16="http://schemas.microsoft.com/office/drawing/2014/main" id="{117FFDF6-94FF-B4A9-3774-8BAE9239F1F0}"/>
              </a:ext>
            </a:extLst>
          </p:cNvPr>
          <p:cNvSpPr txBox="1"/>
          <p:nvPr/>
        </p:nvSpPr>
        <p:spPr>
          <a:xfrm>
            <a:off x="1270000" y="3403600"/>
            <a:ext cx="157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4000" b="1">
                <a:solidFill>
                  <a:srgbClr val="1F2328"/>
                </a:solidFill>
                <a:latin typeface="Montserrat" pitchFamily="2" charset="0"/>
              </a:rPr>
              <a:t>CẢM ƠN THẦY CÔ VÀ CÁC BẠN ĐÃ LẮNG NGHE!</a:t>
            </a:r>
            <a:endParaRPr lang="en-US" sz="4000" b="1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9" name="Team">
            <a:extLst>
              <a:ext uri="{FF2B5EF4-FFF2-40B4-BE49-F238E27FC236}">
                <a16:creationId xmlns:a16="http://schemas.microsoft.com/office/drawing/2014/main" id="{F4CB4F00-AFB2-7588-6DF1-3AAE747AECCC}"/>
              </a:ext>
            </a:extLst>
          </p:cNvPr>
          <p:cNvSpPr txBox="1"/>
          <p:nvPr/>
        </p:nvSpPr>
        <p:spPr>
          <a:xfrm>
            <a:off x="1270000" y="4394200"/>
            <a:ext cx="157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600" b="1">
                <a:solidFill>
                  <a:srgbClr val="0070C0"/>
                </a:solidFill>
                <a:latin typeface="Montserrat" pitchFamily="2" charset="0"/>
              </a:rPr>
              <a:t>Nhóm 2 — Hệ thống quản lý trung tâm bảo hành điện tử</a:t>
            </a:r>
          </a:p>
        </p:txBody>
      </p:sp>
      <p:sp>
        <p:nvSpPr>
          <p:cNvPr id="20" name="Panel">
            <a:extLst>
              <a:ext uri="{FF2B5EF4-FFF2-40B4-BE49-F238E27FC236}">
                <a16:creationId xmlns:a16="http://schemas.microsoft.com/office/drawing/2014/main" id="{64A2402A-7096-22F8-343E-69C0A7229F68}"/>
              </a:ext>
            </a:extLst>
          </p:cNvPr>
          <p:cNvSpPr/>
          <p:nvPr/>
        </p:nvSpPr>
        <p:spPr>
          <a:xfrm>
            <a:off x="3810000" y="5334000"/>
            <a:ext cx="10668000" cy="147981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700"/>
              </a:spcAft>
            </a:pPr>
            <a:r>
              <a:rPr lang="en-US" sz="2000">
                <a:solidFill>
                  <a:srgbClr val="1F2328"/>
                </a:solidFill>
                <a:latin typeface="Montserrat" pitchFamily="2" charset="0"/>
              </a:rPr>
              <a:t>Sẵn sàng demo luồng tiếp nhận, báo giá, sửa chữa và bàn giao.</a:t>
            </a:r>
          </a:p>
          <a:p>
            <a:pPr>
              <a:lnSpc>
                <a:spcPct val="110000"/>
              </a:lnSpc>
              <a:spcAft>
                <a:spcPts val="1700"/>
              </a:spcAft>
            </a:pPr>
            <a:r>
              <a:rPr lang="en-US" sz="2000">
                <a:solidFill>
                  <a:srgbClr val="1F2328"/>
                </a:solidFill>
                <a:latin typeface="Montserrat" pitchFamily="2" charset="0"/>
              </a:rPr>
              <a:t>Mời thầy cô và các bạn đặt câu hỏi.</a:t>
            </a:r>
          </a:p>
        </p:txBody>
      </p:sp>
    </p:spTree>
    <p:extLst>
      <p:ext uri="{BB962C8B-B14F-4D97-AF65-F5344CB8AC3E}">
        <p14:creationId xmlns:p14="http://schemas.microsoft.com/office/powerpoint/2010/main" val="157620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3172</Words>
  <Application>Microsoft Office PowerPoint</Application>
  <PresentationFormat>Custom</PresentationFormat>
  <Paragraphs>351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Montserrat</vt:lpstr>
      <vt:lpstr>Arial</vt:lpstr>
      <vt:lpstr>Montserrat Ultra-Bold</vt:lpstr>
      <vt:lpstr>Calibri</vt:lpstr>
      <vt:lpstr>Arial Bold</vt:lpstr>
      <vt:lpstr>Calibri (MS)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Flink</dc:title>
  <cp:lastModifiedBy>bùi Lộc</cp:lastModifiedBy>
  <cp:revision>6</cp:revision>
  <dcterms:created xsi:type="dcterms:W3CDTF">2006-08-16T00:00:00Z</dcterms:created>
  <dcterms:modified xsi:type="dcterms:W3CDTF">2026-10-21T09:27:22Z</dcterms:modified>
  <dc:identifier>DAHVEfz4OII</dc:identifier>
</cp:coreProperties>
</file>