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</p:sldIdLst>
  <p:sldSz cx="18288000" cy="10287000"/>
  <p:notesSz cx="6858000" cy="9144000"/>
  <p:embeddedFontLst>
    <p:embeddedFont>
      <p:font typeface="Arial Bold" panose="020B0704020202020204" pitchFamily="34" charset="0"/>
      <p:regular r:id="rId28"/>
      <p:bold r:id="rId29"/>
    </p:embeddedFont>
    <p:embeddedFont>
      <p:font typeface="Calibri (MS)" panose="020B0604020202020204" charset="0"/>
      <p:regular r:id="rId30"/>
    </p:embeddedFont>
    <p:embeddedFont>
      <p:font typeface="Montserrat" pitchFamily="2" charset="0"/>
      <p:regular r:id="rId31"/>
      <p:bold r:id="rId32"/>
    </p:embeddedFont>
    <p:embeddedFont>
      <p:font typeface="Montserrat Ultra-Bold" panose="020B0604020202020204" charset="0"/>
      <p:regular r:id="rId33"/>
    </p:embeddedFont>
    <p:embeddedFont>
      <p:font typeface="Roboto" panose="02000000000000000000" pitchFamily="2" charset="0"/>
      <p:regular r:id="rId34"/>
    </p:embeddedFont>
    <p:embeddedFont>
      <p:font typeface="Roboto Bold" panose="02000000000000000000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78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915A7-CEA0-4EFF-983A-1F76B2017C4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19A2C-9D34-41D1-AA70-E8C08A39B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58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Giới thiệu nhóm, giảng viên hướng dẫn và tên đề tài.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67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Bài trình bày gồm bốn phần theo đúng cấu trúc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05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Nêu lý do chọn đề tài và lý do chọn nguồn dữ liệu YouTube của báo, đài Việt Nam. Hình là bảng chủ đề nổi bật ngày 14/10/2026 trên dashboard.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Nhấn mạnh quy mô dữ liệu và giới hạn diễn giải: mẫu theo kênh, không đại diện toàn bộ mạng xã hội.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Đối chiếu 5V với dữ liệu thật của nhóm, nói rõ quy mô hiện tại vẫn nhỏ.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Giải thích vai trò từng công nghệ trong kiến trúc, không đi sâu vào cài đặt.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So sánh gán cứng (KMeans) với phân bố mềm (LDA) và lý do cần cả hai.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Nhấn mạnh: không có nhãn chuẩn nên không có độ chính xác; quy tắc tăng đột biến chỉ mang tính mô tả.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Đi theo mũi tên trên sơ đồ, mỗi tầng có đầu vào và đầu ra kiểm tra được.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Giữ tiêu đề trùng ở các kênh khác nhau để phản ánh nhiều nguồn cùng đưa tin.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Có thể mở trực tiếp Spark UI cổng 8080 và HDFS cổng 9870 khi demo.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Giải thích vì sao không lọc ngôn ngữ trên tập thống kê.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Các số này dùng để chọn tham số tiền xử lý và giải thích giới hạn của hashtag.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Hai lượt chạy trên toàn tập, cùng tiền xử lý, seed 42, 2 worker.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Cụm rõ nghĩa: thời tiết, World Cup, mưa lũ, giá vàng, vụ án, quốc tế. Cụm lớn nhất còn rộng, nhãn bị ảnh hưởng bởi tên kênh (THDT, SKĐS).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Tỷ trọng giúp tách thay đổi cơ cấu khỏi thay đổi tổng số video; muốn giải thích nguyên nhân phải đọc video gốc.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Ví dụ cho thấy cả điểm mạnh và giới hạn của chủ đề tự động.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Chuyển sang demo trực tiếp tại http://127.0.0.1:8501 nếu có thời gian.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628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Trình bày trung thực các giới hạn đã ghi trong báo cáo.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Ưu tiên cải thiện chất lượng nhận diện chủ đề trước khi mở rộng quy mô.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Cảm ơn và mời đặt câu hỏi.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9A2C-9D34-41D1-AA70-E8C08A39BEA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79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21281"/>
            <a:ext cx="2254501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910012" y="84315"/>
            <a:ext cx="1045272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TRƯỜNG ĐẠI HỌC CÔNG THƯƠNG THÀNH PHỐ HỒ CHÍ MINH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3" name="Freeform 13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4" name="Course">
            <a:extLst>
              <a:ext uri="{FF2B5EF4-FFF2-40B4-BE49-F238E27FC236}">
                <a16:creationId xmlns:a16="http://schemas.microsoft.com/office/drawing/2014/main" id="{899A3933-9590-BDD1-5911-1C401FC72C45}"/>
              </a:ext>
            </a:extLst>
          </p:cNvPr>
          <p:cNvSpPr txBox="1"/>
          <p:nvPr/>
        </p:nvSpPr>
        <p:spPr>
          <a:xfrm>
            <a:off x="1524000" y="15240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4400" b="1">
                <a:solidFill>
                  <a:srgbClr val="ED1C24"/>
                </a:solidFill>
                <a:latin typeface="Montserrat" pitchFamily="2" charset="0"/>
              </a:rPr>
              <a:t>NHẬP MÔN BIG DATA</a:t>
            </a:r>
          </a:p>
        </p:txBody>
      </p:sp>
      <p:sp>
        <p:nvSpPr>
          <p:cNvPr id="15" name="Product">
            <a:extLst>
              <a:ext uri="{FF2B5EF4-FFF2-40B4-BE49-F238E27FC236}">
                <a16:creationId xmlns:a16="http://schemas.microsoft.com/office/drawing/2014/main" id="{A9293007-B054-673F-4C01-C7D5FF3A6CF9}"/>
              </a:ext>
            </a:extLst>
          </p:cNvPr>
          <p:cNvSpPr txBox="1"/>
          <p:nvPr/>
        </p:nvSpPr>
        <p:spPr>
          <a:xfrm>
            <a:off x="762000" y="2489200"/>
            <a:ext cx="167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9600" b="1">
                <a:solidFill>
                  <a:srgbClr val="00529C"/>
                </a:solidFill>
                <a:latin typeface="Montserrat" pitchFamily="2" charset="0"/>
              </a:rPr>
              <a:t>XU HƯỚNG TIN TỨC</a:t>
            </a:r>
            <a:endParaRPr lang="en-US" sz="9600" b="1">
              <a:solidFill>
                <a:srgbClr val="00529C"/>
              </a:solidFill>
              <a:latin typeface="Montserrat" pitchFamily="2" charset="0"/>
            </a:endParaRP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F319D91D-361F-8E1F-A4C3-8AE2483187C3}"/>
              </a:ext>
            </a:extLst>
          </p:cNvPr>
          <p:cNvSpPr txBox="1"/>
          <p:nvPr/>
        </p:nvSpPr>
        <p:spPr>
          <a:xfrm>
            <a:off x="1524000" y="43180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2600" b="1">
                <a:solidFill>
                  <a:srgbClr val="1F2328"/>
                </a:solidFill>
                <a:latin typeface="Montserrat" pitchFamily="2" charset="0"/>
              </a:rPr>
              <a:t>Phân tích xu hướng chủ đề từ tiêu đề video YouTube của các kênh báo, đài Việt Nam</a:t>
            </a:r>
            <a:endParaRPr lang="en-US" sz="2600" b="1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7" name="Advisor">
            <a:extLst>
              <a:ext uri="{FF2B5EF4-FFF2-40B4-BE49-F238E27FC236}">
                <a16:creationId xmlns:a16="http://schemas.microsoft.com/office/drawing/2014/main" id="{4EDE010F-BEB1-AF36-C104-21B00F4CE08B}"/>
              </a:ext>
            </a:extLst>
          </p:cNvPr>
          <p:cNvSpPr txBox="1"/>
          <p:nvPr/>
        </p:nvSpPr>
        <p:spPr>
          <a:xfrm>
            <a:off x="1524000" y="58674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2400" b="1">
                <a:solidFill>
                  <a:srgbClr val="1F2328"/>
                </a:solidFill>
                <a:latin typeface="Montserrat" pitchFamily="2" charset="0"/>
              </a:rPr>
              <a:t>GVHD: ThS. Ngô Dương Hà</a:t>
            </a:r>
            <a:endParaRPr lang="en-US" sz="2400" b="1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23" name="Members">
            <a:extLst>
              <a:ext uri="{FF2B5EF4-FFF2-40B4-BE49-F238E27FC236}">
                <a16:creationId xmlns:a16="http://schemas.microsoft.com/office/drawing/2014/main" id="{573D5902-37D4-2A92-BBDD-C5D307B0AF93}"/>
              </a:ext>
            </a:extLst>
          </p:cNvPr>
          <p:cNvSpPr txBox="1"/>
          <p:nvPr/>
        </p:nvSpPr>
        <p:spPr>
          <a:xfrm>
            <a:off x="1524000" y="6451600"/>
            <a:ext cx="152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400">
                <a:solidFill>
                  <a:srgbClr val="1F2328"/>
                </a:solidFill>
                <a:latin typeface="Montserrat" pitchFamily="2" charset="0"/>
              </a:rPr>
              <a:t>Bùi Hữu Lộc (2001230467) · Đỗ Lê Thanh Mẫn (2001230510)</a:t>
            </a:r>
          </a:p>
        </p:txBody>
      </p:sp>
    </p:spTree>
    <p:extLst>
      <p:ext uri="{BB962C8B-B14F-4D97-AF65-F5344CB8AC3E}">
        <p14:creationId xmlns:p14="http://schemas.microsoft.com/office/powerpoint/2010/main" val="267924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53483" y="3102350"/>
            <a:ext cx="15643796" cy="6586477"/>
            <a:chOff x="0" y="0"/>
            <a:chExt cx="4120177" cy="17347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20177" cy="1734710"/>
            </a:xfrm>
            <a:custGeom>
              <a:avLst/>
              <a:gdLst/>
              <a:ahLst/>
              <a:cxnLst/>
              <a:rect l="l" t="t" r="r" b="b"/>
              <a:pathLst>
                <a:path w="4120177" h="1734710">
                  <a:moveTo>
                    <a:pt x="49489" y="0"/>
                  </a:moveTo>
                  <a:lnTo>
                    <a:pt x="4070688" y="0"/>
                  </a:lnTo>
                  <a:cubicBezTo>
                    <a:pt x="4098020" y="0"/>
                    <a:pt x="4120177" y="22157"/>
                    <a:pt x="4120177" y="49489"/>
                  </a:cubicBezTo>
                  <a:lnTo>
                    <a:pt x="4120177" y="1685221"/>
                  </a:lnTo>
                  <a:cubicBezTo>
                    <a:pt x="4120177" y="1712553"/>
                    <a:pt x="4098020" y="1734710"/>
                    <a:pt x="4070688" y="1734710"/>
                  </a:cubicBezTo>
                  <a:lnTo>
                    <a:pt x="49489" y="1734710"/>
                  </a:lnTo>
                  <a:cubicBezTo>
                    <a:pt x="36364" y="1734710"/>
                    <a:pt x="23776" y="1729496"/>
                    <a:pt x="14495" y="1720215"/>
                  </a:cubicBezTo>
                  <a:cubicBezTo>
                    <a:pt x="5214" y="1710934"/>
                    <a:pt x="0" y="1698347"/>
                    <a:pt x="0" y="1685221"/>
                  </a:cubicBezTo>
                  <a:lnTo>
                    <a:pt x="0" y="49489"/>
                  </a:lnTo>
                  <a:cubicBezTo>
                    <a:pt x="0" y="22157"/>
                    <a:pt x="22157" y="0"/>
                    <a:pt x="4948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4120177" cy="1725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29266" y="1413030"/>
            <a:ext cx="6229468" cy="1089245"/>
            <a:chOff x="0" y="0"/>
            <a:chExt cx="884588" cy="1546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4588" cy="154673"/>
            </a:xfrm>
            <a:custGeom>
              <a:avLst/>
              <a:gdLst/>
              <a:ahLst/>
              <a:cxnLst/>
              <a:rect l="l" t="t" r="r" b="b"/>
              <a:pathLst>
                <a:path w="884588" h="154673">
                  <a:moveTo>
                    <a:pt x="19419" y="0"/>
                  </a:moveTo>
                  <a:lnTo>
                    <a:pt x="865170" y="0"/>
                  </a:lnTo>
                  <a:cubicBezTo>
                    <a:pt x="870320" y="0"/>
                    <a:pt x="875259" y="2046"/>
                    <a:pt x="878901" y="5688"/>
                  </a:cubicBezTo>
                  <a:cubicBezTo>
                    <a:pt x="882542" y="9329"/>
                    <a:pt x="884588" y="14268"/>
                    <a:pt x="884588" y="19419"/>
                  </a:cubicBezTo>
                  <a:lnTo>
                    <a:pt x="884588" y="135255"/>
                  </a:lnTo>
                  <a:cubicBezTo>
                    <a:pt x="884588" y="145979"/>
                    <a:pt x="875894" y="154673"/>
                    <a:pt x="865170" y="154673"/>
                  </a:cubicBezTo>
                  <a:lnTo>
                    <a:pt x="19419" y="154673"/>
                  </a:lnTo>
                  <a:cubicBezTo>
                    <a:pt x="8694" y="154673"/>
                    <a:pt x="0" y="145979"/>
                    <a:pt x="0" y="135255"/>
                  </a:cubicBezTo>
                  <a:lnTo>
                    <a:pt x="0" y="19419"/>
                  </a:lnTo>
                  <a:cubicBezTo>
                    <a:pt x="0" y="8694"/>
                    <a:pt x="8694" y="0"/>
                    <a:pt x="19419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84588" cy="16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793111" y="1667140"/>
            <a:ext cx="470177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NỘI DUNG CHÍNH</a:t>
            </a:r>
          </a:p>
        </p:txBody>
      </p:sp>
      <p:sp>
        <p:nvSpPr>
          <p:cNvPr id="12" name="Chapter 1">
            <a:extLst>
              <a:ext uri="{FF2B5EF4-FFF2-40B4-BE49-F238E27FC236}">
                <a16:creationId xmlns:a16="http://schemas.microsoft.com/office/drawing/2014/main" id="{3ECDAA11-3F76-B92E-1034-E2C0A91FB941}"/>
              </a:ext>
            </a:extLst>
          </p:cNvPr>
          <p:cNvSpPr txBox="1"/>
          <p:nvPr/>
        </p:nvSpPr>
        <p:spPr>
          <a:xfrm>
            <a:off x="2133600" y="3632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1. Giới thiệu đề tài</a:t>
            </a:r>
          </a:p>
        </p:txBody>
      </p:sp>
      <p:sp>
        <p:nvSpPr>
          <p:cNvPr id="17" name="Chapter 2">
            <a:extLst>
              <a:ext uri="{FF2B5EF4-FFF2-40B4-BE49-F238E27FC236}">
                <a16:creationId xmlns:a16="http://schemas.microsoft.com/office/drawing/2014/main" id="{90DDC735-172C-8838-6147-85F7264D7B63}"/>
              </a:ext>
            </a:extLst>
          </p:cNvPr>
          <p:cNvSpPr txBox="1"/>
          <p:nvPr/>
        </p:nvSpPr>
        <p:spPr>
          <a:xfrm>
            <a:off x="2133600" y="5029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2600" b="1">
                <a:solidFill>
                  <a:srgbClr val="1F2328"/>
                </a:solidFill>
                <a:latin typeface="Montserrat" pitchFamily="2" charset="0"/>
              </a:rPr>
              <a:t>2. Cơ sở lý thuyết</a:t>
            </a:r>
            <a:endParaRPr lang="en-US" sz="2600" b="1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8" name="Chapter 3">
            <a:extLst>
              <a:ext uri="{FF2B5EF4-FFF2-40B4-BE49-F238E27FC236}">
                <a16:creationId xmlns:a16="http://schemas.microsoft.com/office/drawing/2014/main" id="{DD5D2CF9-C395-641D-DBE1-26E978D2633F}"/>
              </a:ext>
            </a:extLst>
          </p:cNvPr>
          <p:cNvSpPr txBox="1"/>
          <p:nvPr/>
        </p:nvSpPr>
        <p:spPr>
          <a:xfrm>
            <a:off x="2133600" y="6426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>
                <a:solidFill>
                  <a:srgbClr val="1F2328"/>
                </a:solidFill>
                <a:latin typeface="Montserrat" pitchFamily="2" charset="0"/>
              </a:rPr>
              <a:t>3. Xây dựng ứng dụng, trực quan hóa dữ liệu</a:t>
            </a:r>
          </a:p>
        </p:txBody>
      </p:sp>
      <p:sp>
        <p:nvSpPr>
          <p:cNvPr id="19" name="Chapter 4">
            <a:extLst>
              <a:ext uri="{FF2B5EF4-FFF2-40B4-BE49-F238E27FC236}">
                <a16:creationId xmlns:a16="http://schemas.microsoft.com/office/drawing/2014/main" id="{E7F10141-2A5B-B848-9A20-3B639BB667B2}"/>
              </a:ext>
            </a:extLst>
          </p:cNvPr>
          <p:cNvSpPr txBox="1"/>
          <p:nvPr/>
        </p:nvSpPr>
        <p:spPr>
          <a:xfrm>
            <a:off x="2133600" y="7823200"/>
            <a:ext cx="139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2600" b="1">
                <a:solidFill>
                  <a:srgbClr val="1F2328"/>
                </a:solidFill>
                <a:latin typeface="Montserrat" pitchFamily="2" charset="0"/>
              </a:rPr>
              <a:t>4. Kết luận và định hướng phát triển</a:t>
            </a:r>
            <a:endParaRPr lang="en-US" sz="2600" b="1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3B350A0-F654-C0D9-36B4-46FA879FC0DF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6604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36E37FA0-959A-625B-C746-8BC5CB6C0B92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1. Giới thiệu đề tài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53C82228-7919-7C51-E38E-7CB55BAD70DA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1804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4C105AD6-640F-0A07-ED09-52E55DA02A7D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Bài toán: hôm nay báo chí đang đưa tin về gì?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07C97E48-35E3-153D-C091-09C79F6BD9EB}"/>
              </a:ext>
            </a:extLst>
          </p:cNvPr>
          <p:cNvSpPr/>
          <p:nvPr/>
        </p:nvSpPr>
        <p:spPr>
          <a:xfrm>
            <a:off x="673100" y="6636439"/>
            <a:ext cx="8318500" cy="291396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Vấn đề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Báo, đài Việt Nam đăng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hàng trăm video mỗi ngày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trên YouTube.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Cần biết theo ngày/tháng: chủ đề nào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nhiều video nhất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, chủ đề nào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tăng nhanh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, bao nhiêu kênh cùng đưa tin.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31051B53-28FB-DBE7-050C-B190AA6DE9E1}"/>
              </a:ext>
            </a:extLst>
          </p:cNvPr>
          <p:cNvSpPr/>
          <p:nvPr/>
        </p:nvSpPr>
        <p:spPr>
          <a:xfrm>
            <a:off x="9296400" y="6636439"/>
            <a:ext cx="8318500" cy="291396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Hướng giải quyết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Đề tài 5: thu thập, lưu HDFS/NoSQL, xử lý Spark, mô hình chủ đề, dashboard theo thời gian.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Dữ liệu: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tiêu đề video YouTube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của các kênh báo, đài, có thời gian đăng và liên kết gốc.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pic>
        <p:nvPicPr>
          <p:cNvPr id="13" name="Picture" descr="Bảng chủ đề nổi bật ngày 14/10/2026 trên dashboard">
            <a:extLst>
              <a:ext uri="{FF2B5EF4-FFF2-40B4-BE49-F238E27FC236}">
                <a16:creationId xmlns:a16="http://schemas.microsoft.com/office/drawing/2014/main" id="{7610E070-DB01-7FA9-7B27-7ABFDBCC40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2428632"/>
            <a:ext cx="16941800" cy="3607976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246433BB-4C6C-2E5E-6F1F-ECF79301E888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8650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01ADB016-CB3B-7039-9033-442CC5B9238D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Mục tiêu và phạm vi</a:t>
            </a:r>
          </a:p>
        </p:txBody>
      </p:sp>
      <p:sp>
        <p:nvSpPr>
          <p:cNvPr id="10" name="Stat">
            <a:extLst>
              <a:ext uri="{FF2B5EF4-FFF2-40B4-BE49-F238E27FC236}">
                <a16:creationId xmlns:a16="http://schemas.microsoft.com/office/drawing/2014/main" id="{53FB7FFC-A397-6B7D-ECEF-88DD1D67BCCE}"/>
              </a:ext>
            </a:extLst>
          </p:cNvPr>
          <p:cNvSpPr/>
          <p:nvPr/>
        </p:nvSpPr>
        <p:spPr>
          <a:xfrm>
            <a:off x="67310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104.790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video hợp lệ</a:t>
            </a:r>
          </a:p>
        </p:txBody>
      </p:sp>
      <p:sp>
        <p:nvSpPr>
          <p:cNvPr id="11" name="Stat">
            <a:extLst>
              <a:ext uri="{FF2B5EF4-FFF2-40B4-BE49-F238E27FC236}">
                <a16:creationId xmlns:a16="http://schemas.microsoft.com/office/drawing/2014/main" id="{2B3090AA-417F-641D-AE0D-74DDC2E874C4}"/>
              </a:ext>
            </a:extLst>
          </p:cNvPr>
          <p:cNvSpPr/>
          <p:nvPr/>
        </p:nvSpPr>
        <p:spPr>
          <a:xfrm>
            <a:off x="498475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30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kênh báo, đài có dữ liệu</a:t>
            </a:r>
          </a:p>
        </p:txBody>
      </p:sp>
      <p:sp>
        <p:nvSpPr>
          <p:cNvPr id="12" name="Stat">
            <a:extLst>
              <a:ext uri="{FF2B5EF4-FFF2-40B4-BE49-F238E27FC236}">
                <a16:creationId xmlns:a16="http://schemas.microsoft.com/office/drawing/2014/main" id="{D389D89F-709F-B94B-AE91-AA3E5C768E42}"/>
              </a:ext>
            </a:extLst>
          </p:cNvPr>
          <p:cNvSpPr/>
          <p:nvPr/>
        </p:nvSpPr>
        <p:spPr>
          <a:xfrm>
            <a:off x="929640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136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ngày đăng (01/06 – 14/10/2026)</a:t>
            </a:r>
          </a:p>
        </p:txBody>
      </p:sp>
      <p:sp>
        <p:nvSpPr>
          <p:cNvPr id="13" name="Stat">
            <a:extLst>
              <a:ext uri="{FF2B5EF4-FFF2-40B4-BE49-F238E27FC236}">
                <a16:creationId xmlns:a16="http://schemas.microsoft.com/office/drawing/2014/main" id="{0BD5D0A9-1AF8-380C-D68A-5F47BE2B336F}"/>
              </a:ext>
            </a:extLst>
          </p:cNvPr>
          <p:cNvSpPr/>
          <p:nvPr/>
        </p:nvSpPr>
        <p:spPr>
          <a:xfrm>
            <a:off x="1360805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93.456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tiêu đề dùng huấn luyện</a:t>
            </a:r>
          </a:p>
        </p:txBody>
      </p:sp>
      <p:sp>
        <p:nvSpPr>
          <p:cNvPr id="14" name="Panel">
            <a:extLst>
              <a:ext uri="{FF2B5EF4-FFF2-40B4-BE49-F238E27FC236}">
                <a16:creationId xmlns:a16="http://schemas.microsoft.com/office/drawing/2014/main" id="{3F580E14-FAEC-738E-AF25-A487EA580821}"/>
              </a:ext>
            </a:extLst>
          </p:cNvPr>
          <p:cNvSpPr/>
          <p:nvPr/>
        </p:nvSpPr>
        <p:spPr>
          <a:xfrm>
            <a:off x="673100" y="4343399"/>
            <a:ext cx="8318500" cy="5207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Mục tiêu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Pipeline chạy lại được: API → CSV → HDFS → Spark → MongoDB → dashboard.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So sánh Word2Vec + KMeans với LDA, chọn mô hình chính.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Thống kê chủ đề theo ngày/tháng, phát hiện khoảng tăng đột biến.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E6621840-F9F0-81A0-29A8-95FB51FDCF71}"/>
              </a:ext>
            </a:extLst>
          </p:cNvPr>
          <p:cNvSpPr/>
          <p:nvPr/>
        </p:nvSpPr>
        <p:spPr>
          <a:xfrm>
            <a:off x="9296400" y="4343399"/>
            <a:ext cx="8318500" cy="5207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Phạm vi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Chỉ dùng tiêu đề; không dùng bình luận, mô tả hay nội dung video.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Xử lý theo lô trên cụm Docker chạy trên một máy cá nhân.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Phân tích khám phá, không dự báo; kết quả là “chủ đề được đưa tin trong mẫu”.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A76B38B-20BC-5F61-31AF-4DBC01CB9D0F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6020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341A6E86-2A2B-F226-72EB-389DC314634E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vi-VN" sz="4400" b="1">
                <a:solidFill>
                  <a:srgbClr val="0070C0"/>
                </a:solidFill>
                <a:latin typeface="Montserrat" pitchFamily="2" charset="0"/>
              </a:rPr>
              <a:t>2. Cơ sở lý thuyết</a:t>
            </a:r>
            <a:endParaRPr lang="en-US" sz="4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8F881DB1-9A80-641F-4436-AD56A48463D6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6598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BA7AE756-EEBF-1E63-2EE2-DDA3F27BDF29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Dữ liệu lớn và đặc trưng 5V trong đề tài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01F17A57-6D00-7126-FC3F-4DAA09762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48695"/>
              </p:ext>
            </p:extLst>
          </p:nvPr>
        </p:nvGraphicFramePr>
        <p:xfrm>
          <a:off x="673100" y="2133600"/>
          <a:ext cx="169418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321">
                  <a:extLst>
                    <a:ext uri="{9D8B030D-6E8A-4147-A177-3AD203B41FA5}">
                      <a16:colId xmlns:a16="http://schemas.microsoft.com/office/drawing/2014/main" val="1383057863"/>
                    </a:ext>
                  </a:extLst>
                </a:gridCol>
                <a:gridCol w="13916479">
                  <a:extLst>
                    <a:ext uri="{9D8B030D-6E8A-4147-A177-3AD203B41FA5}">
                      <a16:colId xmlns:a16="http://schemas.microsoft.com/office/drawing/2014/main" val="55999163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vi-VN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Đặc trưng</a:t>
                      </a:r>
                      <a:endParaRPr lang="en-US" sz="2000" b="1">
                        <a:solidFill>
                          <a:srgbClr val="FFFFFF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Thể hiện trong đề tài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81395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Volume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104.790 tiêu đề, mở rộng khi thêm kênh hoặc thêm thời gian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5767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Velocity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Trung bình khoảng 773 video mới mỗi ngày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15235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Variety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Văn bản, thời gian, mã kênh, liên kết, lượt xem, lượt thích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57493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Veracity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12,31% thiếu lượt thích; nhận diện ngôn ngữ có thể sai; tiêu đề trùng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69979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Value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Chuyển tiêu đề rời rạc thành chủ đề và xu hướng theo thời gian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905845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7551721D-CEB3-B2ED-7A14-2D8033E7B1EC}"/>
              </a:ext>
            </a:extLst>
          </p:cNvPr>
          <p:cNvSpPr/>
          <p:nvPr/>
        </p:nvSpPr>
        <p:spPr>
          <a:xfrm>
            <a:off x="673100" y="5333999"/>
            <a:ext cx="16941800" cy="4216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Big Data cần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lưu trữ phân tán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 và </a:t>
            </a:r>
            <a:r>
              <a:rPr lang="vi-VN" sz="2200" b="1">
                <a:solidFill>
                  <a:srgbClr val="1F2328"/>
                </a:solidFill>
                <a:latin typeface="Montserrat" pitchFamily="2" charset="0"/>
              </a:rPr>
              <a:t>tính toán song song</a:t>
            </a: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 khi dữ liệu vượt khả năng của một máy.</a:t>
            </a:r>
          </a:p>
          <a:p>
            <a:pPr>
              <a:lnSpc>
                <a:spcPct val="110000"/>
              </a:lnSpc>
              <a:spcAft>
                <a:spcPts val="1900"/>
              </a:spcAft>
            </a:pPr>
            <a:r>
              <a:rPr lang="vi-VN" sz="2200">
                <a:solidFill>
                  <a:srgbClr val="1F2328"/>
                </a:solidFill>
                <a:latin typeface="Montserrat" pitchFamily="2" charset="0"/>
              </a:rPr>
              <a:t>Tệp CSV hiện khoảng 30 MB; HDFS và Spark được dùng để triển khai quy trình phân tán của môn học và sẵn sàng khi dữ liệu tăng.</a:t>
            </a:r>
            <a:endParaRPr lang="en-US" sz="22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4DD8652-236B-9B58-D244-FBEB4DA0857F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88285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B8D96BC-4CDC-37F9-1487-5BD175C7DD16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Công nghệ lưu trữ và xử lý phân tán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133B3A9C-4A9D-6E42-CE04-25F00960802B}"/>
              </a:ext>
            </a:extLst>
          </p:cNvPr>
          <p:cNvSpPr/>
          <p:nvPr/>
        </p:nvSpPr>
        <p:spPr>
          <a:xfrm>
            <a:off x="673100" y="21335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HDFS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NameNode quản lý metadata, DataNode lưu block 128 MB.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Cụm đồ án: 1 NameNode, 2 DataNode, hệ số sao chép 2.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D430A478-0AEB-6AF5-386C-BFC2DCBB9E99}"/>
              </a:ext>
            </a:extLst>
          </p:cNvPr>
          <p:cNvSpPr/>
          <p:nvPr/>
        </p:nvSpPr>
        <p:spPr>
          <a:xfrm>
            <a:off x="9296400" y="21335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Apache Spark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Driver điều phối, executor chạy song song; DataFrame + Catalyst, thực thi lười.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MLlib Pipeline dùng chung tiền xử lý lúc huấn luyện và suy luận.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Panel">
            <a:extLst>
              <a:ext uri="{FF2B5EF4-FFF2-40B4-BE49-F238E27FC236}">
                <a16:creationId xmlns:a16="http://schemas.microsoft.com/office/drawing/2014/main" id="{32E03BAE-81BA-08F3-D1FF-ACE3AD4AF839}"/>
              </a:ext>
            </a:extLst>
          </p:cNvPr>
          <p:cNvSpPr/>
          <p:nvPr/>
        </p:nvSpPr>
        <p:spPr>
          <a:xfrm>
            <a:off x="673100" y="5994400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MongoDB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CSDL NoSQL hướng tài liệu (BSON), không cần schema cố định.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Lưu bảng kết quả nhỏ để dashboard đọc nhanh.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Panel">
            <a:extLst>
              <a:ext uri="{FF2B5EF4-FFF2-40B4-BE49-F238E27FC236}">
                <a16:creationId xmlns:a16="http://schemas.microsoft.com/office/drawing/2014/main" id="{518A7538-0604-2B72-2E6D-9EA40B6A22EC}"/>
              </a:ext>
            </a:extLst>
          </p:cNvPr>
          <p:cNvSpPr/>
          <p:nvPr/>
        </p:nvSpPr>
        <p:spPr>
          <a:xfrm>
            <a:off x="9296400" y="59943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Docker · Streamlit · Plotly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Docker Compose dựng toàn cụm bằng một lệnh.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Streamlit + Plotly cho dashboard tương tác.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3590425-71C6-5E4E-9ABB-015D2BE1E2DC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54221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E0F15D3E-175E-3DE0-B359-0D670BC99449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Biểu diễn văn bản và mô hình chủ đề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B1E52F0F-A3E0-EB2C-829E-752B49B469BC}"/>
              </a:ext>
            </a:extLst>
          </p:cNvPr>
          <p:cNvSpPr/>
          <p:nvPr/>
        </p:nvSpPr>
        <p:spPr>
          <a:xfrm>
            <a:off x="6731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Word2Vec + KMeans (mô hình chính)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Tiền xử lý: chữ thường, bỏ URL, chữ số, ký hiệu; tách token; bỏ từ dừng; lọc tiếng Việt bằng fastText.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Word2Vec 100 chiều → vector trung bình của tiêu đề → chuẩn hóa L2.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KMeans k = 10: mỗi tiêu đề thuộc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đúng một cụm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→ đếm video theo ngày.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Nhãn cụm bằng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c-TF-IDF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: 3 từ đặc trưng nhất của cụm.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5BACFBA4-D9C2-9CD5-DE32-6E1D1743A18E}"/>
              </a:ext>
            </a:extLst>
          </p:cNvPr>
          <p:cNvSpPr/>
          <p:nvPr/>
        </p:nvSpPr>
        <p:spPr>
          <a:xfrm>
            <a:off x="9296400" y="2133600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LDA (mô hình bổ sung)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CountVectorizer tạo vector tần suất từ.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Mỗi tài liệu là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hỗn hợp nhiều chủ đề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, mỗi chủ đề là phân phối trên từ vựng.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10 chủ đề, 30 vòng lặp, bộ tối ưu online.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Dùng trong trang Phân tích văn bản để xem phân bố mềm.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A8CC185D-5BF1-3F3C-468E-3CEEEA9FF94F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8973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231285-A94A-1CDC-74E0-4B0893BB44A9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Chỉ số đánh giá và phát hiện tăng đột biến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6FCEAF8B-D9FE-3535-641C-631E366559C5}"/>
              </a:ext>
            </a:extLst>
          </p:cNvPr>
          <p:cNvSpPr/>
          <p:nvPr/>
        </p:nvSpPr>
        <p:spPr>
          <a:xfrm>
            <a:off x="673100" y="2133600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Đánh giá mô hình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NPMI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: độ đồng xuất hiện chuẩn hóa của từ khóa, trong khoảng [-1, 1]; so sánh được cả hai mô hình.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Silhouette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(cosine): mức tách biệt giữa các cụm KMeans.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Log-perplexity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: khả năng dự đoán dữ liệu giữ lại của LDA (càng thấp càng tốt).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FFDDAEE8-5E54-3F54-AA35-9E7417A8FB9E}"/>
              </a:ext>
            </a:extLst>
          </p:cNvPr>
          <p:cNvSpPr/>
          <p:nvPr/>
        </p:nvSpPr>
        <p:spPr>
          <a:xfrm>
            <a:off x="92964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Xu hướng theo thời gian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Tỷ trọng p(k, d) = số video cụm k / tổng video ngày d.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z = (p − </a:t>
            </a:r>
            <a:r>
              <a:rPr lang="el-GR" sz="2300">
                <a:solidFill>
                  <a:srgbClr val="1F2328"/>
                </a:solidFill>
                <a:latin typeface="Montserrat" pitchFamily="2" charset="0"/>
              </a:rPr>
              <a:t>μ) / 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max(</a:t>
            </a:r>
            <a:r>
              <a:rPr lang="el-GR" sz="2300">
                <a:solidFill>
                  <a:srgbClr val="1F2328"/>
                </a:solidFill>
                <a:latin typeface="Montserrat" pitchFamily="2" charset="0"/>
              </a:rPr>
              <a:t>σ, ε), 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so với trung bình 7 ngày trước.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Tăng đột biến khi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z &gt; 2,5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, có ít nhất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20 video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và tỷ trọng ≥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1,2 lần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mức nền.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AD2A43C-CF80-7C37-CE36-5969665FD202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56168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15451BDE-FD72-147F-6A43-D227A1B7BBF5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3. Xây dựng ứng dụng,</a:t>
            </a:r>
            <a:br>
              <a:rPr lang="en-US" sz="4400" b="1">
                <a:solidFill>
                  <a:srgbClr val="0070C0"/>
                </a:solidFill>
                <a:latin typeface="Montserrat" pitchFamily="2" charset="0"/>
              </a:rPr>
            </a:b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trực quan hóa dữ liệu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26A581D4-EC5F-283A-DAD2-768663CEE65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8256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A9E11FAF-923B-1C37-6EFE-F31E94BB3B84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Kiến trúc tổng thể hệ thống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27E384DA-6052-EE1C-AD66-B5E57A381DDB}"/>
              </a:ext>
            </a:extLst>
          </p:cNvPr>
          <p:cNvSpPr/>
          <p:nvPr/>
        </p:nvSpPr>
        <p:spPr>
          <a:xfrm>
            <a:off x="673100" y="7605560"/>
            <a:ext cx="8318500" cy="1944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Luồng dữ liệu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YouTube API → CSV → HDFS → Spark ETL/EDA → MLlib → tổng hợp xu hướng → MongoDB → dashboard.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6E9DDC0E-E410-B3B1-6E23-244A0CFC5DAA}"/>
              </a:ext>
            </a:extLst>
          </p:cNvPr>
          <p:cNvSpPr/>
          <p:nvPr/>
        </p:nvSpPr>
        <p:spPr>
          <a:xfrm>
            <a:off x="9296400" y="7605560"/>
            <a:ext cx="8318500" cy="1944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Môi trường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Hadoop 3.4.1 · Spark 3.5.3 (2 worker, 4 nhân, 4 GB mỗi worker) · MongoDB 7.0 · Streamlit 1.39.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pic>
        <p:nvPicPr>
          <p:cNvPr id="13" name="Picture" descr="Sơ đồ kiến trúc: API, thu thập, CSV, HDFS, Spark, MongoDB, dashboard">
            <a:extLst>
              <a:ext uri="{FF2B5EF4-FFF2-40B4-BE49-F238E27FC236}">
                <a16:creationId xmlns:a16="http://schemas.microsoft.com/office/drawing/2014/main" id="{96860A58-D932-D5A4-D4EA-CA51B71B3D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019" y="2133600"/>
            <a:ext cx="10017962" cy="5167159"/>
          </a:xfrm>
          <a:prstGeom prst="rect">
            <a:avLst/>
          </a:prstGeom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6780B39E-ABEC-485F-16E5-167AC7732F80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92047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1131079-10F5-5078-D5DA-9E564D05BC7F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Thu thập dữ liệu bằng YouTube Data API v3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52BF5AC9-E783-9873-CD36-DE5CD53F8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76154"/>
              </p:ext>
            </p:extLst>
          </p:nvPr>
        </p:nvGraphicFramePr>
        <p:xfrm>
          <a:off x="673100" y="2133600"/>
          <a:ext cx="169418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3087">
                  <a:extLst>
                    <a:ext uri="{9D8B030D-6E8A-4147-A177-3AD203B41FA5}">
                      <a16:colId xmlns:a16="http://schemas.microsoft.com/office/drawing/2014/main" val="2164443936"/>
                    </a:ext>
                  </a:extLst>
                </a:gridCol>
                <a:gridCol w="12988713">
                  <a:extLst>
                    <a:ext uri="{9D8B030D-6E8A-4147-A177-3AD203B41FA5}">
                      <a16:colId xmlns:a16="http://schemas.microsoft.com/office/drawing/2014/main" val="236661062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vi-VN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Bước</a:t>
                      </a:r>
                      <a:endParaRPr lang="en-US" sz="2000" b="1">
                        <a:solidFill>
                          <a:srgbClr val="FFFFFF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Cách làm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3105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Danh mục nguồn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32 kênh báo, đài; 30 kênh có dữ liệu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24647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Lấy mã video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playlistItems.list theo danh sách tải lên, 50 mục/trang, checkpoint theo kênh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0878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Lấy metadata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videos.list theo nhóm 50 mã: tiêu đề, lượt xem, lượt thích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1298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Loại trùng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106.449 mã gốc → bỏ 1.659 tiêu đề trùng cùng kênh → 104.790 video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587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Dữ liệu thiếu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Không thiếu lượt xem; 12.896 dòng thiếu lượt thích (để trống)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063884"/>
                  </a:ext>
                </a:extLst>
              </a:tr>
            </a:tbl>
          </a:graphicData>
        </a:graphic>
      </p:graphicFrame>
      <p:pic>
        <p:nvPicPr>
          <p:cNvPr id="12" name="Picture" descr="Tệp CSV gốc trên HDFS">
            <a:extLst>
              <a:ext uri="{FF2B5EF4-FFF2-40B4-BE49-F238E27FC236}">
                <a16:creationId xmlns:a16="http://schemas.microsoft.com/office/drawing/2014/main" id="{6D9B3817-1345-EA69-40A1-5253B0CC9C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009" y="5334000"/>
            <a:ext cx="12323983" cy="4216400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3" name="Slide Number">
            <a:extLst>
              <a:ext uri="{FF2B5EF4-FFF2-40B4-BE49-F238E27FC236}">
                <a16:creationId xmlns:a16="http://schemas.microsoft.com/office/drawing/2014/main" id="{52A9CF5B-F8D5-CF0F-DD9E-1727E4E2C7BC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06897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CD93E57B-A792-966E-25D2-E7E6AB79CFCB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Lưu trữ HDFS và cụm Spark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D7F7A71D-057E-F84C-82E7-7458442B0796}"/>
              </a:ext>
            </a:extLst>
          </p:cNvPr>
          <p:cNvSpPr/>
          <p:nvPr/>
        </p:nvSpPr>
        <p:spPr>
          <a:xfrm>
            <a:off x="673100" y="6636439"/>
            <a:ext cx="8318500" cy="291396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400" b="1">
                <a:solidFill>
                  <a:srgbClr val="F27121"/>
                </a:solidFill>
                <a:latin typeface="Montserrat" pitchFamily="2" charset="0"/>
              </a:rPr>
              <a:t>HDFS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CSV gốc: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/social/raw/youtube_news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(28,68 MB, sao chép 2, block 128 MB).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Dữ liệu đã xử lý: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Parquet nén Snappy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 tại /social/youtube_news (clean, models, sample_20).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B5ADDEC9-EA58-1EE3-3159-7FA6BFD63D96}"/>
              </a:ext>
            </a:extLst>
          </p:cNvPr>
          <p:cNvSpPr/>
          <p:nvPr/>
        </p:nvSpPr>
        <p:spPr>
          <a:xfrm>
            <a:off x="9296400" y="6636439"/>
            <a:ext cx="8318500" cy="291396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400" b="1">
                <a:solidFill>
                  <a:srgbClr val="F27121"/>
                </a:solidFill>
                <a:latin typeface="Montserrat" pitchFamily="2" charset="0"/>
              </a:rPr>
              <a:t>Spark Master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2 worker ALIVE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, mỗi worker 4 nhân, 4 GB.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Ứng dụng làm sạch, thống kê, huấn luyện hai mô hình, tổng hợp đều </a:t>
            </a:r>
            <a:r>
              <a:rPr lang="en-US" sz="2100" b="1">
                <a:solidFill>
                  <a:srgbClr val="1F2328"/>
                </a:solidFill>
                <a:latin typeface="Montserrat" pitchFamily="2" charset="0"/>
              </a:rPr>
              <a:t>FINISHED</a:t>
            </a: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.</a:t>
            </a:r>
          </a:p>
        </p:txBody>
      </p:sp>
      <p:pic>
        <p:nvPicPr>
          <p:cNvPr id="13" name="Picture" descr="Spark Master với hai worker và các ứng dụng đã chạy">
            <a:extLst>
              <a:ext uri="{FF2B5EF4-FFF2-40B4-BE49-F238E27FC236}">
                <a16:creationId xmlns:a16="http://schemas.microsoft.com/office/drawing/2014/main" id="{D3BA1C8B-A678-D8E0-4866-0165F5084E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649" y="2133600"/>
            <a:ext cx="8198703" cy="4198039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9B8937B6-1696-E96B-3344-657239FE120D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22255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17A4FAE-770F-395B-27A3-38B8721EAC43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Làm sạch và tách tập dữ liệu bằng Spark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D290D885-7DDF-0C9E-8B0F-A0A2D704D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81027"/>
              </p:ext>
            </p:extLst>
          </p:nvPr>
        </p:nvGraphicFramePr>
        <p:xfrm>
          <a:off x="673100" y="3408101"/>
          <a:ext cx="9652001" cy="337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4667">
                  <a:extLst>
                    <a:ext uri="{9D8B030D-6E8A-4147-A177-3AD203B41FA5}">
                      <a16:colId xmlns:a16="http://schemas.microsoft.com/office/drawing/2014/main" val="2543044823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691168645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349461875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vi-VN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Bước xử lý</a:t>
                      </a:r>
                      <a:endParaRPr lang="en-US" sz="2000" b="1">
                        <a:solidFill>
                          <a:srgbClr val="FFFFFF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Loại bỏ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Còn lại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55683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Kiểm tra schema, giá trị thiếu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104.790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00451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Trùng video_id, ngoài cửa sổ thời gian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104.790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28163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Tập thống kê (volume)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–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104.790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3855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Không phải tiếng Việt / độ tin cậy &lt; 0,5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11.323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93.467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972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Dưới 3 token sau khi bỏ từ dừng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11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93.456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44156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Tập huấn luyện (model)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–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93.456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71443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B7203E82-06EA-5C26-7E6A-80C62697D46E}"/>
              </a:ext>
            </a:extLst>
          </p:cNvPr>
          <p:cNvSpPr/>
          <p:nvPr/>
        </p:nvSpPr>
        <p:spPr>
          <a:xfrm>
            <a:off x="10629900" y="3408101"/>
            <a:ext cx="6985000" cy="3593296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Ngày được tính theo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giờ Việt Nam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(UTC+7), không chỉ đổi nhãn hiển thị.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Tách hai tập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: thống kê giữ mọi video hợp lệ; huấn luyện chỉ giữ tiêu đề tiếng Việt đủ tin cậy.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fastText nhận diện 90,5% tiêu đề là tiếng Việt; thời gian chạy ETL 50,3 giây.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3EBF5D61-DEC6-C159-F365-A85129422913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9659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04DA1E9-E980-8FD5-BA10-694A040FC03A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Phân tích khám phá dữ liệu</a:t>
            </a:r>
          </a:p>
        </p:txBody>
      </p:sp>
      <p:sp>
        <p:nvSpPr>
          <p:cNvPr id="10" name="Stat">
            <a:extLst>
              <a:ext uri="{FF2B5EF4-FFF2-40B4-BE49-F238E27FC236}">
                <a16:creationId xmlns:a16="http://schemas.microsoft.com/office/drawing/2014/main" id="{511EEEC9-B28D-DA3C-2D70-19627C5522E1}"/>
              </a:ext>
            </a:extLst>
          </p:cNvPr>
          <p:cNvSpPr/>
          <p:nvPr/>
        </p:nvSpPr>
        <p:spPr>
          <a:xfrm>
            <a:off x="67310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773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video trung bình mỗi ngày</a:t>
            </a:r>
          </a:p>
        </p:txBody>
      </p:sp>
      <p:sp>
        <p:nvSpPr>
          <p:cNvPr id="11" name="Stat">
            <a:extLst>
              <a:ext uri="{FF2B5EF4-FFF2-40B4-BE49-F238E27FC236}">
                <a16:creationId xmlns:a16="http://schemas.microsoft.com/office/drawing/2014/main" id="{9A110D38-1374-254F-5005-3FA3EAAD9FC9}"/>
              </a:ext>
            </a:extLst>
          </p:cNvPr>
          <p:cNvSpPr/>
          <p:nvPr/>
        </p:nvSpPr>
        <p:spPr>
          <a:xfrm>
            <a:off x="498475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583 – 920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video ngày ít nhất – nhiều nhất</a:t>
            </a:r>
          </a:p>
        </p:txBody>
      </p:sp>
      <p:sp>
        <p:nvSpPr>
          <p:cNvPr id="12" name="Stat">
            <a:extLst>
              <a:ext uri="{FF2B5EF4-FFF2-40B4-BE49-F238E27FC236}">
                <a16:creationId xmlns:a16="http://schemas.microsoft.com/office/drawing/2014/main" id="{A3F018D2-227A-F2A4-6B86-2D1EAA4BC402}"/>
              </a:ext>
            </a:extLst>
          </p:cNvPr>
          <p:cNvSpPr/>
          <p:nvPr/>
        </p:nvSpPr>
        <p:spPr>
          <a:xfrm>
            <a:off x="929640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84,1%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tiêu đề dài 11–20 token</a:t>
            </a:r>
          </a:p>
        </p:txBody>
      </p:sp>
      <p:sp>
        <p:nvSpPr>
          <p:cNvPr id="13" name="Stat">
            <a:extLst>
              <a:ext uri="{FF2B5EF4-FFF2-40B4-BE49-F238E27FC236}">
                <a16:creationId xmlns:a16="http://schemas.microsoft.com/office/drawing/2014/main" id="{174921D0-AC9C-852A-1B2B-0C3B2E0AD833}"/>
              </a:ext>
            </a:extLst>
          </p:cNvPr>
          <p:cNvSpPr/>
          <p:nvPr/>
        </p:nvSpPr>
        <p:spPr>
          <a:xfrm>
            <a:off x="13608050" y="2133600"/>
            <a:ext cx="4006850" cy="1905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27000" rIns="177800" bIns="127000" rtlCol="0" anchor="ctr"/>
          <a:lstStyle/>
          <a:p>
            <a:pPr algn="ctr">
              <a:spcAft>
                <a:spcPts val="400"/>
              </a:spcAft>
            </a:pPr>
            <a:r>
              <a:rPr lang="en-US" sz="4400" b="1">
                <a:solidFill>
                  <a:srgbClr val="0070C0"/>
                </a:solidFill>
                <a:latin typeface="Montserrat" pitchFamily="2" charset="0"/>
              </a:rPr>
              <a:t>4,59%</a:t>
            </a:r>
          </a:p>
          <a:p>
            <a:pPr algn="ct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video có hashtag</a:t>
            </a:r>
          </a:p>
        </p:txBody>
      </p:sp>
      <p:sp>
        <p:nvSpPr>
          <p:cNvPr id="14" name="Panel">
            <a:extLst>
              <a:ext uri="{FF2B5EF4-FFF2-40B4-BE49-F238E27FC236}">
                <a16:creationId xmlns:a16="http://schemas.microsoft.com/office/drawing/2014/main" id="{5D1FD049-2A3B-4400-625B-B85DA70004DC}"/>
              </a:ext>
            </a:extLst>
          </p:cNvPr>
          <p:cNvSpPr/>
          <p:nvPr/>
        </p:nvSpPr>
        <p:spPr>
          <a:xfrm>
            <a:off x="673100" y="4343400"/>
            <a:ext cx="8318500" cy="5207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Theo tháng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Tháng 6–9: khoảng 23,3–23,8 nghìn video mỗi tháng.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Tháng 10 có 10.664 video vì mới quan sát 14 ngày, không phải do giảm đưa tin.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E53980DA-5094-A348-373A-3FCB80894999}"/>
              </a:ext>
            </a:extLst>
          </p:cNvPr>
          <p:cNvSpPr/>
          <p:nvPr/>
        </p:nvSpPr>
        <p:spPr>
          <a:xfrm>
            <a:off x="9296400" y="4343399"/>
            <a:ext cx="8318500" cy="5207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Từ và hashtag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Từ phổ biến “người”, “tin”, “báo”, “ngày” ít giá trị phân biệt → cần từ dừng theo miền.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Hashtag nhiều nhất là #shorts (2.447 video) — định dạng video, không phải chủ đề.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1602C938-8136-EC73-9CEC-64FE809588F3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4617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0B14F2-E1D4-685E-EF98-46EAE5A87518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Huấn luyện và lựa chọn mô hình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ED346D06-ABCB-ABDC-56D9-D13D76307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35058"/>
              </p:ext>
            </p:extLst>
          </p:nvPr>
        </p:nvGraphicFramePr>
        <p:xfrm>
          <a:off x="673100" y="3479800"/>
          <a:ext cx="9652001" cy="337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426">
                  <a:extLst>
                    <a:ext uri="{9D8B030D-6E8A-4147-A177-3AD203B41FA5}">
                      <a16:colId xmlns:a16="http://schemas.microsoft.com/office/drawing/2014/main" val="1076250942"/>
                    </a:ext>
                  </a:extLst>
                </a:gridCol>
                <a:gridCol w="4517958">
                  <a:extLst>
                    <a:ext uri="{9D8B030D-6E8A-4147-A177-3AD203B41FA5}">
                      <a16:colId xmlns:a16="http://schemas.microsoft.com/office/drawing/2014/main" val="2470657885"/>
                    </a:ext>
                  </a:extLst>
                </a:gridCol>
                <a:gridCol w="2053617">
                  <a:extLst>
                    <a:ext uri="{9D8B030D-6E8A-4147-A177-3AD203B41FA5}">
                      <a16:colId xmlns:a16="http://schemas.microsoft.com/office/drawing/2014/main" val="185718544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Chỉ tiêu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E01: Word2Vec + KMeans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E02: LDA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7592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Số tài liệu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93.456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93.456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39216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Số cụm / chủ đề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049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NPMI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0,2245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0,1492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38417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Silhouette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0,1611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–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59073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Log-perplexity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–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7,3048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5697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Thời gian chạy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59,4 giây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49,8 giây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98945"/>
                  </a:ext>
                </a:extLst>
              </a:tr>
            </a:tbl>
          </a:graphicData>
        </a:graphic>
      </p:graphicFrame>
      <p:sp>
        <p:nvSpPr>
          <p:cNvPr id="11" name="Panel">
            <a:extLst>
              <a:ext uri="{FF2B5EF4-FFF2-40B4-BE49-F238E27FC236}">
                <a16:creationId xmlns:a16="http://schemas.microsoft.com/office/drawing/2014/main" id="{ECC53AAD-C3D3-10E1-89DC-285016AC93CF}"/>
              </a:ext>
            </a:extLst>
          </p:cNvPr>
          <p:cNvSpPr/>
          <p:nvPr/>
        </p:nvSpPr>
        <p:spPr>
          <a:xfrm>
            <a:off x="10629900" y="3479800"/>
            <a:ext cx="6985000" cy="33782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E01 có </a:t>
            </a: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NPMI cao hơn 0,0753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 → chọn làm mô hình chính cho xu hướng.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Silhouette 0,1611 còn thấp: tiêu đề ngắn, tách theo âm tiết, tên kênh lẫn vào tiêu đề.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LDA giữ vai trò bổ sung trong phân tích văn bản mới.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1EA78654-19BF-23CE-D461-77C3508C7AEA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4646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6E13DC2-A9DC-10CC-F6A6-876C714433E4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Kết quả: 10 cụm chủ đề</a:t>
            </a:r>
          </a:p>
        </p:txBody>
      </p:sp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DFDEDB2E-642F-C0DC-C772-E4D250B5C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694303"/>
              </p:ext>
            </p:extLst>
          </p:nvPr>
        </p:nvGraphicFramePr>
        <p:xfrm>
          <a:off x="673100" y="2133600"/>
          <a:ext cx="965200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149">
                  <a:extLst>
                    <a:ext uri="{9D8B030D-6E8A-4147-A177-3AD203B41FA5}">
                      <a16:colId xmlns:a16="http://schemas.microsoft.com/office/drawing/2014/main" val="288320773"/>
                    </a:ext>
                  </a:extLst>
                </a:gridCol>
                <a:gridCol w="2053617">
                  <a:extLst>
                    <a:ext uri="{9D8B030D-6E8A-4147-A177-3AD203B41FA5}">
                      <a16:colId xmlns:a16="http://schemas.microsoft.com/office/drawing/2014/main" val="993644394"/>
                    </a:ext>
                  </a:extLst>
                </a:gridCol>
                <a:gridCol w="2053617">
                  <a:extLst>
                    <a:ext uri="{9D8B030D-6E8A-4147-A177-3AD203B41FA5}">
                      <a16:colId xmlns:a16="http://schemas.microsoft.com/office/drawing/2014/main" val="1193092166"/>
                    </a:ext>
                  </a:extLst>
                </a:gridCol>
                <a:gridCol w="2053617">
                  <a:extLst>
                    <a:ext uri="{9D8B030D-6E8A-4147-A177-3AD203B41FA5}">
                      <a16:colId xmlns:a16="http://schemas.microsoft.com/office/drawing/2014/main" val="17979706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Cụm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Video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Tỷ trọng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NPMI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97309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thdt · công · học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22.753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21,71%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0,0771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57422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hội · sĩ · liệt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14.854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14,18%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0,1639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1802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iran · mỹ · nga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14.347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13,69%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0,2920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2989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skđs · xe · tuổi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14.292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13,64%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0,1604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56587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vi-VN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mưa · lũ · bão</a:t>
                      </a:r>
                      <a:endParaRPr lang="en-US" sz="2000" b="0">
                        <a:solidFill>
                          <a:srgbClr val="1F2328"/>
                        </a:solidFill>
                        <a:latin typeface="Montserrat" pitchFamily="2" charset="0"/>
                      </a:endParaRP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9.603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9,16%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0,2350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4223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tố · bắt · khởi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8.804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8,40%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0,1976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0848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giá · vàng · news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6.576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6,28%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0,1900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17237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tin · ngày · bản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5.970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5,70%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0,1908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45087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tiết · thời · nay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4.617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4,41%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0,4945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37028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cup · world · vtv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2.972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2,84%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>
                          <a:solidFill>
                            <a:srgbClr val="1F2328"/>
                          </a:solidFill>
                          <a:latin typeface="Montserrat" pitchFamily="2" charset="0"/>
                        </a:rPr>
                        <a:t>0,2436</a:t>
                      </a:r>
                    </a:p>
                  </a:txBody>
                  <a:tcPr marL="152400" marR="152400" marT="88900" marB="88900" anchor="ctr">
                    <a:lnL w="9525" cmpd="sng">
                      <a:solidFill>
                        <a:srgbClr val="D0D5DA"/>
                      </a:solidFill>
                    </a:lnL>
                    <a:lnR w="9525" cmpd="sng">
                      <a:solidFill>
                        <a:srgbClr val="D0D5DA"/>
                      </a:solidFill>
                    </a:lnR>
                    <a:lnT w="9525" cmpd="sng">
                      <a:solidFill>
                        <a:srgbClr val="D0D5DA"/>
                      </a:solidFill>
                    </a:lnT>
                    <a:lnB w="9525" cmpd="sng">
                      <a:solidFill>
                        <a:srgbClr val="D0D5DA"/>
                      </a:solidFill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11783"/>
                  </a:ext>
                </a:extLst>
              </a:tr>
            </a:tbl>
          </a:graphicData>
        </a:graphic>
      </p:graphicFrame>
      <p:pic>
        <p:nvPicPr>
          <p:cNvPr id="12" name="Picture" descr="Trang Các câu chuyện trên dashboard">
            <a:extLst>
              <a:ext uri="{FF2B5EF4-FFF2-40B4-BE49-F238E27FC236}">
                <a16:creationId xmlns:a16="http://schemas.microsoft.com/office/drawing/2014/main" id="{A8348421-08DE-EE17-FED5-FC64A804A5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100" y="3651015"/>
            <a:ext cx="6908800" cy="4381970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3" name="Slide Number">
            <a:extLst>
              <a:ext uri="{FF2B5EF4-FFF2-40B4-BE49-F238E27FC236}">
                <a16:creationId xmlns:a16="http://schemas.microsoft.com/office/drawing/2014/main" id="{D045A9AB-1642-70C3-0BF0-4757789EC32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9180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EBF280EC-FB99-E3ED-3A58-38A7D3FF52DA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Xu hướng theo thời gian và tăng đột biến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12D6FD36-DABC-EA03-9633-93FF69E016DD}"/>
              </a:ext>
            </a:extLst>
          </p:cNvPr>
          <p:cNvSpPr/>
          <p:nvPr/>
        </p:nvSpPr>
        <p:spPr>
          <a:xfrm>
            <a:off x="673100" y="7605560"/>
            <a:ext cx="8318500" cy="1944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400" b="1">
                <a:solidFill>
                  <a:srgbClr val="F27121"/>
                </a:solidFill>
                <a:latin typeface="Montserrat" pitchFamily="2" charset="0"/>
              </a:rPr>
              <a:t>53 khoảng tăng đột biến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sz="2100">
                <a:solidFill>
                  <a:srgbClr val="1F2328"/>
                </a:solidFill>
                <a:latin typeface="Montserrat" pitchFamily="2" charset="0"/>
              </a:rPr>
              <a:t>Nhiều nhất: “hội · sĩ · liệt” (8), “tin · ngày · bản” và “cup · world · vtv” (7 mỗi cụm).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B8D8FC90-A2FE-5620-C777-AB4B41A40A3B}"/>
              </a:ext>
            </a:extLst>
          </p:cNvPr>
          <p:cNvSpPr/>
          <p:nvPr/>
        </p:nvSpPr>
        <p:spPr>
          <a:xfrm>
            <a:off x="9296400" y="7605560"/>
            <a:ext cx="8318500" cy="1944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400" b="1">
                <a:solidFill>
                  <a:srgbClr val="F27121"/>
                </a:solidFill>
                <a:latin typeface="Montserrat" pitchFamily="2" charset="0"/>
              </a:rPr>
              <a:t>Ví dụ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02/09: “hội · sĩ · liệt” 26,6% so với nền 16,0% · 12–13/09: “mưa · lũ · bão” 13,6% so với nền 7,5%.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pic>
        <p:nvPicPr>
          <p:cNvPr id="13" name="Picture" descr="Cơ cấu tỷ trọng chủ đề theo ngày">
            <a:extLst>
              <a:ext uri="{FF2B5EF4-FFF2-40B4-BE49-F238E27FC236}">
                <a16:creationId xmlns:a16="http://schemas.microsoft.com/office/drawing/2014/main" id="{CA5132D6-CB73-DB43-EB05-4484A8EE7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473" y="2133600"/>
            <a:ext cx="13611054" cy="5167160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D40218E8-FFB2-77DB-4D26-CBF3868738DE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30102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4C4E5EC-5E15-8993-F784-73DA9ED327EF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Đối chiếu một ngày: 14/10/2026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9282728D-D7F9-D9F3-F492-D34E9D1AC458}"/>
              </a:ext>
            </a:extLst>
          </p:cNvPr>
          <p:cNvSpPr/>
          <p:nvPr/>
        </p:nvSpPr>
        <p:spPr>
          <a:xfrm>
            <a:off x="6731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Cụm “hội · sĩ · liệt”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105 video từ 28 kênh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, ngày trước 100 video.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Từ khóa trong ngày: táng, viếng, tiễn, điệu.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Ba video xem nhiều nhất đều về lễ truy điệu, an táng hài cốt liệt sĩ tại TP.HCM (199.170 · 178.097 · 107.929 lượt xem).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75382B74-C9B1-B74B-26BE-1D584D2F27E0}"/>
              </a:ext>
            </a:extLst>
          </p:cNvPr>
          <p:cNvSpPr/>
          <p:nvPr/>
        </p:nvSpPr>
        <p:spPr>
          <a:xfrm>
            <a:off x="9296400" y="2133600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Giới hạn cần lưu ý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105 video là của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cả cụm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, không phải 105 video cùng một sự kiện.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Cụm “mưa · lũ · bão” cùng ngày lẫn tin hố sụt ở Trung Quốc và tin tặc tấn công siêu thị ở Pháp.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Vì vậy dashboard luôn hiển thị </a:t>
            </a:r>
            <a:r>
              <a:rPr lang="vi-VN" sz="2300" b="1">
                <a:solidFill>
                  <a:srgbClr val="1F2328"/>
                </a:solidFill>
                <a:latin typeface="Montserrat" pitchFamily="2" charset="0"/>
              </a:rPr>
              <a:t>video gốc</a:t>
            </a: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 để người dùng tự kiểm chứng.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25B59110-B18B-D671-FFAE-12DDA4F94674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6972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F3366DA-1DDD-0FAB-7A91-89468E9BEC95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070C0"/>
                </a:solidFill>
                <a:latin typeface="Montserrat" pitchFamily="2" charset="0"/>
              </a:rPr>
              <a:t>Dashboard trực quan hóa: 6 trang</a:t>
            </a:r>
          </a:p>
        </p:txBody>
      </p:sp>
      <p:pic>
        <p:nvPicPr>
          <p:cNvPr id="11" name="Picture" descr="Trang Phân tích văn bản với một câu thử nghiệm">
            <a:extLst>
              <a:ext uri="{FF2B5EF4-FFF2-40B4-BE49-F238E27FC236}">
                <a16:creationId xmlns:a16="http://schemas.microsoft.com/office/drawing/2014/main" id="{BF48FFB8-0114-7759-26A7-09F8E1CD8D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2777302"/>
            <a:ext cx="8432800" cy="6129396"/>
          </a:xfrm>
          <a:prstGeom prst="rect">
            <a:avLst/>
          </a:prstGeom>
          <a:ln w="9525">
            <a:solidFill>
              <a:srgbClr val="D0D5DA"/>
            </a:solidFill>
          </a:ln>
        </p:spPr>
      </p:pic>
      <p:sp>
        <p:nvSpPr>
          <p:cNvPr id="12" name="Panel">
            <a:extLst>
              <a:ext uri="{FF2B5EF4-FFF2-40B4-BE49-F238E27FC236}">
                <a16:creationId xmlns:a16="http://schemas.microsoft.com/office/drawing/2014/main" id="{BF69FE38-D217-A5E4-6C14-AFB1955EBF1D}"/>
              </a:ext>
            </a:extLst>
          </p:cNvPr>
          <p:cNvSpPr/>
          <p:nvPr/>
        </p:nvSpPr>
        <p:spPr>
          <a:xfrm>
            <a:off x="9410700" y="2133599"/>
            <a:ext cx="82042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Bảng điểm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: chủ đề nhiều video nhất và tăng nhanh nhất theo ngày/tháng, kèm video minh họa.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Các câu chuyện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: quy mô, từ khóa và hồ sơ từng cụm.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Diễn biến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: tỷ trọng theo ngày, nhật ký tăng đột biến.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Từ khóa &amp; Hashtag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: TF-IDF theo ngày, hashtag theo thời gian.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Phân tích văn bản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: câu “Bão số 5 gây mưa lớn…” → cụm mưa · lũ · bão (cosine 0,80).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vi-VN" sz="2100" b="1">
                <a:solidFill>
                  <a:srgbClr val="1F2328"/>
                </a:solidFill>
                <a:latin typeface="Montserrat" pitchFamily="2" charset="0"/>
              </a:rPr>
              <a:t>Dữ liệu &amp; Phương pháp</a:t>
            </a:r>
            <a:r>
              <a:rPr lang="vi-VN" sz="2100">
                <a:solidFill>
                  <a:srgbClr val="1F2328"/>
                </a:solidFill>
                <a:latin typeface="Montserrat" pitchFamily="2" charset="0"/>
              </a:rPr>
              <a:t>: phễu chất lượng dữ liệu, nguồn và chỉ số.</a:t>
            </a:r>
            <a:endParaRPr lang="en-US" sz="21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154B4F6-CFA1-9F2D-4C4C-FFB7624E0F6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647275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10" name="Freeform 10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449BF9B8-7B64-6DF8-F158-45927106F4C8}"/>
              </a:ext>
            </a:extLst>
          </p:cNvPr>
          <p:cNvSpPr txBox="1"/>
          <p:nvPr/>
        </p:nvSpPr>
        <p:spPr>
          <a:xfrm>
            <a:off x="1397000" y="3429000"/>
            <a:ext cx="154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vi-VN" sz="4400" b="1">
                <a:solidFill>
                  <a:srgbClr val="0070C0"/>
                </a:solidFill>
                <a:latin typeface="Montserrat" pitchFamily="2" charset="0"/>
              </a:rPr>
              <a:t>4. Kết luận và định hướng phát triển</a:t>
            </a:r>
            <a:endParaRPr lang="en-US" sz="4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9AE92AB0-2AB0-9D99-8405-73F7AC596E3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1F2328"/>
                </a:solidFill>
                <a:latin typeface="Montserrat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73817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D8754DD-F19E-BAF6-EF50-77427EC95CB6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Kết quả đạt được và hạn chế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66A074B7-019B-663F-8096-5EA5B05F4ED7}"/>
              </a:ext>
            </a:extLst>
          </p:cNvPr>
          <p:cNvSpPr/>
          <p:nvPr/>
        </p:nvSpPr>
        <p:spPr>
          <a:xfrm>
            <a:off x="6731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Kết quả đạt được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Pipeline hoàn chỉnh: 104.790 video, 30 kênh, 136 ngày.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Cụm HDFS + Spark + MongoDB chạy bằng Docker Compose.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So sánh hai mô hình, chọn Word2Vec + KMeans theo NPMI.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10 cụm, 53 khoảng tăng đột biến, dashboard 6 trang.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1E562887-C8D0-F848-B08A-3D4EB75DD970}"/>
              </a:ext>
            </a:extLst>
          </p:cNvPr>
          <p:cNvSpPr/>
          <p:nvPr/>
        </p:nvSpPr>
        <p:spPr>
          <a:xfrm>
            <a:off x="9296400" y="2133599"/>
            <a:ext cx="8318500" cy="7416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Hạn chế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Cụm chủ đề rộng hơn sự kiện cụ thể; silhouette còn thấp.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Mới thử k = 10; chưa có bigram, tách từ tiếng Việt hay đánh giá thủ công.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Chưa đo khả năng mở rộng; các node chạy trên một máy.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Chỉ có tiêu đề; lượt xem là số tích lũy tại một thời điểm.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D487B41-0669-4E2F-1383-20237B3B3605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759972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743238" y="10108759"/>
            <a:ext cx="15544724" cy="152705"/>
          </a:xfrm>
          <a:custGeom>
            <a:avLst/>
            <a:gdLst/>
            <a:ahLst/>
            <a:cxnLst/>
            <a:rect l="l" t="t" r="r" b="b"/>
            <a:pathLst>
              <a:path w="15544724" h="152705">
                <a:moveTo>
                  <a:pt x="0" y="0"/>
                </a:moveTo>
                <a:lnTo>
                  <a:pt x="15544724" y="0"/>
                </a:lnTo>
                <a:lnTo>
                  <a:pt x="15544724" y="152704"/>
                </a:lnTo>
                <a:lnTo>
                  <a:pt x="0" y="15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5728"/>
            </a:stretch>
          </a:blipFill>
        </p:spPr>
      </p:sp>
      <p:sp>
        <p:nvSpPr>
          <p:cNvPr id="7" name="Freeform 7" descr="A black background with white text  Description automatically generated"/>
          <p:cNvSpPr/>
          <p:nvPr/>
        </p:nvSpPr>
        <p:spPr>
          <a:xfrm>
            <a:off x="477926" y="3334"/>
            <a:ext cx="4935598" cy="1027605"/>
          </a:xfrm>
          <a:custGeom>
            <a:avLst/>
            <a:gdLst/>
            <a:ahLst/>
            <a:cxnLst/>
            <a:rect l="l" t="t" r="r" b="b"/>
            <a:pathLst>
              <a:path w="4935598" h="1027605">
                <a:moveTo>
                  <a:pt x="0" y="0"/>
                </a:moveTo>
                <a:lnTo>
                  <a:pt x="4935598" y="0"/>
                </a:lnTo>
                <a:lnTo>
                  <a:pt x="4935598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r="-19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2009" y="10030806"/>
            <a:ext cx="225450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Montserrat"/>
                <a:ea typeface="Montserrat"/>
                <a:cs typeface="Montserrat"/>
                <a:sym typeface="Montserrat"/>
              </a:rPr>
              <a:t>https://huit.edu.vn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C8F73AD3-0B24-688A-5DE3-A85F323E652A}"/>
              </a:ext>
            </a:extLst>
          </p:cNvPr>
          <p:cNvSpPr txBox="1"/>
          <p:nvPr/>
        </p:nvSpPr>
        <p:spPr>
          <a:xfrm>
            <a:off x="673100" y="1219200"/>
            <a:ext cx="1694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vi-VN" sz="3400" b="1">
                <a:solidFill>
                  <a:srgbClr val="0070C0"/>
                </a:solidFill>
                <a:latin typeface="Montserrat" pitchFamily="2" charset="0"/>
              </a:rPr>
              <a:t>Định hướng phát triển</a:t>
            </a:r>
            <a:endParaRPr lang="en-US" sz="34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59F0095E-F496-C58F-65B3-615C74B24CF8}"/>
              </a:ext>
            </a:extLst>
          </p:cNvPr>
          <p:cNvSpPr/>
          <p:nvPr/>
        </p:nvSpPr>
        <p:spPr>
          <a:xfrm>
            <a:off x="673100" y="21335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Chất lượng chủ đề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Tách từ tiếng Việt, bigram, loại tên kênh, thử nhiều giá trị k, đánh giá thủ công.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058764A4-4DC3-602B-2619-C1741C122EEF}"/>
              </a:ext>
            </a:extLst>
          </p:cNvPr>
          <p:cNvSpPr/>
          <p:nvPr/>
        </p:nvSpPr>
        <p:spPr>
          <a:xfrm>
            <a:off x="9296400" y="21335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Gom sự kiện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Gom video theo nội dung, thời gian, thực thể để đếm đúng một sự kiện.</a:t>
            </a:r>
          </a:p>
        </p:txBody>
      </p:sp>
      <p:sp>
        <p:nvSpPr>
          <p:cNvPr id="12" name="Panel">
            <a:extLst>
              <a:ext uri="{FF2B5EF4-FFF2-40B4-BE49-F238E27FC236}">
                <a16:creationId xmlns:a16="http://schemas.microsoft.com/office/drawing/2014/main" id="{E4A7E9C6-98CE-38F9-E379-87E4CFED2562}"/>
              </a:ext>
            </a:extLst>
          </p:cNvPr>
          <p:cNvSpPr/>
          <p:nvPr/>
        </p:nvSpPr>
        <p:spPr>
          <a:xfrm>
            <a:off x="673100" y="59943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600" b="1">
                <a:solidFill>
                  <a:srgbClr val="F27121"/>
                </a:solidFill>
                <a:latin typeface="Montserrat" pitchFamily="2" charset="0"/>
              </a:rPr>
              <a:t>Thu thập định kỳ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vi-VN" sz="2300">
                <a:solidFill>
                  <a:srgbClr val="1F2328"/>
                </a:solidFill>
                <a:latin typeface="Montserrat" pitchFamily="2" charset="0"/>
              </a:rPr>
              <a:t>Tự động quét lại kênh, lưu tương tác nhiều thời điểm, quản lý phiên bản.</a:t>
            </a:r>
            <a:endParaRPr lang="en-US" sz="2300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3" name="Panel">
            <a:extLst>
              <a:ext uri="{FF2B5EF4-FFF2-40B4-BE49-F238E27FC236}">
                <a16:creationId xmlns:a16="http://schemas.microsoft.com/office/drawing/2014/main" id="{9D5E9F35-9615-A52E-D25B-9B25FE543518}"/>
              </a:ext>
            </a:extLst>
          </p:cNvPr>
          <p:cNvSpPr/>
          <p:nvPr/>
        </p:nvSpPr>
        <p:spPr>
          <a:xfrm>
            <a:off x="9296400" y="5994399"/>
            <a:ext cx="8318500" cy="355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279400" rIns="330200" bIns="279400" rtlCol="0" anchor="ctr">
            <a:no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600" b="1">
                <a:solidFill>
                  <a:srgbClr val="F27121"/>
                </a:solidFill>
                <a:latin typeface="Montserrat" pitchFamily="2" charset="0"/>
              </a:rPr>
              <a:t>Mở rộng hệ thống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lang="en-US" sz="2300">
                <a:solidFill>
                  <a:srgbClr val="1F2328"/>
                </a:solidFill>
                <a:latin typeface="Montserrat" pitchFamily="2" charset="0"/>
              </a:rPr>
              <a:t>Chạy trên nhiều máy, đo khả năng mở rộng, thử Spark Structured Streaming.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BD39005B-3DD9-22F6-F500-AB5AA8EE55ED}"/>
              </a:ext>
            </a:extLst>
          </p:cNvPr>
          <p:cNvSpPr txBox="1"/>
          <p:nvPr/>
        </p:nvSpPr>
        <p:spPr>
          <a:xfrm>
            <a:off x="16891000" y="96139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>
                <a:solidFill>
                  <a:srgbClr val="0070C0"/>
                </a:solidFill>
                <a:latin typeface="Montserrat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46610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823608"/>
            <a:chOff x="0" y="0"/>
            <a:chExt cx="24402453" cy="10981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098169"/>
            </a:xfrm>
            <a:custGeom>
              <a:avLst/>
              <a:gdLst/>
              <a:ahLst/>
              <a:cxnLst/>
              <a:rect l="l" t="t" r="r" b="b"/>
              <a:pathLst>
                <a:path w="24402414" h="1098169">
                  <a:moveTo>
                    <a:pt x="0" y="0"/>
                  </a:moveTo>
                  <a:lnTo>
                    <a:pt x="24402414" y="0"/>
                  </a:lnTo>
                  <a:lnTo>
                    <a:pt x="24402414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072822" y="163935"/>
            <a:ext cx="6405944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KHOA CÔNG NGHỆ THÔNG TIN - HUIT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1426718"/>
              <a:chOff x="0" y="0"/>
              <a:chExt cx="24384000" cy="142671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84000" cy="1426718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426718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426718"/>
                    </a:lnTo>
                    <a:lnTo>
                      <a:pt x="0" y="1426718"/>
                    </a:lnTo>
                    <a:close/>
                  </a:path>
                </a:pathLst>
              </a:custGeom>
              <a:solidFill>
                <a:srgbClr val="2072B7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637235" y="21336"/>
              <a:ext cx="6580797" cy="1370140"/>
              <a:chOff x="0" y="0"/>
              <a:chExt cx="6580797" cy="1370140"/>
            </a:xfrm>
          </p:grpSpPr>
          <p:sp>
            <p:nvSpPr>
              <p:cNvPr id="9" name="Freeform 9" descr="A black background with white text  Description automatically generated"/>
              <p:cNvSpPr/>
              <p:nvPr/>
            </p:nvSpPr>
            <p:spPr>
              <a:xfrm>
                <a:off x="0" y="0"/>
                <a:ext cx="6580759" cy="1370203"/>
              </a:xfrm>
              <a:custGeom>
                <a:avLst/>
                <a:gdLst/>
                <a:ahLst/>
                <a:cxnLst/>
                <a:rect l="l" t="t" r="r" b="b"/>
                <a:pathLst>
                  <a:path w="6580759" h="1370203">
                    <a:moveTo>
                      <a:pt x="0" y="0"/>
                    </a:moveTo>
                    <a:lnTo>
                      <a:pt x="6580759" y="0"/>
                    </a:lnTo>
                    <a:lnTo>
                      <a:pt x="6580759" y="1370203"/>
                    </a:lnTo>
                    <a:lnTo>
                      <a:pt x="0" y="13702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91" r="-192" b="4"/>
                </a:stretch>
              </a:blip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574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5" name="Thanks">
            <a:extLst>
              <a:ext uri="{FF2B5EF4-FFF2-40B4-BE49-F238E27FC236}">
                <a16:creationId xmlns:a16="http://schemas.microsoft.com/office/drawing/2014/main" id="{39CCB11D-5AB0-E4F9-EA83-4C136729165B}"/>
              </a:ext>
            </a:extLst>
          </p:cNvPr>
          <p:cNvSpPr txBox="1"/>
          <p:nvPr/>
        </p:nvSpPr>
        <p:spPr>
          <a:xfrm>
            <a:off x="1270000" y="3403600"/>
            <a:ext cx="157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4000" b="1">
                <a:solidFill>
                  <a:srgbClr val="1F2328"/>
                </a:solidFill>
                <a:latin typeface="Montserrat" pitchFamily="2" charset="0"/>
              </a:rPr>
              <a:t>CẢM ƠN THẦY CÔ VÀ CÁC BẠN ĐÃ LẮNG NGHE!</a:t>
            </a:r>
            <a:endParaRPr lang="en-US" sz="4000" b="1">
              <a:solidFill>
                <a:srgbClr val="1F2328"/>
              </a:solidFill>
              <a:latin typeface="Montserrat" pitchFamily="2" charset="0"/>
            </a:endParaRPr>
          </a:p>
        </p:txBody>
      </p:sp>
      <p:sp>
        <p:nvSpPr>
          <p:cNvPr id="19" name="Team">
            <a:extLst>
              <a:ext uri="{FF2B5EF4-FFF2-40B4-BE49-F238E27FC236}">
                <a16:creationId xmlns:a16="http://schemas.microsoft.com/office/drawing/2014/main" id="{6F3267D2-21BD-D99E-8F9C-B7122B366552}"/>
              </a:ext>
            </a:extLst>
          </p:cNvPr>
          <p:cNvSpPr txBox="1"/>
          <p:nvPr/>
        </p:nvSpPr>
        <p:spPr>
          <a:xfrm>
            <a:off x="1270000" y="4394200"/>
            <a:ext cx="157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vi-VN" sz="2600" b="1">
                <a:solidFill>
                  <a:srgbClr val="0070C0"/>
                </a:solidFill>
                <a:latin typeface="Montserrat" pitchFamily="2" charset="0"/>
              </a:rPr>
              <a:t>Đề tài 5 — Phân tích xu hướng chủ đề trên mạng xã hội</a:t>
            </a:r>
            <a:endParaRPr lang="en-US" sz="2600" b="1">
              <a:solidFill>
                <a:srgbClr val="0070C0"/>
              </a:solidFill>
              <a:latin typeface="Montserrat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FC81D7-8A6B-3596-6356-6D8CD4AF1BB5}"/>
              </a:ext>
            </a:extLst>
          </p:cNvPr>
          <p:cNvSpPr txBox="1"/>
          <p:nvPr/>
        </p:nvSpPr>
        <p:spPr>
          <a:xfrm>
            <a:off x="6172200" y="5246625"/>
            <a:ext cx="5439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1F2328"/>
                </a:solidFill>
                <a:latin typeface="Montserrat" pitchFamily="2" charset="0"/>
              </a:rPr>
              <a:t>Sẵn</a:t>
            </a:r>
            <a:r>
              <a:rPr lang="en-US" sz="1800" dirty="0">
                <a:solidFill>
                  <a:srgbClr val="1F2328"/>
                </a:solidFill>
                <a:latin typeface="Montserrat" pitchFamily="2" charset="0"/>
              </a:rPr>
              <a:t> </a:t>
            </a:r>
            <a:r>
              <a:rPr lang="en-US" sz="1800" dirty="0" err="1">
                <a:solidFill>
                  <a:srgbClr val="1F2328"/>
                </a:solidFill>
                <a:latin typeface="Montserrat" pitchFamily="2" charset="0"/>
              </a:rPr>
              <a:t>sàng</a:t>
            </a:r>
            <a:r>
              <a:rPr lang="en-US" sz="1800" dirty="0">
                <a:solidFill>
                  <a:srgbClr val="1F2328"/>
                </a:solidFill>
                <a:latin typeface="Montserrat" pitchFamily="2" charset="0"/>
              </a:rPr>
              <a:t> demo dashboard, Spark UI </a:t>
            </a:r>
            <a:r>
              <a:rPr lang="en-US" sz="1800" dirty="0" err="1">
                <a:solidFill>
                  <a:srgbClr val="1F2328"/>
                </a:solidFill>
                <a:latin typeface="Montserrat" pitchFamily="2" charset="0"/>
              </a:rPr>
              <a:t>và</a:t>
            </a:r>
            <a:r>
              <a:rPr lang="en-US" sz="1800" dirty="0">
                <a:solidFill>
                  <a:srgbClr val="1F2328"/>
                </a:solidFill>
                <a:latin typeface="Montserrat" pitchFamily="2" charset="0"/>
              </a:rPr>
              <a:t> HDFS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55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2881</Words>
  <Application>Microsoft Office PowerPoint</Application>
  <PresentationFormat>Custom</PresentationFormat>
  <Paragraphs>370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Montserrat Ultra-Bold</vt:lpstr>
      <vt:lpstr>Calibri</vt:lpstr>
      <vt:lpstr>Montserrat</vt:lpstr>
      <vt:lpstr>Roboto</vt:lpstr>
      <vt:lpstr>Roboto Bold</vt:lpstr>
      <vt:lpstr>Arial Bold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Flink</dc:title>
  <cp:lastModifiedBy>Bùi Hữu Lộc</cp:lastModifiedBy>
  <cp:revision>7</cp:revision>
  <dcterms:created xsi:type="dcterms:W3CDTF">2006-08-16T00:00:00Z</dcterms:created>
  <dcterms:modified xsi:type="dcterms:W3CDTF">2026-10-14T14:45:37Z</dcterms:modified>
  <dc:identifier>DAHVEfz4OII</dc:identifier>
</cp:coreProperties>
</file>